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61" r:id="rId4"/>
    <p:sldId id="259" r:id="rId5"/>
    <p:sldId id="264" r:id="rId6"/>
    <p:sldId id="260" r:id="rId7"/>
    <p:sldId id="263" r:id="rId8"/>
    <p:sldId id="262"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2303" autoAdjust="0"/>
  </p:normalViewPr>
  <p:slideViewPr>
    <p:cSldViewPr snapToGrid="0" snapToObjects="1">
      <p:cViewPr varScale="1">
        <p:scale>
          <a:sx n="69" d="100"/>
          <a:sy n="69" d="100"/>
        </p:scale>
        <p:origin x="2814"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706041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IN" sz="1200" b="1" kern="1200" dirty="0">
                <a:solidFill>
                  <a:schemeClr val="tx1"/>
                </a:solidFill>
                <a:effectLst/>
                <a:latin typeface="+mn-lt"/>
                <a:ea typeface="+mn-ea"/>
                <a:cs typeface="+mn-cs"/>
              </a:rPr>
              <a:t>Slide 1 — “Which promotions deserve more?”</a:t>
            </a:r>
          </a:p>
          <a:p>
            <a:r>
              <a:rPr lang="en-IN" sz="1200" b="1" kern="1200" dirty="0">
                <a:solidFill>
                  <a:schemeClr val="tx1"/>
                </a:solidFill>
                <a:effectLst/>
                <a:latin typeface="+mn-lt"/>
                <a:ea typeface="+mn-ea"/>
                <a:cs typeface="+mn-cs"/>
              </a:rPr>
              <a:t>Complete replacement speaker notes</a:t>
            </a:r>
            <a:endParaRPr lang="en-IN" sz="1200" kern="1200" dirty="0">
              <a:solidFill>
                <a:schemeClr val="tx1"/>
              </a:solidFill>
              <a:effectLst/>
              <a:latin typeface="+mn-lt"/>
              <a:ea typeface="+mn-ea"/>
              <a:cs typeface="+mn-cs"/>
            </a:endParaRPr>
          </a:p>
          <a:p>
            <a:r>
              <a:rPr lang="en-IN" sz="1200" b="1" kern="1200" dirty="0">
                <a:solidFill>
                  <a:schemeClr val="tx1"/>
                </a:solidFill>
                <a:effectLst/>
                <a:latin typeface="+mn-lt"/>
                <a:ea typeface="+mn-ea"/>
                <a:cs typeface="+mn-cs"/>
              </a:rPr>
              <a:t>Timing:</a:t>
            </a:r>
            <a:r>
              <a:rPr lang="en-IN" sz="1200" kern="1200" dirty="0">
                <a:solidFill>
                  <a:schemeClr val="tx1"/>
                </a:solidFill>
                <a:effectLst/>
                <a:latin typeface="+mn-lt"/>
                <a:ea typeface="+mn-ea"/>
                <a:cs typeface="+mn-cs"/>
              </a:rPr>
              <a:t> Approximately </a:t>
            </a:r>
            <a:r>
              <a:rPr lang="en-IN" sz="1200" b="1" kern="1200" dirty="0">
                <a:solidFill>
                  <a:schemeClr val="tx1"/>
                </a:solidFill>
                <a:effectLst/>
                <a:latin typeface="+mn-lt"/>
                <a:ea typeface="+mn-ea"/>
                <a:cs typeface="+mn-cs"/>
              </a:rPr>
              <a:t>3 minutes for the opening</a:t>
            </a:r>
            <a:r>
              <a:rPr lang="en-IN" sz="1200" kern="1200" dirty="0">
                <a:solidFill>
                  <a:schemeClr val="tx1"/>
                </a:solidFill>
                <a:effectLst/>
                <a:latin typeface="+mn-lt"/>
                <a:ea typeface="+mn-ea"/>
                <a:cs typeface="+mn-cs"/>
              </a:rPr>
              <a:t>, followed by </a:t>
            </a:r>
            <a:r>
              <a:rPr lang="en-IN" sz="1200" b="1" kern="1200" dirty="0">
                <a:solidFill>
                  <a:schemeClr val="tx1"/>
                </a:solidFill>
                <a:effectLst/>
                <a:latin typeface="+mn-lt"/>
                <a:ea typeface="+mn-ea"/>
                <a:cs typeface="+mn-cs"/>
              </a:rPr>
              <a:t>6–8 minutes of focused discovery</a:t>
            </a:r>
            <a:r>
              <a:rPr lang="en-IN" sz="1200" kern="1200" dirty="0">
                <a:solidFill>
                  <a:schemeClr val="tx1"/>
                </a:solidFill>
                <a:effectLst/>
                <a:latin typeface="+mn-lt"/>
                <a:ea typeface="+mn-ea"/>
                <a:cs typeface="+mn-cs"/>
              </a:rPr>
              <a:t>.</a:t>
            </a:r>
          </a:p>
          <a:p>
            <a:r>
              <a:rPr lang="en-IN" sz="1200" b="1" kern="1200" dirty="0">
                <a:solidFill>
                  <a:schemeClr val="tx1"/>
                </a:solidFill>
                <a:effectLst/>
                <a:latin typeface="+mn-lt"/>
                <a:ea typeface="+mn-ea"/>
                <a:cs typeface="+mn-cs"/>
              </a:rPr>
              <a:t>1. Acknowledge the situation already shared</a:t>
            </a:r>
          </a:p>
          <a:p>
            <a:r>
              <a:rPr lang="en-IN" sz="1200" kern="1200" dirty="0">
                <a:solidFill>
                  <a:schemeClr val="tx1"/>
                </a:solidFill>
                <a:effectLst/>
                <a:latin typeface="+mn-lt"/>
                <a:ea typeface="+mn-ea"/>
                <a:cs typeface="+mn-cs"/>
              </a:rPr>
              <a:t>“From the situation you’ve shared, the business is growing, but the ability to make timely, confident decisions is not keeping pace.</a:t>
            </a:r>
          </a:p>
          <a:p>
            <a:r>
              <a:rPr lang="en-IN" sz="1200" kern="1200" dirty="0">
                <a:solidFill>
                  <a:schemeClr val="tx1"/>
                </a:solidFill>
                <a:effectLst/>
                <a:latin typeface="+mn-lt"/>
                <a:ea typeface="+mn-ea"/>
                <a:cs typeface="+mn-cs"/>
              </a:rPr>
              <a:t>The challenge is not a lack of data. Data exists across different databases and business applications, but those sources are not connected into a consistent, governed view.</a:t>
            </a:r>
          </a:p>
          <a:p>
            <a:r>
              <a:rPr lang="en-IN" sz="1200" kern="1200" dirty="0">
                <a:solidFill>
                  <a:schemeClr val="tx1"/>
                </a:solidFill>
                <a:effectLst/>
                <a:latin typeface="+mn-lt"/>
                <a:ea typeface="+mn-ea"/>
                <a:cs typeface="+mn-cs"/>
              </a:rPr>
              <a:t>As a result, different teams arrive at meetings with different numbers. Instead of deciding what action to take, they spend time debating whose report is correct. Decisions that should take hours can take weeks.</a:t>
            </a:r>
          </a:p>
          <a:p>
            <a:r>
              <a:rPr lang="en-IN" sz="1200" kern="1200" dirty="0">
                <a:solidFill>
                  <a:schemeClr val="tx1"/>
                </a:solidFill>
                <a:effectLst/>
                <a:latin typeface="+mn-lt"/>
                <a:ea typeface="+mn-ea"/>
                <a:cs typeface="+mn-cs"/>
              </a:rPr>
              <a:t>Even when teams extract the information, they often rely on static spreadsheets and individual judgment. There is no consistent path from understanding what happened, to anticipating risk, to measuring whether the resulting action worked.</a:t>
            </a:r>
          </a:p>
          <a:p>
            <a:r>
              <a:rPr lang="en-IN" sz="1200" kern="1200" dirty="0">
                <a:solidFill>
                  <a:schemeClr val="tx1"/>
                </a:solidFill>
                <a:effectLst/>
                <a:latin typeface="+mn-lt"/>
                <a:ea typeface="+mn-ea"/>
                <a:cs typeface="+mn-cs"/>
              </a:rPr>
              <a:t>You also have valuable customer history, product knowledge and operational information that is difficult to use together. That keeps teams dependent on manual analysis and limits the quality of the experiences they can provide.”</a:t>
            </a:r>
          </a:p>
          <a:p>
            <a:r>
              <a:rPr lang="en-IN" sz="1200" b="1" kern="1200" dirty="0">
                <a:solidFill>
                  <a:schemeClr val="tx1"/>
                </a:solidFill>
                <a:effectLst/>
                <a:latin typeface="+mn-lt"/>
                <a:ea typeface="+mn-ea"/>
                <a:cs typeface="+mn-cs"/>
              </a:rPr>
              <a:t>2. Translate those problems into the retail decisions on this slide</a:t>
            </a:r>
          </a:p>
          <a:p>
            <a:r>
              <a:rPr lang="en-IN" sz="1200" kern="1200" dirty="0">
                <a:solidFill>
                  <a:schemeClr val="tx1"/>
                </a:solidFill>
                <a:effectLst/>
                <a:latin typeface="+mn-lt"/>
                <a:ea typeface="+mn-ea"/>
                <a:cs typeface="+mn-cs"/>
              </a:rPr>
              <a:t>“For this Costco regional pilot scenario, I have translated that broader problem into two concrete business decisions.</a:t>
            </a:r>
          </a:p>
          <a:p>
            <a:r>
              <a:rPr lang="en-IN" sz="1200" b="1" kern="1200" dirty="0">
                <a:solidFill>
                  <a:schemeClr val="tx1"/>
                </a:solidFill>
                <a:effectLst/>
                <a:latin typeface="+mn-lt"/>
                <a:ea typeface="+mn-ea"/>
                <a:cs typeface="+mn-cs"/>
              </a:rPr>
              <a:t>The first is promotion investment: which promotions should we repeat, change or stop?</a:t>
            </a:r>
            <a:endParaRPr lang="en-IN"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Merchandising may see an increase in units, another team may report revenue growth, and finance may question whether the promotion created incremental value. Without an agreed baseline and common definitions, those teams can reach different conclusions about the same offer.</a:t>
            </a:r>
          </a:p>
          <a:p>
            <a:r>
              <a:rPr lang="en-IN" sz="1200" kern="1200" dirty="0">
                <a:solidFill>
                  <a:schemeClr val="tx1"/>
                </a:solidFill>
                <a:effectLst/>
                <a:latin typeface="+mn-lt"/>
                <a:ea typeface="+mn-ea"/>
                <a:cs typeface="+mn-cs"/>
              </a:rPr>
              <a:t>We therefore need more than a sales report. We need a consistent way to compare promotion performance against an appropriate baseline, understand revenue and unit lift, and distinguish a sales increase from a profitable outcome.</a:t>
            </a:r>
          </a:p>
          <a:p>
            <a:r>
              <a:rPr lang="en-IN" sz="1200" b="1" kern="1200" dirty="0">
                <a:solidFill>
                  <a:schemeClr val="tx1"/>
                </a:solidFill>
                <a:effectLst/>
                <a:latin typeface="+mn-lt"/>
                <a:ea typeface="+mn-ea"/>
                <a:cs typeface="+mn-cs"/>
              </a:rPr>
              <a:t>The second is member retention: what customer signals should guide further investigation and action?</a:t>
            </a:r>
            <a:endParaRPr lang="en-IN"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Looking at historical sales alone does not give us a reliable way to anticipate churn. We need to examine customer </a:t>
            </a:r>
            <a:r>
              <a:rPr lang="en-IN" sz="1200" kern="1200" dirty="0" err="1">
                <a:solidFill>
                  <a:schemeClr val="tx1"/>
                </a:solidFill>
                <a:effectLst/>
                <a:latin typeface="+mn-lt"/>
                <a:ea typeface="+mn-ea"/>
                <a:cs typeface="+mn-cs"/>
              </a:rPr>
              <a:t>behavior</a:t>
            </a:r>
            <a:r>
              <a:rPr lang="en-IN" sz="1200" kern="1200" dirty="0">
                <a:solidFill>
                  <a:schemeClr val="tx1"/>
                </a:solidFill>
                <a:effectLst/>
                <a:latin typeface="+mn-lt"/>
                <a:ea typeface="+mn-ea"/>
                <a:cs typeface="+mn-cs"/>
              </a:rPr>
              <a:t>, evaluate predictive signals and make those insights accessible to the team responsible for retention.”</a:t>
            </a:r>
          </a:p>
          <a:p>
            <a:r>
              <a:rPr lang="en-IN" sz="1200" b="1" kern="1200" dirty="0">
                <a:solidFill>
                  <a:schemeClr val="tx1"/>
                </a:solidFill>
                <a:effectLst/>
                <a:latin typeface="+mn-lt"/>
                <a:ea typeface="+mn-ea"/>
                <a:cs typeface="+mn-cs"/>
              </a:rPr>
              <a:t>3. Explain what you are solving—not just what you built</a:t>
            </a:r>
          </a:p>
          <a:p>
            <a:r>
              <a:rPr lang="en-IN" sz="1200" kern="1200" dirty="0">
                <a:solidFill>
                  <a:schemeClr val="tx1"/>
                </a:solidFill>
                <a:effectLst/>
                <a:latin typeface="+mn-lt"/>
                <a:ea typeface="+mn-ea"/>
                <a:cs typeface="+mn-cs"/>
              </a:rPr>
              <a:t>“The goal is therefore not simply to build another dashboard or place all the data in one location.</a:t>
            </a:r>
          </a:p>
          <a:p>
            <a:r>
              <a:rPr lang="en-IN" sz="1200" kern="1200" dirty="0">
                <a:solidFill>
                  <a:schemeClr val="tx1"/>
                </a:solidFill>
                <a:effectLst/>
                <a:latin typeface="+mn-lt"/>
                <a:ea typeface="+mn-ea"/>
                <a:cs typeface="+mn-cs"/>
              </a:rPr>
              <a:t>It is to create a more consistent path from data to decision: shared definitions, traceable calculations, appropriate access controls and outputs that business teams can use.</a:t>
            </a:r>
          </a:p>
          <a:p>
            <a:r>
              <a:rPr lang="en-IN" sz="1200" kern="1200" dirty="0">
                <a:solidFill>
                  <a:schemeClr val="tx1"/>
                </a:solidFill>
                <a:effectLst/>
                <a:latin typeface="+mn-lt"/>
                <a:ea typeface="+mn-ea"/>
                <a:cs typeface="+mn-cs"/>
              </a:rPr>
              <a:t>My prototype demonstrates that path through promotion measurement and churn-model insights. Databricks supports the ingestion and governed data foundation, the analytical and ML processing, and the dashboard and Genie experiences on top.</a:t>
            </a:r>
          </a:p>
          <a:p>
            <a:r>
              <a:rPr lang="en-IN" sz="1200" kern="1200" dirty="0">
                <a:solidFill>
                  <a:schemeClr val="tx1"/>
                </a:solidFill>
                <a:effectLst/>
                <a:latin typeface="+mn-lt"/>
                <a:ea typeface="+mn-ea"/>
                <a:cs typeface="+mn-cs"/>
              </a:rPr>
              <a:t>I’ll show where the prototype already works and where additional validation or implementation is needed. In particular, global churn-model findings are available today; member-level targeting requires the additional scoring and governed activation step.”</a:t>
            </a:r>
          </a:p>
          <a:p>
            <a:r>
              <a:rPr lang="en-IN" sz="1200" b="1" kern="1200" dirty="0">
                <a:solidFill>
                  <a:schemeClr val="tx1"/>
                </a:solidFill>
                <a:effectLst/>
                <a:latin typeface="+mn-lt"/>
                <a:ea typeface="+mn-ea"/>
                <a:cs typeface="+mn-cs"/>
              </a:rPr>
              <a:t>4. Set the purpose of the meeting</a:t>
            </a:r>
          </a:p>
          <a:p>
            <a:r>
              <a:rPr lang="en-IN" sz="1200" kern="1200" dirty="0">
                <a:solidFill>
                  <a:schemeClr val="tx1"/>
                </a:solidFill>
                <a:effectLst/>
                <a:latin typeface="+mn-lt"/>
                <a:ea typeface="+mn-ea"/>
                <a:cs typeface="+mn-cs"/>
              </a:rPr>
              <a:t>“By the end of this session, I want us to agree on three things: the business decision we are prioritizing, the evidence needed to trust the answer, and the scope of a pilot that would justify further investment.</a:t>
            </a:r>
          </a:p>
          <a:p>
            <a:r>
              <a:rPr lang="en-IN" sz="1200" kern="1200" dirty="0">
                <a:solidFill>
                  <a:schemeClr val="tx1"/>
                </a:solidFill>
                <a:effectLst/>
                <a:latin typeface="+mn-lt"/>
                <a:ea typeface="+mn-ea"/>
                <a:cs typeface="+mn-cs"/>
              </a:rPr>
              <a:t>I’ll show the promotion outcomes and churn findings, trace selected results back to the underlying data, and finish with the proposed pilot.</a:t>
            </a:r>
          </a:p>
          <a:p>
            <a:r>
              <a:rPr lang="en-IN" sz="1200" kern="1200" dirty="0">
                <a:solidFill>
                  <a:schemeClr val="tx1"/>
                </a:solidFill>
                <a:effectLst/>
                <a:latin typeface="+mn-lt"/>
                <a:ea typeface="+mn-ea"/>
                <a:cs typeface="+mn-cs"/>
              </a:rPr>
              <a:t>Before we do that, I want to confirm a few priorities and definitions so that the demonstration addresses your decisions—not just my prepared examples.”</a:t>
            </a:r>
          </a:p>
          <a:p>
            <a:r>
              <a:rPr lang="en-IN" sz="1200" b="1" kern="1200" dirty="0">
                <a:solidFill>
                  <a:schemeClr val="tx1"/>
                </a:solidFill>
                <a:effectLst/>
                <a:latin typeface="+mn-lt"/>
                <a:ea typeface="+mn-ea"/>
                <a:cs typeface="+mn-cs"/>
              </a:rPr>
              <a:t>Focused discovery while slide 1 remains displayed</a:t>
            </a:r>
          </a:p>
          <a:p>
            <a:r>
              <a:rPr lang="en-IN" sz="1200" b="1" kern="1200" dirty="0">
                <a:solidFill>
                  <a:schemeClr val="tx1"/>
                </a:solidFill>
                <a:effectLst/>
                <a:latin typeface="+mn-lt"/>
                <a:ea typeface="+mn-ea"/>
                <a:cs typeface="+mn-cs"/>
              </a:rPr>
              <a:t>Ask, pause, and use the panel’s answers.</a:t>
            </a:r>
            <a:r>
              <a:rPr lang="en-IN" sz="1200" kern="1200" dirty="0">
                <a:solidFill>
                  <a:schemeClr val="tx1"/>
                </a:solidFill>
                <a:effectLst/>
                <a:latin typeface="+mn-lt"/>
                <a:ea typeface="+mn-ea"/>
                <a:cs typeface="+mn-cs"/>
              </a:rPr>
              <a:t> These questions build on the known situation rather than rediscovering it.</a:t>
            </a:r>
          </a:p>
          <a:p>
            <a:r>
              <a:rPr lang="en-IN" sz="1200" b="1" kern="1200" dirty="0">
                <a:solidFill>
                  <a:schemeClr val="tx1"/>
                </a:solidFill>
                <a:effectLst/>
                <a:latin typeface="+mn-lt"/>
                <a:ea typeface="+mn-ea"/>
                <a:cs typeface="+mn-cs"/>
              </a:rPr>
              <a:t>Question 1 — Confirm the immediate priority</a:t>
            </a:r>
          </a:p>
          <a:p>
            <a:r>
              <a:rPr lang="en-IN" sz="1200" kern="1200" dirty="0">
                <a:solidFill>
                  <a:schemeClr val="tx1"/>
                </a:solidFill>
                <a:effectLst/>
                <a:latin typeface="+mn-lt"/>
                <a:ea typeface="+mn-ea"/>
                <a:cs typeface="+mn-cs"/>
              </a:rPr>
              <a:t>“Given the issues we have discussed, which decision is most urgent for the next business cycle: deciding where to invest in promotions, or improving retention prioritization?”</a:t>
            </a:r>
          </a:p>
          <a:p>
            <a:r>
              <a:rPr lang="en-IN" sz="1200" b="1" kern="1200" dirty="0">
                <a:solidFill>
                  <a:schemeClr val="tx1"/>
                </a:solidFill>
                <a:effectLst/>
                <a:latin typeface="+mn-lt"/>
                <a:ea typeface="+mn-ea"/>
                <a:cs typeface="+mn-cs"/>
              </a:rPr>
              <a:t>How to respond:</a:t>
            </a:r>
            <a:endParaRPr lang="en-IN"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“Understood. I’ll spend more time on that decision and use the second use case to show how the same foundation can support additional needs.”</a:t>
            </a:r>
          </a:p>
          <a:p>
            <a:r>
              <a:rPr lang="en-IN" sz="1200" b="1" kern="1200" dirty="0">
                <a:solidFill>
                  <a:schemeClr val="tx1"/>
                </a:solidFill>
                <a:effectLst/>
                <a:latin typeface="+mn-lt"/>
                <a:ea typeface="+mn-ea"/>
                <a:cs typeface="+mn-cs"/>
              </a:rPr>
              <a:t>Question 2 — Agree what promotion success means</a:t>
            </a:r>
          </a:p>
          <a:p>
            <a:r>
              <a:rPr lang="en-IN" sz="1200" kern="1200" dirty="0">
                <a:solidFill>
                  <a:schemeClr val="tx1"/>
                </a:solidFill>
                <a:effectLst/>
                <a:latin typeface="+mn-lt"/>
                <a:ea typeface="+mn-ea"/>
                <a:cs typeface="+mn-cs"/>
              </a:rPr>
              <a:t>“For promotion decisions, what should determine whether an offer is repeated: incremental revenue, contribution, unit growth, inventory clearance, or a combination?”</a:t>
            </a:r>
          </a:p>
          <a:p>
            <a:r>
              <a:rPr lang="en-IN" sz="1200" b="1" kern="1200" dirty="0">
                <a:solidFill>
                  <a:schemeClr val="tx1"/>
                </a:solidFill>
                <a:effectLst/>
                <a:latin typeface="+mn-lt"/>
                <a:ea typeface="+mn-ea"/>
                <a:cs typeface="+mn-cs"/>
              </a:rPr>
              <a:t>Why this matters:</a:t>
            </a:r>
            <a:r>
              <a:rPr lang="en-IN" sz="1200" kern="1200" dirty="0">
                <a:solidFill>
                  <a:schemeClr val="tx1"/>
                </a:solidFill>
                <a:effectLst/>
                <a:latin typeface="+mn-lt"/>
                <a:ea typeface="+mn-ea"/>
                <a:cs typeface="+mn-cs"/>
              </a:rPr>
              <a:t> Your running-shoes result shows positive unit uplift but negative revenue uplift. Backpack clearance may also have objectives beyond revenue growth.</a:t>
            </a:r>
          </a:p>
          <a:p>
            <a:r>
              <a:rPr lang="en-IN" sz="1200" b="1" kern="1200" dirty="0">
                <a:solidFill>
                  <a:schemeClr val="tx1"/>
                </a:solidFill>
                <a:effectLst/>
                <a:latin typeface="+mn-lt"/>
                <a:ea typeface="+mn-ea"/>
                <a:cs typeface="+mn-cs"/>
              </a:rPr>
              <a:t>How to respond:</a:t>
            </a:r>
            <a:endParaRPr lang="en-IN"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“That distinction matters. I’ll separate the measures the prototype currently calculates from the additional evidence needed for your final investment decision.”</a:t>
            </a:r>
          </a:p>
          <a:p>
            <a:r>
              <a:rPr lang="en-IN" sz="1200" b="1" kern="1200" dirty="0">
                <a:solidFill>
                  <a:schemeClr val="tx1"/>
                </a:solidFill>
                <a:effectLst/>
                <a:latin typeface="+mn-lt"/>
                <a:ea typeface="+mn-ea"/>
                <a:cs typeface="+mn-cs"/>
              </a:rPr>
              <a:t>Question 3 — Address the disagreement over numbers directly</a:t>
            </a:r>
          </a:p>
          <a:p>
            <a:r>
              <a:rPr lang="en-IN" sz="1200" kern="1200" dirty="0">
                <a:solidFill>
                  <a:schemeClr val="tx1"/>
                </a:solidFill>
                <a:effectLst/>
                <a:latin typeface="+mn-lt"/>
                <a:ea typeface="+mn-ea"/>
                <a:cs typeface="+mn-cs"/>
              </a:rPr>
              <a:t>“When reports disagree today, who should own the approved definition and sign off on the reconciled number—for example, finance for net revenue and merchandising for promotion attribution?”</a:t>
            </a:r>
          </a:p>
          <a:p>
            <a:r>
              <a:rPr lang="en-IN" sz="1200" b="1" kern="1200" dirty="0">
                <a:solidFill>
                  <a:schemeClr val="tx1"/>
                </a:solidFill>
                <a:effectLst/>
                <a:latin typeface="+mn-lt"/>
                <a:ea typeface="+mn-ea"/>
                <a:cs typeface="+mn-cs"/>
              </a:rPr>
              <a:t>How to respond:</a:t>
            </a:r>
            <a:endParaRPr lang="en-IN"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“That gives us the ownership we need. Bringing data together is only part of the solution; we also need agreement on definitions, comparison periods and calculation rules.”</a:t>
            </a:r>
          </a:p>
          <a:p>
            <a:r>
              <a:rPr lang="en-IN" sz="1200" b="1" kern="1200" dirty="0">
                <a:solidFill>
                  <a:schemeClr val="tx1"/>
                </a:solidFill>
                <a:effectLst/>
                <a:latin typeface="+mn-lt"/>
                <a:ea typeface="+mn-ea"/>
                <a:cs typeface="+mn-cs"/>
              </a:rPr>
              <a:t>Question 4 — Define churn correctly</a:t>
            </a:r>
          </a:p>
          <a:p>
            <a:r>
              <a:rPr lang="en-IN" sz="1200" kern="1200" dirty="0">
                <a:solidFill>
                  <a:schemeClr val="tx1"/>
                </a:solidFill>
                <a:effectLst/>
                <a:latin typeface="+mn-lt"/>
                <a:ea typeface="+mn-ea"/>
                <a:cs typeface="+mn-cs"/>
              </a:rPr>
              <a:t>“For the membership team, is the outcome we need to predict non-renewal, a period of shopping inactivity, or another definition?”</a:t>
            </a:r>
          </a:p>
          <a:p>
            <a:r>
              <a:rPr lang="en-IN" sz="1200" b="1" kern="1200" dirty="0">
                <a:solidFill>
                  <a:schemeClr val="tx1"/>
                </a:solidFill>
                <a:effectLst/>
                <a:latin typeface="+mn-lt"/>
                <a:ea typeface="+mn-ea"/>
                <a:cs typeface="+mn-cs"/>
              </a:rPr>
              <a:t>How to respond:</a:t>
            </a:r>
            <a:endParaRPr lang="en-IN"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“We’ll use that definition to determine the eligible population, prediction horizon and evaluation approach. We should not treat an inactivity label as equivalent to membership non-renewal.”</a:t>
            </a:r>
          </a:p>
          <a:p>
            <a:r>
              <a:rPr lang="en-IN" sz="1200" b="1" kern="1200" dirty="0">
                <a:solidFill>
                  <a:schemeClr val="tx1"/>
                </a:solidFill>
                <a:effectLst/>
                <a:latin typeface="+mn-lt"/>
                <a:ea typeface="+mn-ea"/>
                <a:cs typeface="+mn-cs"/>
              </a:rPr>
              <a:t>Question 5 — Connect insight to action</a:t>
            </a:r>
          </a:p>
          <a:p>
            <a:r>
              <a:rPr lang="en-IN" sz="1200" kern="1200" dirty="0">
                <a:solidFill>
                  <a:schemeClr val="tx1"/>
                </a:solidFill>
                <a:effectLst/>
                <a:latin typeface="+mn-lt"/>
                <a:ea typeface="+mn-ea"/>
                <a:cs typeface="+mn-cs"/>
              </a:rPr>
              <a:t>“Once the result is available, who makes the decision, and what action can they realistically take?”</a:t>
            </a:r>
          </a:p>
          <a:p>
            <a:r>
              <a:rPr lang="en-IN" sz="1200" b="1" kern="1200" dirty="0">
                <a:solidFill>
                  <a:schemeClr val="tx1"/>
                </a:solidFill>
                <a:effectLst/>
                <a:latin typeface="+mn-lt"/>
                <a:ea typeface="+mn-ea"/>
                <a:cs typeface="+mn-cs"/>
              </a:rPr>
              <a:t>How to respond:</a:t>
            </a:r>
            <a:endParaRPr lang="en-IN"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“Then the output needs to fit that team’s review process and decision cadence. A technically correct result is useful only if someone can act on it.”</a:t>
            </a:r>
          </a:p>
          <a:p>
            <a:endParaRPr lang="en-IN" sz="1200" kern="1200" dirty="0">
              <a:solidFill>
                <a:schemeClr val="tx1"/>
              </a:solidFill>
              <a:effectLst/>
              <a:latin typeface="+mn-lt"/>
              <a:ea typeface="+mn-ea"/>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IN" sz="1200" b="1" kern="1200" dirty="0">
                <a:solidFill>
                  <a:schemeClr val="tx1"/>
                </a:solidFill>
                <a:effectLst/>
                <a:latin typeface="+mn-lt"/>
                <a:ea typeface="+mn-ea"/>
                <a:cs typeface="+mn-cs"/>
              </a:rPr>
              <a:t>Fresh speaker notes</a:t>
            </a:r>
          </a:p>
          <a:p>
            <a:r>
              <a:rPr lang="en-IN" sz="1200" kern="1200" dirty="0">
                <a:solidFill>
                  <a:schemeClr val="tx1"/>
                </a:solidFill>
                <a:effectLst/>
                <a:latin typeface="+mn-lt"/>
                <a:ea typeface="+mn-ea"/>
                <a:cs typeface="+mn-cs"/>
              </a:rPr>
              <a:t>“The design starts with the sources we already have, rather than requiring every source system to change.</a:t>
            </a:r>
          </a:p>
          <a:p>
            <a:r>
              <a:rPr lang="en-IN" sz="1200" kern="1200" dirty="0">
                <a:solidFill>
                  <a:schemeClr val="tx1"/>
                </a:solidFill>
                <a:effectLst/>
                <a:latin typeface="+mn-lt"/>
                <a:ea typeface="+mn-ea"/>
                <a:cs typeface="+mn-cs"/>
              </a:rPr>
              <a:t>Store data comes from Azure SQL through a JDBC notebook. Sales, product and promotion files are ingested through Auto Loader. The churn file is loaded through a notebook.</a:t>
            </a:r>
          </a:p>
          <a:p>
            <a:r>
              <a:rPr lang="en-IN" sz="1200" kern="1200" dirty="0">
                <a:solidFill>
                  <a:schemeClr val="tx1"/>
                </a:solidFill>
                <a:effectLst/>
                <a:latin typeface="+mn-lt"/>
                <a:ea typeface="+mn-ea"/>
                <a:cs typeface="+mn-cs"/>
              </a:rPr>
              <a:t>Bronze retains the raw inputs and ingestion metadata. Silver combines sales, stores, products and promotions into a reusable, non-aggregated table. Gold applies the promotion-baseline calculations used by the dashboard.</a:t>
            </a:r>
          </a:p>
          <a:p>
            <a:r>
              <a:rPr lang="en-IN" sz="1200" kern="1200" dirty="0">
                <a:solidFill>
                  <a:schemeClr val="tx1"/>
                </a:solidFill>
                <a:effectLst/>
                <a:latin typeface="+mn-lt"/>
                <a:ea typeface="+mn-ea"/>
                <a:cs typeface="+mn-cs"/>
              </a:rPr>
              <a:t>The second analytical path trains the Random Forest model and publishes its global feature findings. Genie provides natural-language access to the two approved silver tables.</a:t>
            </a:r>
          </a:p>
          <a:p>
            <a:r>
              <a:rPr lang="en-IN" sz="1200" kern="1200" dirty="0">
                <a:solidFill>
                  <a:schemeClr val="tx1"/>
                </a:solidFill>
                <a:effectLst/>
                <a:latin typeface="+mn-lt"/>
                <a:ea typeface="+mn-ea"/>
                <a:cs typeface="+mn-cs"/>
              </a:rPr>
              <a:t>Unity </a:t>
            </a:r>
            <a:r>
              <a:rPr lang="en-IN" sz="1200" kern="1200" dirty="0" err="1">
                <a:solidFill>
                  <a:schemeClr val="tx1"/>
                </a:solidFill>
                <a:effectLst/>
                <a:latin typeface="+mn-lt"/>
                <a:ea typeface="+mn-ea"/>
                <a:cs typeface="+mn-cs"/>
              </a:rPr>
              <a:t>Catalog</a:t>
            </a:r>
            <a:r>
              <a:rPr lang="en-IN" sz="1200" kern="1200" dirty="0">
                <a:solidFill>
                  <a:schemeClr val="tx1"/>
                </a:solidFill>
                <a:effectLst/>
                <a:latin typeface="+mn-lt"/>
                <a:ea typeface="+mn-ea"/>
                <a:cs typeface="+mn-cs"/>
              </a:rPr>
              <a:t> provides the governance boundary, including access controls and customer-data masking.</a:t>
            </a:r>
          </a:p>
          <a:p>
            <a:r>
              <a:rPr lang="en-IN" sz="1200" kern="1200" dirty="0">
                <a:solidFill>
                  <a:schemeClr val="tx1"/>
                </a:solidFill>
                <a:effectLst/>
                <a:latin typeface="+mn-lt"/>
                <a:ea typeface="+mn-ea"/>
                <a:cs typeface="+mn-cs"/>
              </a:rPr>
              <a:t>The dashed section is deliberately marked as the next step: connect the member features, publish member-level risk scores, and expose approved risk views. I’m distinguishing that future activation from what the prototype currently demonstrates.”</a:t>
            </a:r>
          </a:p>
          <a:p>
            <a:r>
              <a:rPr lang="en-IN" sz="1200" b="1" kern="1200" dirty="0">
                <a:solidFill>
                  <a:schemeClr val="tx1"/>
                </a:solidFill>
                <a:effectLst/>
                <a:latin typeface="+mn-lt"/>
                <a:ea typeface="+mn-ea"/>
                <a:cs typeface="+mn-cs"/>
              </a:rPr>
              <a:t>What to point at</a:t>
            </a:r>
          </a:p>
          <a:p>
            <a:r>
              <a:rPr lang="en-IN" sz="1200" kern="1200" dirty="0">
                <a:solidFill>
                  <a:schemeClr val="tx1"/>
                </a:solidFill>
                <a:effectLst/>
                <a:latin typeface="+mn-lt"/>
                <a:ea typeface="+mn-ea"/>
                <a:cs typeface="+mn-cs"/>
              </a:rPr>
              <a:t>Trace only two paths:</a:t>
            </a:r>
          </a:p>
          <a:p>
            <a:r>
              <a:rPr lang="en-IN" sz="1200" b="1" kern="1200" dirty="0">
                <a:solidFill>
                  <a:schemeClr val="tx1"/>
                </a:solidFill>
                <a:effectLst/>
                <a:latin typeface="+mn-lt"/>
                <a:ea typeface="+mn-ea"/>
                <a:cs typeface="+mn-cs"/>
              </a:rPr>
              <a:t>Promotion path:</a:t>
            </a:r>
            <a:r>
              <a:rPr lang="en-IN" sz="1200" kern="1200" dirty="0">
                <a:solidFill>
                  <a:schemeClr val="tx1"/>
                </a:solidFill>
                <a:effectLst/>
                <a:latin typeface="+mn-lt"/>
                <a:ea typeface="+mn-ea"/>
                <a:cs typeface="+mn-cs"/>
              </a:rPr>
              <a:t> sources → bronze → silver → gold → dashboard.</a:t>
            </a:r>
          </a:p>
          <a:p>
            <a:r>
              <a:rPr lang="en-IN" sz="1200" b="1" kern="1200" dirty="0">
                <a:solidFill>
                  <a:schemeClr val="tx1"/>
                </a:solidFill>
                <a:effectLst/>
                <a:latin typeface="+mn-lt"/>
                <a:ea typeface="+mn-ea"/>
                <a:cs typeface="+mn-cs"/>
              </a:rPr>
              <a:t>Churn path:</a:t>
            </a:r>
            <a:r>
              <a:rPr lang="en-IN" sz="1200" kern="1200" dirty="0">
                <a:solidFill>
                  <a:schemeClr val="tx1"/>
                </a:solidFill>
                <a:effectLst/>
                <a:latin typeface="+mn-lt"/>
                <a:ea typeface="+mn-ea"/>
                <a:cs typeface="+mn-cs"/>
              </a:rPr>
              <a:t> ingested churn data → Random Forest → </a:t>
            </a:r>
            <a:r>
              <a:rPr lang="en-IN" sz="1200" kern="1200" dirty="0" err="1">
                <a:solidFill>
                  <a:schemeClr val="tx1"/>
                </a:solidFill>
                <a:effectLst/>
                <a:latin typeface="+mn-lt"/>
                <a:ea typeface="+mn-ea"/>
                <a:cs typeface="+mn-cs"/>
              </a:rPr>
              <a:t>model_findings</a:t>
            </a:r>
            <a:r>
              <a:rPr lang="en-IN" sz="1200" kern="1200" dirty="0">
                <a:solidFill>
                  <a:schemeClr val="tx1"/>
                </a:solidFill>
                <a:effectLst/>
                <a:latin typeface="+mn-lt"/>
                <a:ea typeface="+mn-ea"/>
                <a:cs typeface="+mn-cs"/>
              </a:rPr>
              <a:t> → Genie.</a:t>
            </a:r>
          </a:p>
          <a:p>
            <a:r>
              <a:rPr lang="en-IN" sz="1200" kern="1200" dirty="0">
                <a:solidFill>
                  <a:schemeClr val="tx1"/>
                </a:solidFill>
                <a:effectLst/>
                <a:latin typeface="+mn-lt"/>
                <a:ea typeface="+mn-ea"/>
                <a:cs typeface="+mn-cs"/>
              </a:rPr>
              <a:t>Explain OBT once:</a:t>
            </a:r>
          </a:p>
          <a:p>
            <a:r>
              <a:rPr lang="en-IN" sz="1200" kern="1200" dirty="0">
                <a:solidFill>
                  <a:schemeClr val="tx1"/>
                </a:solidFill>
                <a:effectLst/>
                <a:latin typeface="+mn-lt"/>
                <a:ea typeface="+mn-ea"/>
                <a:cs typeface="+mn-cs"/>
              </a:rPr>
              <a:t>“One big table means the detailed joins are prepared for reuse; it does not mean the data is already aggregated.”</a:t>
            </a:r>
          </a:p>
          <a:p>
            <a:r>
              <a:rPr lang="en-IN" sz="1200" b="1" kern="1200" dirty="0">
                <a:solidFill>
                  <a:schemeClr val="tx1"/>
                </a:solidFill>
                <a:effectLst/>
                <a:latin typeface="+mn-lt"/>
                <a:ea typeface="+mn-ea"/>
                <a:cs typeface="+mn-cs"/>
              </a:rPr>
              <a:t>Be ready to explain:</a:t>
            </a:r>
            <a:r>
              <a:rPr lang="en-IN" sz="1200" kern="1200" dirty="0">
                <a:solidFill>
                  <a:schemeClr val="tx1"/>
                </a:solidFill>
                <a:effectLst/>
                <a:latin typeface="+mn-lt"/>
                <a:ea typeface="+mn-ea"/>
                <a:cs typeface="+mn-cs"/>
              </a:rPr>
              <a:t> how you prevent duplicate sales when joining dimensions or overlapping promotions.</a:t>
            </a:r>
          </a:p>
          <a:p>
            <a:r>
              <a:rPr lang="en-IN" sz="1200" b="1" kern="1200" dirty="0">
                <a:solidFill>
                  <a:schemeClr val="tx1"/>
                </a:solidFill>
                <a:effectLst/>
                <a:latin typeface="+mn-lt"/>
                <a:ea typeface="+mn-ea"/>
                <a:cs typeface="+mn-cs"/>
              </a:rPr>
              <a:t>Transition:</a:t>
            </a:r>
            <a:endParaRPr lang="en-IN"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“The architecture matters only if it changes a decision. Here are the promotion results.”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IN" sz="1200" b="1" kern="1200" dirty="0">
                <a:solidFill>
                  <a:schemeClr val="tx1"/>
                </a:solidFill>
                <a:effectLst/>
                <a:latin typeface="+mn-lt"/>
                <a:ea typeface="+mn-ea"/>
                <a:cs typeface="+mn-cs"/>
              </a:rPr>
              <a:t>Fresh speaker notes</a:t>
            </a:r>
          </a:p>
          <a:p>
            <a:r>
              <a:rPr lang="en-IN" sz="1200" kern="1200" dirty="0">
                <a:solidFill>
                  <a:schemeClr val="tx1"/>
                </a:solidFill>
                <a:effectLst/>
                <a:latin typeface="+mn-lt"/>
                <a:ea typeface="+mn-ea"/>
                <a:cs typeface="+mn-cs"/>
              </a:rPr>
              <a:t>“These three promotions did not perform equally against their baselines.</a:t>
            </a:r>
          </a:p>
          <a:p>
            <a:r>
              <a:rPr lang="en-IN" sz="1200" kern="1200" dirty="0">
                <a:solidFill>
                  <a:schemeClr val="tx1"/>
                </a:solidFill>
                <a:effectLst/>
                <a:latin typeface="+mn-lt"/>
                <a:ea typeface="+mn-ea"/>
                <a:cs typeface="+mn-cs"/>
              </a:rPr>
              <a:t>Coffee Maker Summer Event has the strongest reported sales-lift result. With </a:t>
            </a:r>
            <a:r>
              <a:rPr lang="en-IN" sz="1200" b="1" kern="1200" dirty="0">
                <a:solidFill>
                  <a:schemeClr val="tx1"/>
                </a:solidFill>
                <a:effectLst/>
                <a:latin typeface="+mn-lt"/>
                <a:ea typeface="+mn-ea"/>
                <a:cs typeface="+mn-cs"/>
              </a:rPr>
              <a:t>$2,464 investment</a:t>
            </a:r>
            <a:r>
              <a:rPr lang="en-IN" sz="1200" kern="1200" dirty="0">
                <a:solidFill>
                  <a:schemeClr val="tx1"/>
                </a:solidFill>
                <a:effectLst/>
                <a:latin typeface="+mn-lt"/>
                <a:ea typeface="+mn-ea"/>
                <a:cs typeface="+mn-cs"/>
              </a:rPr>
              <a:t>, average revenue uplift is </a:t>
            </a:r>
            <a:r>
              <a:rPr lang="en-IN" sz="1200" b="1" kern="1200" dirty="0">
                <a:solidFill>
                  <a:schemeClr val="tx1"/>
                </a:solidFill>
                <a:effectLst/>
                <a:latin typeface="+mn-lt"/>
                <a:ea typeface="+mn-ea"/>
                <a:cs typeface="+mn-cs"/>
              </a:rPr>
              <a:t>95.56%</a:t>
            </a:r>
            <a:r>
              <a:rPr lang="en-IN" sz="1200" kern="1200" dirty="0">
                <a:solidFill>
                  <a:schemeClr val="tx1"/>
                </a:solidFill>
                <a:effectLst/>
                <a:latin typeface="+mn-lt"/>
                <a:ea typeface="+mn-ea"/>
                <a:cs typeface="+mn-cs"/>
              </a:rPr>
              <a:t> and average unit uplift is </a:t>
            </a:r>
            <a:r>
              <a:rPr lang="en-IN" sz="1200" b="1" kern="1200" dirty="0">
                <a:solidFill>
                  <a:schemeClr val="tx1"/>
                </a:solidFill>
                <a:effectLst/>
                <a:latin typeface="+mn-lt"/>
                <a:ea typeface="+mn-ea"/>
                <a:cs typeface="+mn-cs"/>
              </a:rPr>
              <a:t>144.44%</a:t>
            </a:r>
            <a:r>
              <a:rPr lang="en-IN" sz="1200" kern="1200" dirty="0">
                <a:solidFill>
                  <a:schemeClr val="tx1"/>
                </a:solidFill>
                <a:effectLst/>
                <a:latin typeface="+mn-lt"/>
                <a:ea typeface="+mn-ea"/>
                <a:cs typeface="+mn-cs"/>
              </a:rPr>
              <a:t>. The current effectiveness rule labels it HIGH.</a:t>
            </a:r>
          </a:p>
          <a:p>
            <a:r>
              <a:rPr lang="en-IN" sz="1200" kern="1200" dirty="0">
                <a:solidFill>
                  <a:schemeClr val="tx1"/>
                </a:solidFill>
                <a:effectLst/>
                <a:latin typeface="+mn-lt"/>
                <a:ea typeface="+mn-ea"/>
                <a:cs typeface="+mn-cs"/>
              </a:rPr>
              <a:t>Backpack Clearance shows </a:t>
            </a:r>
            <a:r>
              <a:rPr lang="en-IN" sz="1200" b="1" kern="1200" dirty="0">
                <a:solidFill>
                  <a:schemeClr val="tx1"/>
                </a:solidFill>
                <a:effectLst/>
                <a:latin typeface="+mn-lt"/>
                <a:ea typeface="+mn-ea"/>
                <a:cs typeface="+mn-cs"/>
              </a:rPr>
              <a:t>−44.74% average revenue uplift</a:t>
            </a:r>
            <a:r>
              <a:rPr lang="en-IN" sz="1200" kern="1200" dirty="0">
                <a:solidFill>
                  <a:schemeClr val="tx1"/>
                </a:solidFill>
                <a:effectLst/>
                <a:latin typeface="+mn-lt"/>
                <a:ea typeface="+mn-ea"/>
                <a:cs typeface="+mn-cs"/>
              </a:rPr>
              <a:t> and </a:t>
            </a:r>
            <a:r>
              <a:rPr lang="en-IN" sz="1200" b="1" kern="1200" dirty="0">
                <a:solidFill>
                  <a:schemeClr val="tx1"/>
                </a:solidFill>
                <a:effectLst/>
                <a:latin typeface="+mn-lt"/>
                <a:ea typeface="+mn-ea"/>
                <a:cs typeface="+mn-cs"/>
              </a:rPr>
              <a:t>−21.05% average unit uplift</a:t>
            </a:r>
            <a:r>
              <a:rPr lang="en-IN" sz="1200" kern="1200" dirty="0">
                <a:solidFill>
                  <a:schemeClr val="tx1"/>
                </a:solidFill>
                <a:effectLst/>
                <a:latin typeface="+mn-lt"/>
                <a:ea typeface="+mn-ea"/>
                <a:cs typeface="+mn-cs"/>
              </a:rPr>
              <a:t>, with </a:t>
            </a:r>
            <a:r>
              <a:rPr lang="en-IN" sz="1200" b="1" kern="1200" dirty="0">
                <a:solidFill>
                  <a:schemeClr val="tx1"/>
                </a:solidFill>
                <a:effectLst/>
                <a:latin typeface="+mn-lt"/>
                <a:ea typeface="+mn-ea"/>
                <a:cs typeface="+mn-cs"/>
              </a:rPr>
              <a:t>$1,575 investment</a:t>
            </a:r>
            <a:r>
              <a:rPr lang="en-IN" sz="1200" kern="1200" dirty="0">
                <a:solidFill>
                  <a:schemeClr val="tx1"/>
                </a:solidFill>
                <a:effectLst/>
                <a:latin typeface="+mn-lt"/>
                <a:ea typeface="+mn-ea"/>
                <a:cs typeface="+mn-cs"/>
              </a:rPr>
              <a:t>. That warrants investigation before repeating the same approach. Because it is a clearance promotion, I would also check whether inventory reduction or cash recovery was the intended objective.</a:t>
            </a:r>
          </a:p>
          <a:p>
            <a:r>
              <a:rPr lang="en-IN" sz="1200" kern="1200" dirty="0">
                <a:solidFill>
                  <a:schemeClr val="tx1"/>
                </a:solidFill>
                <a:effectLst/>
                <a:latin typeface="+mn-lt"/>
                <a:ea typeface="+mn-ea"/>
                <a:cs typeface="+mn-cs"/>
              </a:rPr>
              <a:t>Running Shoes Weekend Offer is the most useful counterexample. With </a:t>
            </a:r>
            <a:r>
              <a:rPr lang="en-IN" sz="1200" b="1" kern="1200" dirty="0">
                <a:solidFill>
                  <a:schemeClr val="tx1"/>
                </a:solidFill>
                <a:effectLst/>
                <a:latin typeface="+mn-lt"/>
                <a:ea typeface="+mn-ea"/>
                <a:cs typeface="+mn-cs"/>
              </a:rPr>
              <a:t>$2,016 investment</a:t>
            </a:r>
            <a:r>
              <a:rPr lang="en-IN" sz="1200" kern="1200" dirty="0">
                <a:solidFill>
                  <a:schemeClr val="tx1"/>
                </a:solidFill>
                <a:effectLst/>
                <a:latin typeface="+mn-lt"/>
                <a:ea typeface="+mn-ea"/>
                <a:cs typeface="+mn-cs"/>
              </a:rPr>
              <a:t>, average unit uplift is positive at </a:t>
            </a:r>
            <a:r>
              <a:rPr lang="en-IN" sz="1200" b="1" kern="1200" dirty="0">
                <a:solidFill>
                  <a:schemeClr val="tx1"/>
                </a:solidFill>
                <a:effectLst/>
                <a:latin typeface="+mn-lt"/>
                <a:ea typeface="+mn-ea"/>
                <a:cs typeface="+mn-cs"/>
              </a:rPr>
              <a:t>14.29%</a:t>
            </a:r>
            <a:r>
              <a:rPr lang="en-IN" sz="1200" kern="1200" dirty="0">
                <a:solidFill>
                  <a:schemeClr val="tx1"/>
                </a:solidFill>
                <a:effectLst/>
                <a:latin typeface="+mn-lt"/>
                <a:ea typeface="+mn-ea"/>
                <a:cs typeface="+mn-cs"/>
              </a:rPr>
              <a:t>, while average revenue uplift is negative at </a:t>
            </a:r>
            <a:r>
              <a:rPr lang="en-IN" sz="1200" b="1" kern="1200" dirty="0">
                <a:solidFill>
                  <a:schemeClr val="tx1"/>
                </a:solidFill>
                <a:effectLst/>
                <a:latin typeface="+mn-lt"/>
                <a:ea typeface="+mn-ea"/>
                <a:cs typeface="+mn-cs"/>
              </a:rPr>
              <a:t>−2.86%</a:t>
            </a:r>
            <a:r>
              <a:rPr lang="en-IN" sz="1200" kern="1200" dirty="0">
                <a:solidFill>
                  <a:schemeClr val="tx1"/>
                </a:solidFill>
                <a:effectLst/>
                <a:latin typeface="+mn-lt"/>
                <a:ea typeface="+mn-ea"/>
                <a:cs typeface="+mn-cs"/>
              </a:rPr>
              <a:t>.</a:t>
            </a:r>
          </a:p>
          <a:p>
            <a:r>
              <a:rPr lang="en-IN" sz="1200" kern="1200" dirty="0">
                <a:solidFill>
                  <a:schemeClr val="tx1"/>
                </a:solidFill>
                <a:effectLst/>
                <a:latin typeface="+mn-lt"/>
                <a:ea typeface="+mn-ea"/>
                <a:cs typeface="+mn-cs"/>
              </a:rPr>
              <a:t>That demonstrates why moving more units is not enough to declare a promotion successful.”</a:t>
            </a:r>
          </a:p>
          <a:p>
            <a:r>
              <a:rPr lang="en-IN" sz="1200" kern="1200" dirty="0">
                <a:solidFill>
                  <a:schemeClr val="tx1"/>
                </a:solidFill>
                <a:effectLst/>
                <a:latin typeface="+mn-lt"/>
                <a:ea typeface="+mn-ea"/>
                <a:cs typeface="+mn-cs"/>
              </a:rPr>
              <a:t>Then connect to action:</a:t>
            </a:r>
          </a:p>
          <a:p>
            <a:r>
              <a:rPr lang="en-IN" sz="1200" kern="1200" dirty="0">
                <a:solidFill>
                  <a:schemeClr val="tx1"/>
                </a:solidFill>
                <a:effectLst/>
                <a:latin typeface="+mn-lt"/>
                <a:ea typeface="+mn-ea"/>
                <a:cs typeface="+mn-cs"/>
              </a:rPr>
              <a:t>“Coffee Maker is a candidate for a repeat test after checking baseline validity and contribution. For backpacks and running shoes, I would investigate and redesign rather than automatically repeat the offers.</a:t>
            </a:r>
          </a:p>
          <a:p>
            <a:r>
              <a:rPr lang="en-IN" sz="1200" kern="1200" dirty="0">
                <a:solidFill>
                  <a:schemeClr val="tx1"/>
                </a:solidFill>
                <a:effectLst/>
                <a:latin typeface="+mn-lt"/>
                <a:ea typeface="+mn-ea"/>
                <a:cs typeface="+mn-cs"/>
              </a:rPr>
              <a:t>These are sales-lift signals, not proven profitability. Pricing and product mix are possible explanations for the running-shoes result, but the table alone does not establish the cause.”</a:t>
            </a:r>
          </a:p>
          <a:p>
            <a:r>
              <a:rPr lang="en-IN" sz="1200" b="1" kern="1200" dirty="0">
                <a:solidFill>
                  <a:schemeClr val="tx1"/>
                </a:solidFill>
                <a:effectLst/>
                <a:latin typeface="+mn-lt"/>
                <a:ea typeface="+mn-ea"/>
                <a:cs typeface="+mn-cs"/>
              </a:rPr>
              <a:t>Live demonstration</a:t>
            </a:r>
          </a:p>
          <a:p>
            <a:r>
              <a:rPr lang="en-IN" sz="1200" kern="1200" dirty="0">
                <a:solidFill>
                  <a:schemeClr val="tx1"/>
                </a:solidFill>
                <a:effectLst/>
                <a:latin typeface="+mn-lt"/>
                <a:ea typeface="+mn-ea"/>
                <a:cs typeface="+mn-cs"/>
              </a:rPr>
              <a:t>Show one promotion from start to finish:</a:t>
            </a:r>
          </a:p>
          <a:p>
            <a:pPr lvl="0"/>
            <a:r>
              <a:rPr lang="en-IN" sz="1200" kern="1200" dirty="0">
                <a:solidFill>
                  <a:schemeClr val="tx1"/>
                </a:solidFill>
                <a:effectLst/>
                <a:latin typeface="+mn-lt"/>
                <a:ea typeface="+mn-ea"/>
                <a:cs typeface="+mn-cs"/>
              </a:rPr>
              <a:t>Its dashboard result.</a:t>
            </a:r>
          </a:p>
          <a:p>
            <a:pPr lvl="0"/>
            <a:r>
              <a:rPr lang="en-IN" sz="1200" kern="1200" dirty="0">
                <a:solidFill>
                  <a:schemeClr val="tx1"/>
                </a:solidFill>
                <a:effectLst/>
                <a:latin typeface="+mn-lt"/>
                <a:ea typeface="+mn-ea"/>
                <a:cs typeface="+mn-cs"/>
              </a:rPr>
              <a:t>The actual baseline calculation.</a:t>
            </a:r>
          </a:p>
          <a:p>
            <a:pPr lvl="0"/>
            <a:r>
              <a:rPr lang="en-IN" sz="1200" kern="1200" dirty="0">
                <a:solidFill>
                  <a:schemeClr val="tx1"/>
                </a:solidFill>
                <a:effectLst/>
                <a:latin typeface="+mn-lt"/>
                <a:ea typeface="+mn-ea"/>
                <a:cs typeface="+mn-cs"/>
              </a:rPr>
              <a:t>The relevant gold and silver records.</a:t>
            </a:r>
          </a:p>
          <a:p>
            <a:pPr lvl="0"/>
            <a:r>
              <a:rPr lang="en-IN" sz="1200" kern="1200" dirty="0">
                <a:solidFill>
                  <a:schemeClr val="tx1"/>
                </a:solidFill>
                <a:effectLst/>
                <a:latin typeface="+mn-lt"/>
                <a:ea typeface="+mn-ea"/>
                <a:cs typeface="+mn-cs"/>
              </a:rPr>
              <a:t>One reconciliation or quality check.</a:t>
            </a:r>
          </a:p>
          <a:p>
            <a:r>
              <a:rPr lang="en-IN" sz="1200" kern="1200" dirty="0">
                <a:solidFill>
                  <a:schemeClr val="tx1"/>
                </a:solidFill>
                <a:effectLst/>
                <a:latin typeface="+mn-lt"/>
                <a:ea typeface="+mn-ea"/>
                <a:cs typeface="+mn-cs"/>
              </a:rPr>
              <a:t>Say:</a:t>
            </a:r>
          </a:p>
          <a:p>
            <a:r>
              <a:rPr lang="en-IN" sz="1200" kern="1200" dirty="0">
                <a:solidFill>
                  <a:schemeClr val="tx1"/>
                </a:solidFill>
                <a:effectLst/>
                <a:latin typeface="+mn-lt"/>
                <a:ea typeface="+mn-ea"/>
                <a:cs typeface="+mn-cs"/>
              </a:rPr>
              <a:t>“The word </a:t>
            </a:r>
            <a:r>
              <a:rPr lang="en-IN" sz="1200" b="1" kern="1200" dirty="0">
                <a:solidFill>
                  <a:schemeClr val="tx1"/>
                </a:solidFill>
                <a:effectLst/>
                <a:latin typeface="+mn-lt"/>
                <a:ea typeface="+mn-ea"/>
                <a:cs typeface="+mn-cs"/>
              </a:rPr>
              <a:t>average</a:t>
            </a:r>
            <a:r>
              <a:rPr lang="en-IN" sz="1200" kern="1200" dirty="0">
                <a:solidFill>
                  <a:schemeClr val="tx1"/>
                </a:solidFill>
                <a:effectLst/>
                <a:latin typeface="+mn-lt"/>
                <a:ea typeface="+mn-ea"/>
                <a:cs typeface="+mn-cs"/>
              </a:rPr>
              <a:t> matters. I would confirm the averaging grain and weighting before reporting overall portfolio lift. Investment plus uplift percentages alone are insufficient to calculate ROI.”</a:t>
            </a:r>
          </a:p>
          <a:p>
            <a:r>
              <a:rPr lang="en-IN" sz="1200" b="1" kern="1200" dirty="0">
                <a:solidFill>
                  <a:schemeClr val="tx1"/>
                </a:solidFill>
                <a:effectLst/>
                <a:latin typeface="+mn-lt"/>
                <a:ea typeface="+mn-ea"/>
                <a:cs typeface="+mn-cs"/>
              </a:rPr>
              <a:t>Transition:</a:t>
            </a:r>
            <a:endParaRPr lang="en-IN"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“That tells us where promotional performance differs. The next question is what customer signals deserve attention.”</a:t>
            </a:r>
          </a:p>
          <a:p>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IN" sz="1200" b="1" kern="1200" dirty="0">
                <a:solidFill>
                  <a:schemeClr val="tx1"/>
                </a:solidFill>
                <a:effectLst/>
                <a:latin typeface="+mn-lt"/>
                <a:ea typeface="+mn-ea"/>
                <a:cs typeface="+mn-cs"/>
              </a:rPr>
              <a:t>Fresh speaker notes</a:t>
            </a:r>
          </a:p>
          <a:p>
            <a:r>
              <a:rPr lang="en-IN" sz="1200" kern="1200" dirty="0">
                <a:solidFill>
                  <a:schemeClr val="tx1"/>
                </a:solidFill>
                <a:effectLst/>
                <a:latin typeface="+mn-lt"/>
                <a:ea typeface="+mn-ea"/>
                <a:cs typeface="+mn-cs"/>
              </a:rPr>
              <a:t>“The strongest feature in this Random Forest model is </a:t>
            </a:r>
            <a:r>
              <a:rPr lang="en-IN" sz="1200" b="1" kern="1200" dirty="0">
                <a:solidFill>
                  <a:schemeClr val="tx1"/>
                </a:solidFill>
                <a:effectLst/>
                <a:latin typeface="+mn-lt"/>
                <a:ea typeface="+mn-ea"/>
                <a:cs typeface="+mn-cs"/>
              </a:rPr>
              <a:t>Tenure, at 24.6% importance</a:t>
            </a:r>
            <a:r>
              <a:rPr lang="en-IN" sz="1200" kern="1200" dirty="0">
                <a:solidFill>
                  <a:schemeClr val="tx1"/>
                </a:solidFill>
                <a:effectLst/>
                <a:latin typeface="+mn-lt"/>
                <a:ea typeface="+mn-ea"/>
                <a:cs typeface="+mn-cs"/>
              </a:rPr>
              <a:t>.</a:t>
            </a:r>
          </a:p>
          <a:p>
            <a:r>
              <a:rPr lang="en-IN" sz="1200" kern="1200" dirty="0" err="1">
                <a:solidFill>
                  <a:schemeClr val="tx1"/>
                </a:solidFill>
                <a:effectLst/>
                <a:latin typeface="+mn-lt"/>
                <a:ea typeface="+mn-ea"/>
                <a:cs typeface="+mn-cs"/>
              </a:rPr>
              <a:t>CashbackAmount</a:t>
            </a:r>
            <a:r>
              <a:rPr lang="en-IN" sz="1200" kern="1200" dirty="0">
                <a:solidFill>
                  <a:schemeClr val="tx1"/>
                </a:solidFill>
                <a:effectLst/>
                <a:latin typeface="+mn-lt"/>
                <a:ea typeface="+mn-ea"/>
                <a:cs typeface="+mn-cs"/>
              </a:rPr>
              <a:t> follows at </a:t>
            </a:r>
            <a:r>
              <a:rPr lang="en-IN" sz="1200" b="1" kern="1200" dirty="0">
                <a:solidFill>
                  <a:schemeClr val="tx1"/>
                </a:solidFill>
                <a:effectLst/>
                <a:latin typeface="+mn-lt"/>
                <a:ea typeface="+mn-ea"/>
                <a:cs typeface="+mn-cs"/>
              </a:rPr>
              <a:t>8.8%</a:t>
            </a:r>
            <a:r>
              <a:rPr lang="en-IN" sz="1200" kern="1200" dirty="0">
                <a:solidFill>
                  <a:schemeClr val="tx1"/>
                </a:solidFill>
                <a:effectLst/>
                <a:latin typeface="+mn-lt"/>
                <a:ea typeface="+mn-ea"/>
                <a:cs typeface="+mn-cs"/>
              </a:rPr>
              <a:t>, </a:t>
            </a:r>
            <a:r>
              <a:rPr lang="en-IN" sz="1200" kern="1200" dirty="0" err="1">
                <a:solidFill>
                  <a:schemeClr val="tx1"/>
                </a:solidFill>
                <a:effectLst/>
                <a:latin typeface="+mn-lt"/>
                <a:ea typeface="+mn-ea"/>
                <a:cs typeface="+mn-cs"/>
              </a:rPr>
              <a:t>WarehouseToHome</a:t>
            </a:r>
            <a:r>
              <a:rPr lang="en-IN" sz="1200" kern="1200" dirty="0">
                <a:solidFill>
                  <a:schemeClr val="tx1"/>
                </a:solidFill>
                <a:effectLst/>
                <a:latin typeface="+mn-lt"/>
                <a:ea typeface="+mn-ea"/>
                <a:cs typeface="+mn-cs"/>
              </a:rPr>
              <a:t> at </a:t>
            </a:r>
            <a:r>
              <a:rPr lang="en-IN" sz="1200" b="1" kern="1200" dirty="0">
                <a:solidFill>
                  <a:schemeClr val="tx1"/>
                </a:solidFill>
                <a:effectLst/>
                <a:latin typeface="+mn-lt"/>
                <a:ea typeface="+mn-ea"/>
                <a:cs typeface="+mn-cs"/>
              </a:rPr>
              <a:t>6.2%</a:t>
            </a:r>
            <a:r>
              <a:rPr lang="en-IN" sz="1200" kern="1200" dirty="0">
                <a:solidFill>
                  <a:schemeClr val="tx1"/>
                </a:solidFill>
                <a:effectLst/>
                <a:latin typeface="+mn-lt"/>
                <a:ea typeface="+mn-ea"/>
                <a:cs typeface="+mn-cs"/>
              </a:rPr>
              <a:t>, and Complain at </a:t>
            </a:r>
            <a:r>
              <a:rPr lang="en-IN" sz="1200" b="1" kern="1200" dirty="0">
                <a:solidFill>
                  <a:schemeClr val="tx1"/>
                </a:solidFill>
                <a:effectLst/>
                <a:latin typeface="+mn-lt"/>
                <a:ea typeface="+mn-ea"/>
                <a:cs typeface="+mn-cs"/>
              </a:rPr>
              <a:t>6.1%</a:t>
            </a:r>
            <a:r>
              <a:rPr lang="en-IN" sz="1200" kern="1200" dirty="0">
                <a:solidFill>
                  <a:schemeClr val="tx1"/>
                </a:solidFill>
                <a:effectLst/>
                <a:latin typeface="+mn-lt"/>
                <a:ea typeface="+mn-ea"/>
                <a:cs typeface="+mn-cs"/>
              </a:rPr>
              <a:t>. The ten displayed features account for </a:t>
            </a:r>
            <a:r>
              <a:rPr lang="en-IN" sz="1200" b="1" kern="1200" dirty="0">
                <a:solidFill>
                  <a:schemeClr val="tx1"/>
                </a:solidFill>
                <a:effectLst/>
                <a:latin typeface="+mn-lt"/>
                <a:ea typeface="+mn-ea"/>
                <a:cs typeface="+mn-cs"/>
              </a:rPr>
              <a:t>72% of the supplied importance values</a:t>
            </a:r>
            <a:r>
              <a:rPr lang="en-IN" sz="1200" kern="1200" dirty="0">
                <a:solidFill>
                  <a:schemeClr val="tx1"/>
                </a:solidFill>
                <a:effectLst/>
                <a:latin typeface="+mn-lt"/>
                <a:ea typeface="+mn-ea"/>
                <a:cs typeface="+mn-cs"/>
              </a:rPr>
              <a:t>.</a:t>
            </a:r>
          </a:p>
          <a:p>
            <a:r>
              <a:rPr lang="en-IN" sz="1200" kern="1200" dirty="0">
                <a:solidFill>
                  <a:schemeClr val="tx1"/>
                </a:solidFill>
                <a:effectLst/>
                <a:latin typeface="+mn-lt"/>
                <a:ea typeface="+mn-ea"/>
                <a:cs typeface="+mn-cs"/>
              </a:rPr>
              <a:t>Rather than reading every feature, I would group the investigation into three areas: customer lifecycle, customer experience, and purchasing engagement.</a:t>
            </a:r>
          </a:p>
          <a:p>
            <a:r>
              <a:rPr lang="en-IN" sz="1200" kern="1200" dirty="0">
                <a:solidFill>
                  <a:schemeClr val="tx1"/>
                </a:solidFill>
                <a:effectLst/>
                <a:latin typeface="+mn-lt"/>
                <a:ea typeface="+mn-ea"/>
                <a:cs typeface="+mn-cs"/>
              </a:rPr>
              <a:t>Lifecycle includes tenure. Experience includes rewards, complaints, satisfaction and distance. Engagement includes time since the last order, order frequency and order growth.”</a:t>
            </a:r>
          </a:p>
          <a:p>
            <a:r>
              <a:rPr lang="en-IN" sz="1200" kern="1200" dirty="0">
                <a:solidFill>
                  <a:schemeClr val="tx1"/>
                </a:solidFill>
                <a:effectLst/>
                <a:latin typeface="+mn-lt"/>
                <a:ea typeface="+mn-ea"/>
                <a:cs typeface="+mn-cs"/>
              </a:rPr>
              <a:t>Then explain the boundary:</a:t>
            </a:r>
          </a:p>
          <a:p>
            <a:r>
              <a:rPr lang="en-IN" sz="1200" kern="1200" dirty="0">
                <a:solidFill>
                  <a:schemeClr val="tx1"/>
                </a:solidFill>
                <a:effectLst/>
                <a:latin typeface="+mn-lt"/>
                <a:ea typeface="+mn-ea"/>
                <a:cs typeface="+mn-cs"/>
              </a:rPr>
              <a:t>“Feature importance tells us how much a feature contributes to the model’s importance calculation. It does not mean tenure causes 24.6% of churn, and it does not establish whether a higher or lower value increases risk.</a:t>
            </a:r>
          </a:p>
          <a:p>
            <a:r>
              <a:rPr lang="en-IN" sz="1200" kern="1200" dirty="0">
                <a:solidFill>
                  <a:schemeClr val="tx1"/>
                </a:solidFill>
                <a:effectLst/>
                <a:latin typeface="+mn-lt"/>
                <a:ea typeface="+mn-ea"/>
                <a:cs typeface="+mn-cs"/>
              </a:rPr>
              <a:t>The supplied interpretations suggest early-tenure and disengaged customers may deserve attention. I would validate those patterns with directional analysis before designing retention actions.</a:t>
            </a:r>
          </a:p>
          <a:p>
            <a:r>
              <a:rPr lang="en-IN" sz="1200" kern="1200" dirty="0">
                <a:solidFill>
                  <a:schemeClr val="tx1"/>
                </a:solidFill>
                <a:effectLst/>
                <a:latin typeface="+mn-lt"/>
                <a:ea typeface="+mn-ea"/>
                <a:cs typeface="+mn-cs"/>
              </a:rPr>
              <a:t>Member-level scores are still needed to prioritize individuals. A global feature ranking is not an individual customer-risk list.”</a:t>
            </a:r>
          </a:p>
          <a:p>
            <a:r>
              <a:rPr lang="en-IN" sz="1200" b="1" kern="1200" dirty="0">
                <a:solidFill>
                  <a:schemeClr val="tx1"/>
                </a:solidFill>
                <a:effectLst/>
                <a:latin typeface="+mn-lt"/>
                <a:ea typeface="+mn-ea"/>
                <a:cs typeface="+mn-cs"/>
              </a:rPr>
              <a:t>What to demonstrate</a:t>
            </a:r>
          </a:p>
          <a:p>
            <a:r>
              <a:rPr lang="en-IN" sz="1200" kern="1200" dirty="0">
                <a:solidFill>
                  <a:schemeClr val="tx1"/>
                </a:solidFill>
                <a:effectLst/>
                <a:latin typeface="+mn-lt"/>
                <a:ea typeface="+mn-ea"/>
                <a:cs typeface="+mn-cs"/>
              </a:rPr>
              <a:t>Show the actual model evidence available:</a:t>
            </a:r>
          </a:p>
          <a:p>
            <a:pPr lvl="0"/>
            <a:r>
              <a:rPr lang="en-IN" sz="1200" kern="1200" dirty="0">
                <a:solidFill>
                  <a:schemeClr val="tx1"/>
                </a:solidFill>
                <a:effectLst/>
                <a:latin typeface="+mn-lt"/>
                <a:ea typeface="+mn-ea"/>
                <a:cs typeface="+mn-cs"/>
              </a:rPr>
              <a:t>Target definition and prediction horizon.</a:t>
            </a:r>
          </a:p>
          <a:p>
            <a:pPr lvl="0"/>
            <a:r>
              <a:rPr lang="en-IN" sz="1200" kern="1200" dirty="0">
                <a:solidFill>
                  <a:schemeClr val="tx1"/>
                </a:solidFill>
                <a:effectLst/>
                <a:latin typeface="+mn-lt"/>
                <a:ea typeface="+mn-ea"/>
                <a:cs typeface="+mn-cs"/>
              </a:rPr>
              <a:t>Train/test separation and measured evaluation results.</a:t>
            </a:r>
          </a:p>
          <a:p>
            <a:pPr lvl="0"/>
            <a:r>
              <a:rPr lang="en-IN" sz="1200" kern="1200" dirty="0">
                <a:solidFill>
                  <a:schemeClr val="tx1"/>
                </a:solidFill>
                <a:effectLst/>
                <a:latin typeface="+mn-lt"/>
                <a:ea typeface="+mn-ea"/>
                <a:cs typeface="+mn-cs"/>
              </a:rPr>
              <a:t>A recorded </a:t>
            </a:r>
            <a:r>
              <a:rPr lang="en-IN" sz="1200" kern="1200" dirty="0" err="1">
                <a:solidFill>
                  <a:schemeClr val="tx1"/>
                </a:solidFill>
                <a:effectLst/>
                <a:latin typeface="+mn-lt"/>
                <a:ea typeface="+mn-ea"/>
                <a:cs typeface="+mn-cs"/>
              </a:rPr>
              <a:t>MLflow</a:t>
            </a:r>
            <a:r>
              <a:rPr lang="en-IN" sz="1200" kern="1200" dirty="0">
                <a:solidFill>
                  <a:schemeClr val="tx1"/>
                </a:solidFill>
                <a:effectLst/>
                <a:latin typeface="+mn-lt"/>
                <a:ea typeface="+mn-ea"/>
                <a:cs typeface="+mn-cs"/>
              </a:rPr>
              <a:t> run, if available.</a:t>
            </a:r>
          </a:p>
          <a:p>
            <a:pPr lvl="0"/>
            <a:r>
              <a:rPr lang="en-IN" sz="1200" kern="1200" dirty="0">
                <a:solidFill>
                  <a:schemeClr val="tx1"/>
                </a:solidFill>
                <a:effectLst/>
                <a:latin typeface="+mn-lt"/>
                <a:ea typeface="+mn-ea"/>
                <a:cs typeface="+mn-cs"/>
              </a:rPr>
              <a:t>An existing prediction output, if your notebook produces one.</a:t>
            </a:r>
          </a:p>
          <a:p>
            <a:r>
              <a:rPr lang="en-IN" sz="1200" kern="1200" dirty="0">
                <a:solidFill>
                  <a:schemeClr val="tx1"/>
                </a:solidFill>
                <a:effectLst/>
                <a:latin typeface="+mn-lt"/>
                <a:ea typeface="+mn-ea"/>
                <a:cs typeface="+mn-cs"/>
              </a:rPr>
              <a:t>Then ask Genie:</a:t>
            </a:r>
          </a:p>
          <a:p>
            <a:r>
              <a:rPr lang="en-IN" sz="1200" kern="1200" dirty="0">
                <a:solidFill>
                  <a:schemeClr val="tx1"/>
                </a:solidFill>
                <a:effectLst/>
                <a:latin typeface="+mn-lt"/>
                <a:ea typeface="+mn-ea"/>
                <a:cs typeface="+mn-cs"/>
              </a:rPr>
              <a:t>“Rank the churn features by importance from </a:t>
            </a:r>
            <a:r>
              <a:rPr lang="en-IN" sz="1200" kern="1200" dirty="0" err="1">
                <a:solidFill>
                  <a:schemeClr val="tx1"/>
                </a:solidFill>
                <a:effectLst/>
                <a:latin typeface="+mn-lt"/>
                <a:ea typeface="+mn-ea"/>
                <a:cs typeface="+mn-cs"/>
              </a:rPr>
              <a:t>model_findings</a:t>
            </a:r>
            <a:r>
              <a:rPr lang="en-IN" sz="1200" kern="1200" dirty="0">
                <a:solidFill>
                  <a:schemeClr val="tx1"/>
                </a:solidFill>
                <a:effectLst/>
                <a:latin typeface="+mn-lt"/>
                <a:ea typeface="+mn-ea"/>
                <a:cs typeface="+mn-cs"/>
              </a:rPr>
              <a:t>.”</a:t>
            </a:r>
          </a:p>
          <a:p>
            <a:r>
              <a:rPr lang="en-IN" sz="1200" kern="1200" dirty="0">
                <a:solidFill>
                  <a:schemeClr val="tx1"/>
                </a:solidFill>
                <a:effectLst/>
                <a:latin typeface="+mn-lt"/>
                <a:ea typeface="+mn-ea"/>
                <a:cs typeface="+mn-cs"/>
              </a:rPr>
              <a:t>Inspect the generated SQL and result.</a:t>
            </a:r>
          </a:p>
          <a:p>
            <a:r>
              <a:rPr lang="en-IN" sz="1200" b="1" kern="1200" dirty="0">
                <a:solidFill>
                  <a:schemeClr val="tx1"/>
                </a:solidFill>
                <a:effectLst/>
                <a:latin typeface="+mn-lt"/>
                <a:ea typeface="+mn-ea"/>
                <a:cs typeface="+mn-cs"/>
              </a:rPr>
              <a:t>Important point to make:</a:t>
            </a:r>
            <a:endParaRPr lang="en-IN"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“We must confirm that the source dataset’s churn label matches the business question. Shopping inactivity and membership non-renewal are different outcomes.”</a:t>
            </a:r>
          </a:p>
          <a:p>
            <a:r>
              <a:rPr lang="en-IN" sz="1200" b="1" kern="1200" dirty="0">
                <a:solidFill>
                  <a:schemeClr val="tx1"/>
                </a:solidFill>
                <a:effectLst/>
                <a:latin typeface="+mn-lt"/>
                <a:ea typeface="+mn-ea"/>
                <a:cs typeface="+mn-cs"/>
              </a:rPr>
              <a:t>Do not claim:</a:t>
            </a:r>
            <a:r>
              <a:rPr lang="en-IN" sz="1200" kern="1200" dirty="0">
                <a:solidFill>
                  <a:schemeClr val="tx1"/>
                </a:solidFill>
                <a:effectLst/>
                <a:latin typeface="+mn-lt"/>
                <a:ea typeface="+mn-ea"/>
                <a:cs typeface="+mn-cs"/>
              </a:rPr>
              <a:t> delivery frustration, relocation, or comparison-shopping as established causes based solely on these importances.</a:t>
            </a:r>
          </a:p>
          <a:p>
            <a:r>
              <a:rPr lang="en-IN" sz="1200" b="1" kern="1200" dirty="0">
                <a:solidFill>
                  <a:schemeClr val="tx1"/>
                </a:solidFill>
                <a:effectLst/>
                <a:latin typeface="+mn-lt"/>
                <a:ea typeface="+mn-ea"/>
                <a:cs typeface="+mn-cs"/>
              </a:rPr>
              <a:t>Transition:</a:t>
            </a:r>
            <a:endParaRPr lang="en-IN"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“You have now seen the business outputs. Let me connect them to the Databricks capabilities used to build and operate the solution.”</a:t>
            </a:r>
          </a:p>
          <a:p>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USE: immediately after the architecture. Spend 60-90 seconds linking the features to retail outcomes; borrow time from the architecture explanation rather than extending the 60-minute meeting.</a:t>
            </a:r>
          </a:p>
          <a:p>
            <a:r>
              <a:t>TALK TRACK: Databricks is the common platform from raw inputs to business action. Auto Loader incrementally processes retail files, while a JDBC notebook brings in stores from Azure SQL. Bronze, silver and gold Delta tables separate raw records, reusable detail and promotion metrics. Unity Catalog governs access and masks customer information. Notebook jobs and pipelines coordinate the work, with implemented quality checks and a file-processing dashboard. Random Forest produces churn signals; MLflow supplies experiment evidence where logged. Genie and dashboards make the approved data usable by business teams. VS Code, Databricks Connect and GitHub support development, assisted by Copilot and Genie Code.</a:t>
            </a:r>
          </a:p>
          <a:p>
            <a:r>
              <a:t>AUTO LOADER: used for sales, product and promotion files in Unity Catalog volumes. JDBC is the relational ingestion path; churn flat files use a notebook. Show the existing metadata dashboard, without claiming that file metadata alone proves backlog completeness or business-data reconciliation.</a:t>
            </a:r>
          </a:p>
          <a:p>
            <a:r>
              <a:t>DELTA / MEDALLION: bronze is raw, silver.promotion_Sales is the non-aggregated joined detail, gold.promotions_impact contains the baseline comparison. Medallion is an architectural pattern, not a separate service. Delta Lake is open source. Do not claim unshown CDC, time-travel or optimization features.</a:t>
            </a:r>
          </a:p>
          <a:p>
            <a:r>
              <a:t>UNITY CATALOG: retail_demo contains schemas and schema-scoped volumes. Show permissions and customer column masking with approved/restricted identities. Masking is query-time access control, not encryption; copies and published dashboards need their own access review. Demonstrate lineage only where evidence exists.</a:t>
            </a:r>
          </a:p>
          <a:p>
            <a:r>
              <a:t>JOBS / PIPELINES: use the exact resource visible in the workspace. Lakeflow Jobs orchestrates notebook, ML and pipeline tasks; Spark Declarative Pipelines is a separate managed transformation framework. Do not call notebook assertions managed pipeline expectations unless implemented that way. Show the job graph and one real quality rule; claim configured retries/alerts only if present.</a:t>
            </a:r>
          </a:p>
          <a:p>
            <a:r>
              <a:t>MLFLOW: Random Forest is the algorithm, not a Databricks-specific feature. Show actual recorded parameters, metrics and artifacts; MLflow tracks only what is logged. Global importance is not predictive accuracy, causation or a member-level risk score. Member scoring remains a proposed extension unless separately completed.</a:t>
            </a:r>
          </a:p>
          <a:p>
            <a:r>
              <a:t>GENIE / DASHBOARDS: Genie currently queries the two silver tables, while the promotion dashboard uses gold.promotions_impact. Do not imply Genie already uses gold baseline semantics without the proposed curated connection or equivalent tested logic. Identify the actual dashboard product rather than assuming a particular AI/BI type.</a:t>
            </a:r>
          </a:p>
          <a:p>
            <a:r>
              <a:t>DEVELOPMENT: Databricks Connect links local development to Databricks compute. VS Code, GitHub and GitHub Copilot are external development integrations; Genie Code is the Databricks coding assistant. Repository integration is not automatically CI/CD. AI accelerated authoring; the candidate owns review of joins, metrics, leakage and data access.</a:t>
            </a:r>
          </a:p>
          <a:p>
            <a:r>
              <a:t>PRESENTATION: name a capability, point to the artifact built with it, then explain the business benefit. Avoid a generic platform checklist.</a:t>
            </a:r>
          </a:p>
          <a:p>
            <a:r>
              <a:t>DECK LIMIT: the user explicitly chose to insert an additional slide into the current seven-slide deck, making eight. The source interview brief still limits the interview deck to five; consolidation would be a separate decision.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IN" sz="1200" b="1" kern="1200" dirty="0">
                <a:solidFill>
                  <a:schemeClr val="tx1"/>
                </a:solidFill>
                <a:effectLst/>
                <a:latin typeface="+mn-lt"/>
                <a:ea typeface="+mn-ea"/>
                <a:cs typeface="+mn-cs"/>
              </a:rPr>
              <a:t>Fresh speaker notes</a:t>
            </a:r>
          </a:p>
          <a:p>
            <a:r>
              <a:rPr lang="en-IN" sz="1200" kern="1200" dirty="0">
                <a:solidFill>
                  <a:schemeClr val="tx1"/>
                </a:solidFill>
                <a:effectLst/>
                <a:latin typeface="+mn-lt"/>
                <a:ea typeface="+mn-ea"/>
                <a:cs typeface="+mn-cs"/>
              </a:rPr>
              <a:t>“This slide shows the broader 60-day first wave. Let me make the first 30 days explicit, because that is the immediate commitment.</a:t>
            </a:r>
          </a:p>
          <a:p>
            <a:r>
              <a:rPr lang="en-IN" sz="1200" kern="1200" dirty="0">
                <a:solidFill>
                  <a:schemeClr val="tx1"/>
                </a:solidFill>
                <a:effectLst/>
                <a:latin typeface="+mn-lt"/>
                <a:ea typeface="+mn-ea"/>
                <a:cs typeface="+mn-cs"/>
              </a:rPr>
              <a:t>During days 1–14, we agree the category and warehouse scope, promotion-success definitions, churn target, data history, access requirements and accountable owners.</a:t>
            </a:r>
          </a:p>
          <a:p>
            <a:r>
              <a:rPr lang="en-IN" sz="1200" kern="1200" dirty="0">
                <a:solidFill>
                  <a:schemeClr val="tx1"/>
                </a:solidFill>
                <a:effectLst/>
                <a:latin typeface="+mn-lt"/>
                <a:ea typeface="+mn-ea"/>
                <a:cs typeface="+mn-cs"/>
              </a:rPr>
              <a:t>During days 15–30, we load and reconcile the agreed historical data, validate identifiers and joins, and verify governance controls.</a:t>
            </a:r>
          </a:p>
          <a:p>
            <a:r>
              <a:rPr lang="en-IN" sz="1200" kern="1200" dirty="0">
                <a:solidFill>
                  <a:schemeClr val="tx1"/>
                </a:solidFill>
                <a:effectLst/>
                <a:latin typeface="+mn-lt"/>
                <a:ea typeface="+mn-ea"/>
                <a:cs typeface="+mn-cs"/>
              </a:rPr>
              <a:t>By day 30, the decision gate is whether the scoped data is usable, reconciled and approved for the next evaluation phase. We should also have an agreed evaluation plan, acceptance criteria and pilot cost boundary.”</a:t>
            </a:r>
          </a:p>
          <a:p>
            <a:r>
              <a:rPr lang="en-IN" sz="1200" kern="1200" dirty="0">
                <a:solidFill>
                  <a:schemeClr val="tx1"/>
                </a:solidFill>
                <a:effectLst/>
                <a:latin typeface="+mn-lt"/>
                <a:ea typeface="+mn-ea"/>
                <a:cs typeface="+mn-cs"/>
              </a:rPr>
              <a:t>Then explain the later stages:</a:t>
            </a:r>
          </a:p>
          <a:p>
            <a:r>
              <a:rPr lang="en-IN" sz="1200" kern="1200" dirty="0">
                <a:solidFill>
                  <a:schemeClr val="tx1"/>
                </a:solidFill>
                <a:effectLst/>
                <a:latin typeface="+mn-lt"/>
                <a:ea typeface="+mn-ea"/>
                <a:cs typeface="+mn-cs"/>
              </a:rPr>
              <a:t>“During days 31–45, we evaluate a complete product-category promotion dataset, </a:t>
            </a:r>
            <a:r>
              <a:rPr lang="en-IN" sz="1200" kern="1200" dirty="0" err="1">
                <a:solidFill>
                  <a:schemeClr val="tx1"/>
                </a:solidFill>
                <a:effectLst/>
                <a:latin typeface="+mn-lt"/>
                <a:ea typeface="+mn-ea"/>
                <a:cs typeface="+mn-cs"/>
              </a:rPr>
              <a:t>backtest</a:t>
            </a:r>
            <a:r>
              <a:rPr lang="en-IN" sz="1200" kern="1200" dirty="0">
                <a:solidFill>
                  <a:schemeClr val="tx1"/>
                </a:solidFill>
                <a:effectLst/>
                <a:latin typeface="+mn-lt"/>
                <a:ea typeface="+mn-ea"/>
                <a:cs typeface="+mn-cs"/>
              </a:rPr>
              <a:t> the model, publish approved scores and test Genie against trusted questions.</a:t>
            </a:r>
          </a:p>
          <a:p>
            <a:r>
              <a:rPr lang="en-IN" sz="1200" kern="1200" dirty="0">
                <a:solidFill>
                  <a:schemeClr val="tx1"/>
                </a:solidFill>
                <a:effectLst/>
                <a:latin typeface="+mn-lt"/>
                <a:ea typeface="+mn-ea"/>
                <a:cs typeface="+mn-cs"/>
              </a:rPr>
              <a:t>During days 46–60, we run a bounded shadow pilot or approved experiment, monitor operational performance and cost, and review business usefulness.</a:t>
            </a:r>
          </a:p>
          <a:p>
            <a:r>
              <a:rPr lang="en-IN" sz="1200" kern="1200" dirty="0">
                <a:solidFill>
                  <a:schemeClr val="tx1"/>
                </a:solidFill>
                <a:effectLst/>
                <a:latin typeface="+mn-lt"/>
                <a:ea typeface="+mn-ea"/>
                <a:cs typeface="+mn-cs"/>
              </a:rPr>
              <a:t>Actual renewal improvement may require a longer observation period. We should not confuse a working model with demonstrated retention impact.”</a:t>
            </a:r>
          </a:p>
          <a:p>
            <a:r>
              <a:rPr lang="en-IN" sz="1200" kern="1200" dirty="0">
                <a:solidFill>
                  <a:schemeClr val="tx1"/>
                </a:solidFill>
                <a:effectLst/>
                <a:latin typeface="+mn-lt"/>
                <a:ea typeface="+mn-ea"/>
                <a:cs typeface="+mn-cs"/>
              </a:rPr>
              <a:t>Close the slide with:</a:t>
            </a:r>
          </a:p>
          <a:p>
            <a:r>
              <a:rPr lang="en-IN" sz="1200" kern="1200" dirty="0">
                <a:solidFill>
                  <a:schemeClr val="tx1"/>
                </a:solidFill>
                <a:effectLst/>
                <a:latin typeface="+mn-lt"/>
                <a:ea typeface="+mn-ea"/>
                <a:cs typeface="+mn-cs"/>
              </a:rPr>
              <a:t>“The ask is deliberately small: one sponsor, one category, an agreed member cohort and a data owner. We earn the right to expand through evidence.”</a:t>
            </a:r>
          </a:p>
          <a:p>
            <a:r>
              <a:rPr lang="en-IN" sz="1200" b="1" kern="1200" dirty="0">
                <a:solidFill>
                  <a:schemeClr val="tx1"/>
                </a:solidFill>
                <a:effectLst/>
                <a:latin typeface="+mn-lt"/>
                <a:ea typeface="+mn-ea"/>
                <a:cs typeface="+mn-cs"/>
              </a:rPr>
              <a:t>Review note:</a:t>
            </a:r>
            <a:r>
              <a:rPr lang="en-IN" sz="1200" kern="1200" dirty="0">
                <a:solidFill>
                  <a:schemeClr val="tx1"/>
                </a:solidFill>
                <a:effectLst/>
                <a:latin typeface="+mn-lt"/>
                <a:ea typeface="+mn-ea"/>
                <a:cs typeface="+mn-cs"/>
              </a:rPr>
              <a:t> put measurable day-30 deliverables and owners on the slide itself; “load historical data” alone is too weak as an executive milestone.</a:t>
            </a:r>
          </a:p>
          <a:p>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IN" sz="1200" b="1" kern="1200" dirty="0">
                <a:solidFill>
                  <a:schemeClr val="tx1"/>
                </a:solidFill>
                <a:effectLst/>
                <a:latin typeface="+mn-lt"/>
                <a:ea typeface="+mn-ea"/>
                <a:cs typeface="+mn-cs"/>
              </a:rPr>
              <a:t>Fresh speaker notes</a:t>
            </a:r>
          </a:p>
          <a:p>
            <a:r>
              <a:rPr lang="en-IN" sz="1200" kern="1200" dirty="0">
                <a:solidFill>
                  <a:schemeClr val="tx1"/>
                </a:solidFill>
                <a:effectLst/>
                <a:latin typeface="+mn-lt"/>
                <a:ea typeface="+mn-ea"/>
                <a:cs typeface="+mn-cs"/>
              </a:rPr>
              <a:t>“We have seen three things today.</a:t>
            </a:r>
          </a:p>
          <a:p>
            <a:r>
              <a:rPr lang="en-IN" sz="1200" kern="1200" dirty="0">
                <a:solidFill>
                  <a:schemeClr val="tx1"/>
                </a:solidFill>
                <a:effectLst/>
                <a:latin typeface="+mn-lt"/>
                <a:ea typeface="+mn-ea"/>
                <a:cs typeface="+mn-cs"/>
              </a:rPr>
              <a:t>First, promotion results differ materially, and unit growth alone can be misleading.</a:t>
            </a:r>
          </a:p>
          <a:p>
            <a:r>
              <a:rPr lang="en-IN" sz="1200" kern="1200" dirty="0">
                <a:solidFill>
                  <a:schemeClr val="tx1"/>
                </a:solidFill>
                <a:effectLst/>
                <a:latin typeface="+mn-lt"/>
                <a:ea typeface="+mn-ea"/>
                <a:cs typeface="+mn-cs"/>
              </a:rPr>
              <a:t>Second, the churn model identifies signals worth investigating, with tenure the strongest feature in the current findings.</a:t>
            </a:r>
          </a:p>
          <a:p>
            <a:r>
              <a:rPr lang="en-IN" sz="1200" kern="1200" dirty="0">
                <a:solidFill>
                  <a:schemeClr val="tx1"/>
                </a:solidFill>
                <a:effectLst/>
                <a:latin typeface="+mn-lt"/>
                <a:ea typeface="+mn-ea"/>
                <a:cs typeface="+mn-cs"/>
              </a:rPr>
              <a:t>Third, Databricks provides the governed data and analytical foundation supporting those outputs.</a:t>
            </a:r>
          </a:p>
          <a:p>
            <a:r>
              <a:rPr lang="en-IN" sz="1200" kern="1200" dirty="0">
                <a:solidFill>
                  <a:schemeClr val="tx1"/>
                </a:solidFill>
                <a:effectLst/>
                <a:latin typeface="+mn-lt"/>
                <a:ea typeface="+mn-ea"/>
                <a:cs typeface="+mn-cs"/>
              </a:rPr>
              <a:t>The next step is not an enterprise-wide rollout. It is a bounded pilot that validates the data, the model’s usefulness and the business workflow.</a:t>
            </a:r>
          </a:p>
          <a:p>
            <a:r>
              <a:rPr lang="en-IN" sz="1200" kern="1200" dirty="0">
                <a:solidFill>
                  <a:schemeClr val="tx1"/>
                </a:solidFill>
                <a:effectLst/>
                <a:latin typeface="+mn-lt"/>
                <a:ea typeface="+mn-ea"/>
                <a:cs typeface="+mn-cs"/>
              </a:rPr>
              <a:t>Can we agree a scoping workshop with the business sponsor, merchandising or membership owner, and the data owner?”</a:t>
            </a:r>
          </a:p>
          <a:p>
            <a:r>
              <a:rPr lang="en-IN" sz="1200" kern="1200" dirty="0">
                <a:solidFill>
                  <a:schemeClr val="tx1"/>
                </a:solidFill>
                <a:effectLst/>
                <a:latin typeface="+mn-lt"/>
                <a:ea typeface="+mn-ea"/>
                <a:cs typeface="+mn-cs"/>
              </a:rPr>
              <a:t>Then pause and let the panel respond.</a:t>
            </a:r>
          </a:p>
          <a:p>
            <a:r>
              <a:rPr lang="en-IN" sz="1200" b="1" kern="1200" dirty="0">
                <a:solidFill>
                  <a:schemeClr val="tx1"/>
                </a:solidFill>
                <a:effectLst/>
                <a:latin typeface="+mn-lt"/>
                <a:ea typeface="+mn-ea"/>
                <a:cs typeface="+mn-cs"/>
              </a:rPr>
              <a:t>Avoid:</a:t>
            </a:r>
            <a:r>
              <a:rPr lang="en-IN" sz="1200" kern="1200" dirty="0">
                <a:solidFill>
                  <a:schemeClr val="tx1"/>
                </a:solidFill>
                <a:effectLst/>
                <a:latin typeface="+mn-lt"/>
                <a:ea typeface="+mn-ea"/>
                <a:cs typeface="+mn-cs"/>
              </a:rPr>
              <a:t> ending with only “Any questions?” You want agreement on a next step.</a:t>
            </a:r>
          </a:p>
        </p:txBody>
      </p:sp>
    </p:spTree>
    <p:extLst>
      <p:ext uri="{BB962C8B-B14F-4D97-AF65-F5344CB8AC3E}">
        <p14:creationId xmlns:p14="http://schemas.microsoft.com/office/powerpoint/2010/main" val="26148122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IN" sz="1200" b="1" kern="1200" dirty="0">
                <a:solidFill>
                  <a:schemeClr val="tx1"/>
                </a:solidFill>
                <a:effectLst/>
                <a:latin typeface="+mn-lt"/>
                <a:ea typeface="+mn-ea"/>
                <a:cs typeface="+mn-cs"/>
              </a:rPr>
              <a:t>Technical backup only; use during questions rather than after the close.</a:t>
            </a:r>
            <a:endParaRPr lang="en-IN"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The current preview has severe text overlap. Confirm the layout in PowerPoint before showing it.</a:t>
            </a:r>
          </a:p>
          <a:p>
            <a:r>
              <a:rPr lang="en-IN" sz="1200" b="1" kern="1200" dirty="0">
                <a:solidFill>
                  <a:schemeClr val="tx1"/>
                </a:solidFill>
                <a:effectLst/>
                <a:latin typeface="+mn-lt"/>
                <a:ea typeface="+mn-ea"/>
                <a:cs typeface="+mn-cs"/>
              </a:rPr>
              <a:t>Fresh speaker notes</a:t>
            </a:r>
          </a:p>
          <a:p>
            <a:r>
              <a:rPr lang="en-IN" sz="1200" kern="1200" dirty="0">
                <a:solidFill>
                  <a:schemeClr val="tx1"/>
                </a:solidFill>
                <a:effectLst/>
                <a:latin typeface="+mn-lt"/>
                <a:ea typeface="+mn-ea"/>
                <a:cs typeface="+mn-cs"/>
              </a:rPr>
              <a:t>“This is the detailed view behind the simpler architecture.</a:t>
            </a:r>
          </a:p>
          <a:p>
            <a:r>
              <a:rPr lang="en-IN" sz="1200" kern="1200" dirty="0">
                <a:solidFill>
                  <a:schemeClr val="tx1"/>
                </a:solidFill>
                <a:effectLst/>
                <a:latin typeface="+mn-lt"/>
                <a:ea typeface="+mn-ea"/>
                <a:cs typeface="+mn-cs"/>
              </a:rPr>
              <a:t>The promotion branch preserves source records, creates the joined silver detail, and produces the gold baseline comparison.</a:t>
            </a:r>
          </a:p>
          <a:p>
            <a:r>
              <a:rPr lang="en-IN" sz="1200" kern="1200" dirty="0">
                <a:solidFill>
                  <a:schemeClr val="tx1"/>
                </a:solidFill>
                <a:effectLst/>
                <a:latin typeface="+mn-lt"/>
                <a:ea typeface="+mn-ea"/>
                <a:cs typeface="+mn-cs"/>
              </a:rPr>
              <a:t>The churn branch trains the model and publishes global findings. Genie exposes approved analytical data; it does not bypass the underlying access controls.</a:t>
            </a:r>
          </a:p>
          <a:p>
            <a:r>
              <a:rPr lang="en-IN" sz="1200" kern="1200" dirty="0">
                <a:solidFill>
                  <a:schemeClr val="tx1"/>
                </a:solidFill>
                <a:effectLst/>
                <a:latin typeface="+mn-lt"/>
                <a:ea typeface="+mn-ea"/>
                <a:cs typeface="+mn-cs"/>
              </a:rPr>
              <a:t>Unity </a:t>
            </a:r>
            <a:r>
              <a:rPr lang="en-IN" sz="1200" kern="1200" dirty="0" err="1">
                <a:solidFill>
                  <a:schemeClr val="tx1"/>
                </a:solidFill>
                <a:effectLst/>
                <a:latin typeface="+mn-lt"/>
                <a:ea typeface="+mn-ea"/>
                <a:cs typeface="+mn-cs"/>
              </a:rPr>
              <a:t>Catalog</a:t>
            </a:r>
            <a:r>
              <a:rPr lang="en-IN" sz="1200" kern="1200" dirty="0">
                <a:solidFill>
                  <a:schemeClr val="tx1"/>
                </a:solidFill>
                <a:effectLst/>
                <a:latin typeface="+mn-lt"/>
                <a:ea typeface="+mn-ea"/>
                <a:cs typeface="+mn-cs"/>
              </a:rPr>
              <a:t> governs the relevant tables, schemas and volumes. Orchestration coordinates processing, while quality and operational checks help us detect issues.”</a:t>
            </a:r>
          </a:p>
          <a:p>
            <a:r>
              <a:rPr lang="en-IN" sz="1200" kern="1200" dirty="0">
                <a:solidFill>
                  <a:schemeClr val="tx1"/>
                </a:solidFill>
                <a:effectLst/>
                <a:latin typeface="+mn-lt"/>
                <a:ea typeface="+mn-ea"/>
                <a:cs typeface="+mn-cs"/>
              </a:rPr>
              <a:t>Use it to answer </a:t>
            </a:r>
            <a:r>
              <a:rPr lang="en-IN" sz="1200" b="1" kern="1200" dirty="0">
                <a:solidFill>
                  <a:schemeClr val="tx1"/>
                </a:solidFill>
                <a:effectLst/>
                <a:latin typeface="+mn-lt"/>
                <a:ea typeface="+mn-ea"/>
                <a:cs typeface="+mn-cs"/>
              </a:rPr>
              <a:t>one specific technical question</a:t>
            </a:r>
            <a:r>
              <a:rPr lang="en-IN" sz="1200" kern="1200" dirty="0">
                <a:solidFill>
                  <a:schemeClr val="tx1"/>
                </a:solidFill>
                <a:effectLst/>
                <a:latin typeface="+mn-lt"/>
                <a:ea typeface="+mn-ea"/>
                <a:cs typeface="+mn-cs"/>
              </a:rPr>
              <a:t>, not to restart the presentation.</a:t>
            </a:r>
          </a:p>
          <a:p>
            <a:r>
              <a:rPr lang="en-IN" sz="1200" kern="1200" dirty="0">
                <a:solidFill>
                  <a:schemeClr val="tx1"/>
                </a:solidFill>
                <a:effectLst/>
                <a:latin typeface="+mn-lt"/>
                <a:ea typeface="+mn-ea"/>
                <a:cs typeface="+mn-cs"/>
              </a:rPr>
              <a:t>Before using it, correct or substantiate:</a:t>
            </a:r>
          </a:p>
          <a:p>
            <a:pPr lvl="0"/>
            <a:r>
              <a:rPr lang="en-IN" sz="1200" b="1" kern="1200" dirty="0">
                <a:solidFill>
                  <a:schemeClr val="tx1"/>
                </a:solidFill>
                <a:effectLst/>
                <a:latin typeface="+mn-lt"/>
                <a:ea typeface="+mn-ea"/>
                <a:cs typeface="+mn-cs"/>
              </a:rPr>
              <a:t>“Secured widgets”:</a:t>
            </a:r>
            <a:r>
              <a:rPr lang="en-IN" sz="1200" kern="1200" dirty="0">
                <a:solidFill>
                  <a:schemeClr val="tx1"/>
                </a:solidFill>
                <a:effectLst/>
                <a:latin typeface="+mn-lt"/>
                <a:ea typeface="+mn-ea"/>
                <a:cs typeface="+mn-cs"/>
              </a:rPr>
              <a:t> filters or widgets are not security boundaries.</a:t>
            </a:r>
          </a:p>
          <a:p>
            <a:pPr lvl="0"/>
            <a:r>
              <a:rPr lang="en-IN" sz="1200" b="1" kern="1200" dirty="0">
                <a:solidFill>
                  <a:schemeClr val="tx1"/>
                </a:solidFill>
                <a:effectLst/>
                <a:latin typeface="+mn-lt"/>
                <a:ea typeface="+mn-ea"/>
                <a:cs typeface="+mn-cs"/>
              </a:rPr>
              <a:t>“Persona-scoped views”:</a:t>
            </a:r>
            <a:r>
              <a:rPr lang="en-IN" sz="1200" kern="1200" dirty="0">
                <a:solidFill>
                  <a:schemeClr val="tx1"/>
                </a:solidFill>
                <a:effectLst/>
                <a:latin typeface="+mn-lt"/>
                <a:ea typeface="+mn-ea"/>
                <a:cs typeface="+mn-cs"/>
              </a:rPr>
              <a:t> show only if those views exist and their access is tested.</a:t>
            </a:r>
          </a:p>
          <a:p>
            <a:pPr lvl="0"/>
            <a:r>
              <a:rPr lang="en-IN" sz="1200" b="1" kern="1200" dirty="0">
                <a:solidFill>
                  <a:schemeClr val="tx1"/>
                </a:solidFill>
                <a:effectLst/>
                <a:latin typeface="+mn-lt"/>
                <a:ea typeface="+mn-ea"/>
                <a:cs typeface="+mn-cs"/>
              </a:rPr>
              <a:t>“Impact / region / crop”:</a:t>
            </a:r>
            <a:r>
              <a:rPr lang="en-IN" sz="1200" kern="1200" dirty="0">
                <a:solidFill>
                  <a:schemeClr val="tx1"/>
                </a:solidFill>
                <a:effectLst/>
                <a:latin typeface="+mn-lt"/>
                <a:ea typeface="+mn-ea"/>
                <a:cs typeface="+mn-cs"/>
              </a:rPr>
              <a:t> remove “crop” unless it genuinely belongs to this retail solution.</a:t>
            </a:r>
          </a:p>
          <a:p>
            <a:pPr lvl="0"/>
            <a:r>
              <a:rPr lang="en-IN" sz="1200" b="1" kern="1200" dirty="0">
                <a:solidFill>
                  <a:schemeClr val="tx1"/>
                </a:solidFill>
                <a:effectLst/>
                <a:latin typeface="+mn-lt"/>
                <a:ea typeface="+mn-ea"/>
                <a:cs typeface="+mn-cs"/>
              </a:rPr>
              <a:t>“Semantic business tables”:</a:t>
            </a:r>
            <a:r>
              <a:rPr lang="en-IN" sz="1200" kern="1200" dirty="0">
                <a:solidFill>
                  <a:schemeClr val="tx1"/>
                </a:solidFill>
                <a:effectLst/>
                <a:latin typeface="+mn-lt"/>
                <a:ea typeface="+mn-ea"/>
                <a:cs typeface="+mn-cs"/>
              </a:rPr>
              <a:t> be clear about which tables Genie actually queries and which business definitions have been configured.</a:t>
            </a:r>
          </a:p>
          <a:p>
            <a:endParaRPr lang="en-IN" dirty="0"/>
          </a:p>
        </p:txBody>
      </p:sp>
    </p:spTree>
    <p:extLst>
      <p:ext uri="{BB962C8B-B14F-4D97-AF65-F5344CB8AC3E}">
        <p14:creationId xmlns:p14="http://schemas.microsoft.com/office/powerpoint/2010/main" val="5203961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9144000" cy="6858000"/>
          </a:xfrm>
          <a:prstGeom prst="rect">
            <a:avLst/>
          </a:prstGeom>
          <a:solidFill>
            <a:srgbClr val="F7FAFC"/>
          </a:solidFill>
          <a:ln>
            <a:noFill/>
          </a:ln>
        </p:spPr>
        <p:txBody>
          <a:bodyPr rtlCol="0" anchor="ctr"/>
          <a:lstStyle/>
          <a:p>
            <a:endParaRPr dirty="0"/>
          </a:p>
        </p:txBody>
      </p:sp>
      <p:sp>
        <p:nvSpPr>
          <p:cNvPr id="3" name="Shape 3"/>
          <p:cNvSpPr/>
          <p:nvPr/>
        </p:nvSpPr>
        <p:spPr>
          <a:xfrm>
            <a:off x="0" y="0"/>
            <a:ext cx="9144000" cy="85000"/>
          </a:xfrm>
          <a:prstGeom prst="rect">
            <a:avLst/>
          </a:prstGeom>
          <a:solidFill>
            <a:srgbClr val="087F8C"/>
          </a:solidFill>
          <a:ln>
            <a:noFill/>
          </a:ln>
        </p:spPr>
        <p:txBody>
          <a:bodyPr rtlCol="0" anchor="ctr"/>
          <a:lstStyle/>
          <a:p>
            <a:endParaRPr/>
          </a:p>
        </p:txBody>
      </p:sp>
      <p:sp>
        <p:nvSpPr>
          <p:cNvPr id="4" name="TextBox 4"/>
          <p:cNvSpPr txBox="1"/>
          <p:nvPr/>
        </p:nvSpPr>
        <p:spPr>
          <a:xfrm>
            <a:off x="420000" y="230000"/>
            <a:ext cx="8200000" cy="290000"/>
          </a:xfrm>
          <a:prstGeom prst="rect">
            <a:avLst/>
          </a:prstGeom>
        </p:spPr>
        <p:txBody>
          <a:bodyPr wrap="square" rtlCol="0">
            <a:spAutoFit/>
          </a:bodyPr>
          <a:lstStyle/>
          <a:p>
            <a:r>
              <a:rPr sz="1000" b="1">
                <a:solidFill>
                  <a:srgbClr val="087F8C"/>
                </a:solidFill>
                <a:latin typeface="Aptos"/>
              </a:rPr>
              <a:t>COSTCO  |  RETAIL INTELLIGENCE</a:t>
            </a:r>
          </a:p>
        </p:txBody>
      </p:sp>
      <p:sp>
        <p:nvSpPr>
          <p:cNvPr id="5" name="TextBox 5"/>
          <p:cNvSpPr txBox="1"/>
          <p:nvPr/>
        </p:nvSpPr>
        <p:spPr>
          <a:xfrm>
            <a:off x="420000" y="760000"/>
            <a:ext cx="8350000" cy="720000"/>
          </a:xfrm>
          <a:prstGeom prst="rect">
            <a:avLst/>
          </a:prstGeom>
        </p:spPr>
        <p:txBody>
          <a:bodyPr wrap="square" rtlCol="0">
            <a:spAutoFit/>
          </a:bodyPr>
          <a:lstStyle/>
          <a:p>
            <a:r>
              <a:rPr sz="3000" b="1">
                <a:solidFill>
                  <a:srgbClr val="102A43"/>
                </a:solidFill>
                <a:latin typeface="Aptos Display"/>
              </a:rPr>
              <a:t>Which promotions deserve more?</a:t>
            </a:r>
          </a:p>
        </p:txBody>
      </p:sp>
      <p:sp>
        <p:nvSpPr>
          <p:cNvPr id="6" name="Shape 6"/>
          <p:cNvSpPr/>
          <p:nvPr/>
        </p:nvSpPr>
        <p:spPr>
          <a:xfrm>
            <a:off x="420000" y="6340000"/>
            <a:ext cx="8300000" cy="10000"/>
          </a:xfrm>
          <a:prstGeom prst="rect">
            <a:avLst/>
          </a:prstGeom>
          <a:solidFill>
            <a:srgbClr val="D6E1E8"/>
          </a:solidFill>
          <a:ln>
            <a:noFill/>
          </a:ln>
        </p:spPr>
        <p:txBody>
          <a:bodyPr rtlCol="0" anchor="ctr"/>
          <a:lstStyle/>
          <a:p>
            <a:endParaRPr/>
          </a:p>
        </p:txBody>
      </p:sp>
      <p:sp>
        <p:nvSpPr>
          <p:cNvPr id="8" name="TextBox 8"/>
          <p:cNvSpPr txBox="1"/>
          <p:nvPr/>
        </p:nvSpPr>
        <p:spPr>
          <a:xfrm>
            <a:off x="8070000" y="6480000"/>
            <a:ext cx="720000" cy="230832"/>
          </a:xfrm>
          <a:prstGeom prst="rect">
            <a:avLst/>
          </a:prstGeom>
        </p:spPr>
        <p:txBody>
          <a:bodyPr wrap="square" rtlCol="0">
            <a:spAutoFit/>
          </a:bodyPr>
          <a:lstStyle/>
          <a:p>
            <a:r>
              <a:rPr sz="900" b="1" dirty="0">
                <a:solidFill>
                  <a:srgbClr val="087F8C"/>
                </a:solidFill>
                <a:latin typeface="Aptos"/>
              </a:rPr>
              <a:t>01 / 0</a:t>
            </a:r>
            <a:r>
              <a:rPr lang="en-US" sz="900" b="1" dirty="0">
                <a:solidFill>
                  <a:srgbClr val="087F8C"/>
                </a:solidFill>
                <a:latin typeface="Aptos"/>
              </a:rPr>
              <a:t>6</a:t>
            </a:r>
            <a:endParaRPr sz="900" b="1" dirty="0">
              <a:solidFill>
                <a:srgbClr val="087F8C"/>
              </a:solidFill>
              <a:latin typeface="Aptos"/>
            </a:endParaRPr>
          </a:p>
        </p:txBody>
      </p:sp>
      <p:sp>
        <p:nvSpPr>
          <p:cNvPr id="9" name="TextBox 9"/>
          <p:cNvSpPr txBox="1"/>
          <p:nvPr/>
        </p:nvSpPr>
        <p:spPr>
          <a:xfrm>
            <a:off x="420000" y="1570000"/>
            <a:ext cx="8000000" cy="680000"/>
          </a:xfrm>
          <a:prstGeom prst="rect">
            <a:avLst/>
          </a:prstGeom>
        </p:spPr>
        <p:txBody>
          <a:bodyPr wrap="square" rtlCol="0">
            <a:spAutoFit/>
          </a:bodyPr>
          <a:lstStyle/>
          <a:p>
            <a:r>
              <a:rPr sz="2000">
                <a:solidFill>
                  <a:srgbClr val="526879"/>
                </a:solidFill>
                <a:latin typeface="Aptos"/>
              </a:rPr>
              <a:t>One governed view of promotion lift</a:t>
            </a:r>
          </a:p>
          <a:p>
            <a:r>
              <a:rPr sz="2000">
                <a:solidFill>
                  <a:srgbClr val="526879"/>
                </a:solidFill>
                <a:latin typeface="Aptos"/>
              </a:rPr>
              <a:t>and member-risk signals.</a:t>
            </a:r>
          </a:p>
        </p:txBody>
      </p:sp>
      <p:sp>
        <p:nvSpPr>
          <p:cNvPr id="10" name="Shape 10"/>
          <p:cNvSpPr/>
          <p:nvPr/>
        </p:nvSpPr>
        <p:spPr>
          <a:xfrm>
            <a:off x="420000" y="2450000"/>
            <a:ext cx="3980000" cy="2490000"/>
          </a:xfrm>
          <a:prstGeom prst="roundRect">
            <a:avLst/>
          </a:prstGeom>
          <a:solidFill>
            <a:srgbClr val="E8F4F3"/>
          </a:solidFill>
          <a:ln>
            <a:noFill/>
          </a:ln>
        </p:spPr>
        <p:txBody>
          <a:bodyPr rtlCol="0" anchor="ctr"/>
          <a:lstStyle/>
          <a:p>
            <a:endParaRPr/>
          </a:p>
        </p:txBody>
      </p:sp>
      <p:sp>
        <p:nvSpPr>
          <p:cNvPr id="11" name="Shape 11"/>
          <p:cNvSpPr/>
          <p:nvPr/>
        </p:nvSpPr>
        <p:spPr>
          <a:xfrm>
            <a:off x="4660000" y="2450000"/>
            <a:ext cx="4060000" cy="2490000"/>
          </a:xfrm>
          <a:prstGeom prst="roundRect">
            <a:avLst/>
          </a:prstGeom>
          <a:solidFill>
            <a:srgbClr val="E8EEF3"/>
          </a:solidFill>
          <a:ln>
            <a:noFill/>
          </a:ln>
        </p:spPr>
        <p:txBody>
          <a:bodyPr rtlCol="0" anchor="ctr"/>
          <a:lstStyle/>
          <a:p>
            <a:endParaRPr/>
          </a:p>
        </p:txBody>
      </p:sp>
      <p:sp>
        <p:nvSpPr>
          <p:cNvPr id="12" name="TextBox 12"/>
          <p:cNvSpPr txBox="1"/>
          <p:nvPr/>
        </p:nvSpPr>
        <p:spPr>
          <a:xfrm>
            <a:off x="640000" y="2660000"/>
            <a:ext cx="3500000" cy="300000"/>
          </a:xfrm>
          <a:prstGeom prst="rect">
            <a:avLst/>
          </a:prstGeom>
        </p:spPr>
        <p:txBody>
          <a:bodyPr wrap="square" rtlCol="0">
            <a:spAutoFit/>
          </a:bodyPr>
          <a:lstStyle/>
          <a:p>
            <a:r>
              <a:rPr sz="1100" b="1">
                <a:solidFill>
                  <a:srgbClr val="087F8C"/>
                </a:solidFill>
                <a:latin typeface="Aptos"/>
              </a:rPr>
              <a:t>MERCHANDISING</a:t>
            </a:r>
          </a:p>
        </p:txBody>
      </p:sp>
      <p:sp>
        <p:nvSpPr>
          <p:cNvPr id="13" name="TextBox 13"/>
          <p:cNvSpPr txBox="1"/>
          <p:nvPr/>
        </p:nvSpPr>
        <p:spPr>
          <a:xfrm>
            <a:off x="640000" y="3040000"/>
            <a:ext cx="3500000" cy="820000"/>
          </a:xfrm>
          <a:prstGeom prst="rect">
            <a:avLst/>
          </a:prstGeom>
        </p:spPr>
        <p:txBody>
          <a:bodyPr wrap="square" rtlCol="0">
            <a:spAutoFit/>
          </a:bodyPr>
          <a:lstStyle/>
          <a:p>
            <a:r>
              <a:rPr sz="2600" b="1">
                <a:solidFill>
                  <a:srgbClr val="102A43"/>
                </a:solidFill>
                <a:latin typeface="Aptos Display"/>
              </a:rPr>
              <a:t>Repeat, change</a:t>
            </a:r>
          </a:p>
          <a:p>
            <a:r>
              <a:rPr sz="2600" b="1">
                <a:solidFill>
                  <a:srgbClr val="102A43"/>
                </a:solidFill>
                <a:latin typeface="Aptos Display"/>
              </a:rPr>
              <a:t>or stop?</a:t>
            </a:r>
          </a:p>
        </p:txBody>
      </p:sp>
      <p:sp>
        <p:nvSpPr>
          <p:cNvPr id="14" name="TextBox 14"/>
          <p:cNvSpPr txBox="1"/>
          <p:nvPr/>
        </p:nvSpPr>
        <p:spPr>
          <a:xfrm>
            <a:off x="640000" y="3990000"/>
            <a:ext cx="3500000" cy="790000"/>
          </a:xfrm>
          <a:prstGeom prst="rect">
            <a:avLst/>
          </a:prstGeom>
        </p:spPr>
        <p:txBody>
          <a:bodyPr wrap="square" rtlCol="0">
            <a:spAutoFit/>
          </a:bodyPr>
          <a:lstStyle/>
          <a:p>
            <a:r>
              <a:rPr sz="1500">
                <a:solidFill>
                  <a:srgbClr val="102A43"/>
                </a:solidFill>
                <a:latin typeface="Aptos"/>
              </a:rPr>
              <a:t>Revenue + unit lift</a:t>
            </a:r>
          </a:p>
          <a:p>
            <a:r>
              <a:rPr sz="1500">
                <a:solidFill>
                  <a:srgbClr val="102A43"/>
                </a:solidFill>
                <a:latin typeface="Aptos"/>
              </a:rPr>
              <a:t>Comparable baseline</a:t>
            </a:r>
          </a:p>
          <a:p>
            <a:r>
              <a:rPr sz="1500">
                <a:solidFill>
                  <a:srgbClr val="102A43"/>
                </a:solidFill>
                <a:latin typeface="Aptos"/>
              </a:rPr>
              <a:t>Profit guardrails</a:t>
            </a:r>
          </a:p>
        </p:txBody>
      </p:sp>
      <p:sp>
        <p:nvSpPr>
          <p:cNvPr id="15" name="TextBox 15"/>
          <p:cNvSpPr txBox="1"/>
          <p:nvPr/>
        </p:nvSpPr>
        <p:spPr>
          <a:xfrm>
            <a:off x="4880000" y="2660000"/>
            <a:ext cx="3540000" cy="300000"/>
          </a:xfrm>
          <a:prstGeom prst="rect">
            <a:avLst/>
          </a:prstGeom>
        </p:spPr>
        <p:txBody>
          <a:bodyPr wrap="square" rtlCol="0">
            <a:spAutoFit/>
          </a:bodyPr>
          <a:lstStyle/>
          <a:p>
            <a:r>
              <a:rPr sz="1100" b="1">
                <a:solidFill>
                  <a:srgbClr val="087F8C"/>
                </a:solidFill>
                <a:latin typeface="Aptos"/>
              </a:rPr>
              <a:t>MEMBERSHIP</a:t>
            </a:r>
          </a:p>
        </p:txBody>
      </p:sp>
      <p:sp>
        <p:nvSpPr>
          <p:cNvPr id="16" name="TextBox 16"/>
          <p:cNvSpPr txBox="1"/>
          <p:nvPr/>
        </p:nvSpPr>
        <p:spPr>
          <a:xfrm>
            <a:off x="4880000" y="3040000"/>
            <a:ext cx="3540000" cy="820000"/>
          </a:xfrm>
          <a:prstGeom prst="rect">
            <a:avLst/>
          </a:prstGeom>
        </p:spPr>
        <p:txBody>
          <a:bodyPr wrap="square" rtlCol="0">
            <a:spAutoFit/>
          </a:bodyPr>
          <a:lstStyle/>
          <a:p>
            <a:r>
              <a:rPr sz="2500" b="1">
                <a:solidFill>
                  <a:srgbClr val="102A43"/>
                </a:solidFill>
                <a:latin typeface="Aptos Display"/>
              </a:rPr>
              <a:t>Where should</a:t>
            </a:r>
          </a:p>
          <a:p>
            <a:r>
              <a:rPr sz="2500" b="1">
                <a:solidFill>
                  <a:srgbClr val="102A43"/>
                </a:solidFill>
                <a:latin typeface="Aptos Display"/>
              </a:rPr>
              <a:t>retention focus?</a:t>
            </a:r>
          </a:p>
        </p:txBody>
      </p:sp>
      <p:sp>
        <p:nvSpPr>
          <p:cNvPr id="17" name="TextBox 17"/>
          <p:cNvSpPr txBox="1"/>
          <p:nvPr/>
        </p:nvSpPr>
        <p:spPr>
          <a:xfrm>
            <a:off x="4880000" y="3990000"/>
            <a:ext cx="3540000" cy="790000"/>
          </a:xfrm>
          <a:prstGeom prst="rect">
            <a:avLst/>
          </a:prstGeom>
        </p:spPr>
        <p:txBody>
          <a:bodyPr wrap="square" rtlCol="0">
            <a:spAutoFit/>
          </a:bodyPr>
          <a:lstStyle/>
          <a:p>
            <a:r>
              <a:rPr sz="1400">
                <a:solidFill>
                  <a:srgbClr val="102A43"/>
                </a:solidFill>
                <a:latin typeface="Aptos"/>
              </a:rPr>
              <a:t>Model-derived signals</a:t>
            </a:r>
          </a:p>
          <a:p>
            <a:r>
              <a:rPr sz="1400">
                <a:solidFill>
                  <a:srgbClr val="102A43"/>
                </a:solidFill>
                <a:latin typeface="Aptos"/>
              </a:rPr>
              <a:t>Target: scored member cohorts</a:t>
            </a:r>
          </a:p>
          <a:p>
            <a:r>
              <a:rPr sz="1400">
                <a:solidFill>
                  <a:srgbClr val="102A43"/>
                </a:solidFill>
                <a:latin typeface="Aptos"/>
              </a:rPr>
              <a:t>Human-reviewed action</a:t>
            </a:r>
          </a:p>
        </p:txBody>
      </p:sp>
      <p:sp>
        <p:nvSpPr>
          <p:cNvPr id="18" name="Shape 18"/>
          <p:cNvSpPr/>
          <p:nvPr/>
        </p:nvSpPr>
        <p:spPr>
          <a:xfrm>
            <a:off x="420000" y="5280000"/>
            <a:ext cx="8300000" cy="760000"/>
          </a:xfrm>
          <a:prstGeom prst="roundRect">
            <a:avLst/>
          </a:prstGeom>
          <a:solidFill>
            <a:srgbClr val="102A43"/>
          </a:solidFill>
          <a:ln>
            <a:noFill/>
          </a:ln>
        </p:spPr>
        <p:txBody>
          <a:bodyPr rtlCol="0" anchor="ctr"/>
          <a:lstStyle/>
          <a:p>
            <a:endParaRPr/>
          </a:p>
        </p:txBody>
      </p:sp>
      <p:sp>
        <p:nvSpPr>
          <p:cNvPr id="19" name="TextBox 19"/>
          <p:cNvSpPr txBox="1"/>
          <p:nvPr/>
        </p:nvSpPr>
        <p:spPr>
          <a:xfrm>
            <a:off x="640000" y="5390000"/>
            <a:ext cx="7840000" cy="550000"/>
          </a:xfrm>
          <a:prstGeom prst="rect">
            <a:avLst/>
          </a:prstGeom>
        </p:spPr>
        <p:txBody>
          <a:bodyPr wrap="square" rtlCol="0">
            <a:spAutoFit/>
          </a:bodyPr>
          <a:lstStyle/>
          <a:p>
            <a:r>
              <a:rPr sz="1000" b="1">
                <a:solidFill>
                  <a:srgbClr val="86D3D0"/>
                </a:solidFill>
                <a:latin typeface="Aptos"/>
              </a:rPr>
              <a:t>TODAY'S GOAL</a:t>
            </a:r>
          </a:p>
          <a:p>
            <a:r>
              <a:rPr sz="1700">
                <a:solidFill>
                  <a:srgbClr val="FFFFFF"/>
                </a:solidFill>
                <a:latin typeface="Aptos"/>
              </a:rPr>
              <a:t>Agree the decision, the evidence and the next step.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9144000" cy="6858000"/>
          </a:xfrm>
          <a:prstGeom prst="rect">
            <a:avLst/>
          </a:prstGeom>
          <a:solidFill>
            <a:srgbClr val="F7FAFC"/>
          </a:solidFill>
          <a:ln>
            <a:noFill/>
          </a:ln>
        </p:spPr>
        <p:txBody>
          <a:bodyPr rtlCol="0" anchor="ctr"/>
          <a:lstStyle/>
          <a:p>
            <a:endParaRPr/>
          </a:p>
        </p:txBody>
      </p:sp>
      <p:sp>
        <p:nvSpPr>
          <p:cNvPr id="3" name="Shape 3"/>
          <p:cNvSpPr/>
          <p:nvPr/>
        </p:nvSpPr>
        <p:spPr>
          <a:xfrm>
            <a:off x="0" y="0"/>
            <a:ext cx="9144000" cy="85000"/>
          </a:xfrm>
          <a:prstGeom prst="rect">
            <a:avLst/>
          </a:prstGeom>
          <a:solidFill>
            <a:srgbClr val="087F8C"/>
          </a:solidFill>
          <a:ln>
            <a:noFill/>
          </a:ln>
        </p:spPr>
        <p:txBody>
          <a:bodyPr rtlCol="0" anchor="ctr"/>
          <a:lstStyle/>
          <a:p>
            <a:endParaRPr/>
          </a:p>
        </p:txBody>
      </p:sp>
      <p:sp>
        <p:nvSpPr>
          <p:cNvPr id="4" name="TextBox 4"/>
          <p:cNvSpPr txBox="1"/>
          <p:nvPr/>
        </p:nvSpPr>
        <p:spPr>
          <a:xfrm>
            <a:off x="420000" y="230000"/>
            <a:ext cx="8200000" cy="290000"/>
          </a:xfrm>
          <a:prstGeom prst="rect">
            <a:avLst/>
          </a:prstGeom>
        </p:spPr>
        <p:txBody>
          <a:bodyPr wrap="square" rtlCol="0">
            <a:spAutoFit/>
          </a:bodyPr>
          <a:lstStyle/>
          <a:p>
            <a:r>
              <a:rPr sz="1000" b="1">
                <a:solidFill>
                  <a:srgbClr val="087F8C"/>
                </a:solidFill>
                <a:latin typeface="Aptos"/>
              </a:rPr>
              <a:t>COSTCO  |  RETAIL INTELLIGENCE</a:t>
            </a:r>
          </a:p>
        </p:txBody>
      </p:sp>
      <p:sp>
        <p:nvSpPr>
          <p:cNvPr id="5" name="TextBox 5"/>
          <p:cNvSpPr txBox="1"/>
          <p:nvPr/>
        </p:nvSpPr>
        <p:spPr>
          <a:xfrm>
            <a:off x="420000" y="760000"/>
            <a:ext cx="8350000" cy="720000"/>
          </a:xfrm>
          <a:prstGeom prst="rect">
            <a:avLst/>
          </a:prstGeom>
        </p:spPr>
        <p:txBody>
          <a:bodyPr wrap="square" rtlCol="0">
            <a:spAutoFit/>
          </a:bodyPr>
          <a:lstStyle/>
          <a:p>
            <a:r>
              <a:rPr sz="3000" b="1">
                <a:solidFill>
                  <a:srgbClr val="102A43"/>
                </a:solidFill>
                <a:latin typeface="Aptos Display"/>
              </a:rPr>
              <a:t>One foundation. Two decisions.</a:t>
            </a:r>
          </a:p>
        </p:txBody>
      </p:sp>
      <p:sp>
        <p:nvSpPr>
          <p:cNvPr id="6" name="Shape 6"/>
          <p:cNvSpPr/>
          <p:nvPr/>
        </p:nvSpPr>
        <p:spPr>
          <a:xfrm>
            <a:off x="420000" y="6340000"/>
            <a:ext cx="8300000" cy="10000"/>
          </a:xfrm>
          <a:prstGeom prst="rect">
            <a:avLst/>
          </a:prstGeom>
          <a:solidFill>
            <a:srgbClr val="D6E1E8"/>
          </a:solidFill>
          <a:ln>
            <a:noFill/>
          </a:ln>
        </p:spPr>
        <p:txBody>
          <a:bodyPr rtlCol="0" anchor="ctr"/>
          <a:lstStyle/>
          <a:p>
            <a:endParaRPr/>
          </a:p>
        </p:txBody>
      </p:sp>
      <p:sp>
        <p:nvSpPr>
          <p:cNvPr id="8" name="TextBox 8"/>
          <p:cNvSpPr txBox="1"/>
          <p:nvPr/>
        </p:nvSpPr>
        <p:spPr>
          <a:xfrm>
            <a:off x="8070000" y="6480000"/>
            <a:ext cx="720000" cy="230832"/>
          </a:xfrm>
          <a:prstGeom prst="rect">
            <a:avLst/>
          </a:prstGeom>
        </p:spPr>
        <p:txBody>
          <a:bodyPr wrap="square" rtlCol="0">
            <a:spAutoFit/>
          </a:bodyPr>
          <a:lstStyle/>
          <a:p>
            <a:r>
              <a:rPr sz="900" b="1" dirty="0">
                <a:solidFill>
                  <a:srgbClr val="087F8C"/>
                </a:solidFill>
                <a:latin typeface="Aptos"/>
              </a:rPr>
              <a:t>02 / 0</a:t>
            </a:r>
            <a:r>
              <a:rPr lang="en-US" sz="900" b="1" dirty="0">
                <a:solidFill>
                  <a:srgbClr val="087F8C"/>
                </a:solidFill>
                <a:latin typeface="Aptos"/>
              </a:rPr>
              <a:t>6</a:t>
            </a:r>
            <a:endParaRPr sz="900" b="1" dirty="0">
              <a:solidFill>
                <a:srgbClr val="087F8C"/>
              </a:solidFill>
              <a:latin typeface="Aptos"/>
            </a:endParaRPr>
          </a:p>
        </p:txBody>
      </p:sp>
      <p:sp>
        <p:nvSpPr>
          <p:cNvPr id="9" name="TextBox 9"/>
          <p:cNvSpPr txBox="1"/>
          <p:nvPr/>
        </p:nvSpPr>
        <p:spPr>
          <a:xfrm>
            <a:off x="420000" y="1550000"/>
            <a:ext cx="8300000" cy="340000"/>
          </a:xfrm>
          <a:prstGeom prst="rect">
            <a:avLst/>
          </a:prstGeom>
        </p:spPr>
        <p:txBody>
          <a:bodyPr wrap="square" rtlCol="0">
            <a:spAutoFit/>
          </a:bodyPr>
          <a:lstStyle/>
          <a:p>
            <a:r>
              <a:rPr sz="1300">
                <a:solidFill>
                  <a:srgbClr val="526879"/>
                </a:solidFill>
                <a:latin typeface="Aptos"/>
              </a:rPr>
              <a:t>Solid: current prototype. Dashed: proposed pilot extension.</a:t>
            </a:r>
          </a:p>
        </p:txBody>
      </p:sp>
      <p:sp>
        <p:nvSpPr>
          <p:cNvPr id="10" name="Shape 10"/>
          <p:cNvSpPr/>
          <p:nvPr/>
        </p:nvSpPr>
        <p:spPr>
          <a:xfrm>
            <a:off x="420000" y="2030000"/>
            <a:ext cx="8300000" cy="470000"/>
          </a:xfrm>
          <a:prstGeom prst="roundRect">
            <a:avLst/>
          </a:prstGeom>
          <a:solidFill>
            <a:srgbClr val="E8EEF3"/>
          </a:solidFill>
          <a:ln>
            <a:noFill/>
          </a:ln>
        </p:spPr>
        <p:txBody>
          <a:bodyPr rtlCol="0" anchor="ctr"/>
          <a:lstStyle/>
          <a:p>
            <a:endParaRPr/>
          </a:p>
        </p:txBody>
      </p:sp>
      <p:sp>
        <p:nvSpPr>
          <p:cNvPr id="11" name="TextBox 11"/>
          <p:cNvSpPr txBox="1"/>
          <p:nvPr/>
        </p:nvSpPr>
        <p:spPr>
          <a:xfrm>
            <a:off x="540000" y="2140000"/>
            <a:ext cx="8060000" cy="290000"/>
          </a:xfrm>
          <a:prstGeom prst="rect">
            <a:avLst/>
          </a:prstGeom>
        </p:spPr>
        <p:txBody>
          <a:bodyPr wrap="square" rtlCol="0">
            <a:spAutoFit/>
          </a:bodyPr>
          <a:lstStyle/>
          <a:p>
            <a:r>
              <a:rPr sz="1150">
                <a:solidFill>
                  <a:srgbClr val="102A43"/>
                </a:solidFill>
                <a:latin typeface="Aptos"/>
              </a:rPr>
              <a:t>Azure SQL -&gt; JDBC   |   Volume files -&gt; Auto Loader   |   Churn file -&gt; notebook</a:t>
            </a:r>
          </a:p>
        </p:txBody>
      </p:sp>
      <p:sp>
        <p:nvSpPr>
          <p:cNvPr id="12" name="Shape 12"/>
          <p:cNvSpPr/>
          <p:nvPr/>
        </p:nvSpPr>
        <p:spPr>
          <a:xfrm>
            <a:off x="420000" y="2750000"/>
            <a:ext cx="1530000" cy="2130000"/>
          </a:xfrm>
          <a:prstGeom prst="roundRect">
            <a:avLst/>
          </a:prstGeom>
          <a:solidFill>
            <a:srgbClr val="F3E5CB"/>
          </a:solidFill>
          <a:ln>
            <a:noFill/>
          </a:ln>
        </p:spPr>
        <p:txBody>
          <a:bodyPr rtlCol="0" anchor="ctr"/>
          <a:lstStyle/>
          <a:p>
            <a:endParaRPr/>
          </a:p>
        </p:txBody>
      </p:sp>
      <p:sp>
        <p:nvSpPr>
          <p:cNvPr id="13" name="TextBox 13"/>
          <p:cNvSpPr txBox="1"/>
          <p:nvPr/>
        </p:nvSpPr>
        <p:spPr>
          <a:xfrm>
            <a:off x="550000" y="3050000"/>
            <a:ext cx="1280000" cy="1490000"/>
          </a:xfrm>
          <a:prstGeom prst="rect">
            <a:avLst/>
          </a:prstGeom>
        </p:spPr>
        <p:txBody>
          <a:bodyPr wrap="square" rtlCol="0">
            <a:spAutoFit/>
          </a:bodyPr>
          <a:lstStyle/>
          <a:p>
            <a:r>
              <a:rPr sz="1400" b="1">
                <a:solidFill>
                  <a:srgbClr val="102A43"/>
                </a:solidFill>
                <a:latin typeface="Aptos"/>
              </a:rPr>
              <a:t>BRONZE</a:t>
            </a:r>
          </a:p>
          <a:p>
            <a:r>
              <a:rPr sz="1300">
                <a:solidFill>
                  <a:srgbClr val="102A43"/>
                </a:solidFill>
                <a:latin typeface="Aptos"/>
              </a:rPr>
              <a:t>Raw Delta</a:t>
            </a:r>
          </a:p>
          <a:p>
            <a:r>
              <a:rPr sz="1300">
                <a:solidFill>
                  <a:srgbClr val="102A43"/>
                </a:solidFill>
                <a:latin typeface="Aptos"/>
              </a:rPr>
              <a:t>data</a:t>
            </a:r>
          </a:p>
          <a:p>
            <a:r>
              <a:rPr sz="1300">
                <a:solidFill>
                  <a:srgbClr val="102A43"/>
                </a:solidFill>
                <a:latin typeface="Aptos"/>
              </a:rPr>
              <a:t>+ metadata</a:t>
            </a:r>
          </a:p>
          <a:p>
            <a:r>
              <a:rPr sz="1050">
                <a:solidFill>
                  <a:srgbClr val="526879"/>
                </a:solidFill>
                <a:latin typeface="Aptos"/>
              </a:rPr>
              <a:t>Quality checks</a:t>
            </a:r>
          </a:p>
        </p:txBody>
      </p:sp>
      <p:sp>
        <p:nvSpPr>
          <p:cNvPr id="14" name="Shape 14"/>
          <p:cNvSpPr/>
          <p:nvPr/>
        </p:nvSpPr>
        <p:spPr>
          <a:xfrm>
            <a:off x="2310000" y="2750000"/>
            <a:ext cx="1900000" cy="860000"/>
          </a:xfrm>
          <a:prstGeom prst="roundRect">
            <a:avLst/>
          </a:prstGeom>
          <a:solidFill>
            <a:srgbClr val="EEF6F8"/>
          </a:solidFill>
          <a:ln>
            <a:noFill/>
          </a:ln>
        </p:spPr>
        <p:txBody>
          <a:bodyPr rtlCol="0" anchor="ctr"/>
          <a:lstStyle/>
          <a:p>
            <a:endParaRPr/>
          </a:p>
        </p:txBody>
      </p:sp>
      <p:sp>
        <p:nvSpPr>
          <p:cNvPr id="15" name="TextBox 15"/>
          <p:cNvSpPr txBox="1"/>
          <p:nvPr/>
        </p:nvSpPr>
        <p:spPr>
          <a:xfrm>
            <a:off x="2420000" y="2920000"/>
            <a:ext cx="1680000" cy="570000"/>
          </a:xfrm>
          <a:prstGeom prst="rect">
            <a:avLst/>
          </a:prstGeom>
        </p:spPr>
        <p:txBody>
          <a:bodyPr wrap="square" rtlCol="0">
            <a:spAutoFit/>
          </a:bodyPr>
          <a:lstStyle/>
          <a:p>
            <a:r>
              <a:rPr sz="1300" b="1">
                <a:solidFill>
                  <a:srgbClr val="102A43"/>
                </a:solidFill>
                <a:latin typeface="Aptos"/>
              </a:rPr>
              <a:t>SILVER OBT</a:t>
            </a:r>
          </a:p>
          <a:p>
            <a:r>
              <a:rPr sz="1150">
                <a:solidFill>
                  <a:srgbClr val="102A43"/>
                </a:solidFill>
                <a:latin typeface="Aptos"/>
              </a:rPr>
              <a:t>promotion_Sales</a:t>
            </a:r>
          </a:p>
        </p:txBody>
      </p:sp>
      <p:sp>
        <p:nvSpPr>
          <p:cNvPr id="16" name="Shape 16"/>
          <p:cNvSpPr/>
          <p:nvPr/>
        </p:nvSpPr>
        <p:spPr>
          <a:xfrm>
            <a:off x="4570000" y="2750000"/>
            <a:ext cx="1880000" cy="860000"/>
          </a:xfrm>
          <a:prstGeom prst="roundRect">
            <a:avLst/>
          </a:prstGeom>
          <a:solidFill>
            <a:srgbClr val="FFF6DA"/>
          </a:solidFill>
          <a:ln>
            <a:noFill/>
          </a:ln>
        </p:spPr>
        <p:txBody>
          <a:bodyPr rtlCol="0" anchor="ctr"/>
          <a:lstStyle/>
          <a:p>
            <a:endParaRPr/>
          </a:p>
        </p:txBody>
      </p:sp>
      <p:sp>
        <p:nvSpPr>
          <p:cNvPr id="17" name="TextBox 17"/>
          <p:cNvSpPr txBox="1"/>
          <p:nvPr/>
        </p:nvSpPr>
        <p:spPr>
          <a:xfrm>
            <a:off x="4680000" y="2920000"/>
            <a:ext cx="1660000" cy="570000"/>
          </a:xfrm>
          <a:prstGeom prst="rect">
            <a:avLst/>
          </a:prstGeom>
        </p:spPr>
        <p:txBody>
          <a:bodyPr wrap="square" rtlCol="0">
            <a:spAutoFit/>
          </a:bodyPr>
          <a:lstStyle/>
          <a:p>
            <a:r>
              <a:rPr sz="1300" b="1">
                <a:solidFill>
                  <a:srgbClr val="102A43"/>
                </a:solidFill>
                <a:latin typeface="Aptos"/>
              </a:rPr>
              <a:t>GOLD</a:t>
            </a:r>
          </a:p>
          <a:p>
            <a:r>
              <a:rPr sz="1050">
                <a:solidFill>
                  <a:srgbClr val="102A43"/>
                </a:solidFill>
                <a:latin typeface="Aptos"/>
              </a:rPr>
              <a:t>promotions_impact</a:t>
            </a:r>
          </a:p>
        </p:txBody>
      </p:sp>
      <p:sp>
        <p:nvSpPr>
          <p:cNvPr id="18" name="Shape 18"/>
          <p:cNvSpPr/>
          <p:nvPr/>
        </p:nvSpPr>
        <p:spPr>
          <a:xfrm>
            <a:off x="6820000" y="2750000"/>
            <a:ext cx="1900000" cy="860000"/>
          </a:xfrm>
          <a:prstGeom prst="roundRect">
            <a:avLst/>
          </a:prstGeom>
          <a:solidFill>
            <a:srgbClr val="087F8C"/>
          </a:solidFill>
          <a:ln>
            <a:noFill/>
          </a:ln>
        </p:spPr>
        <p:txBody>
          <a:bodyPr rtlCol="0" anchor="ctr"/>
          <a:lstStyle/>
          <a:p>
            <a:endParaRPr/>
          </a:p>
        </p:txBody>
      </p:sp>
      <p:sp>
        <p:nvSpPr>
          <p:cNvPr id="19" name="TextBox 19"/>
          <p:cNvSpPr txBox="1"/>
          <p:nvPr/>
        </p:nvSpPr>
        <p:spPr>
          <a:xfrm>
            <a:off x="6930000" y="2920000"/>
            <a:ext cx="1690000" cy="570000"/>
          </a:xfrm>
          <a:prstGeom prst="rect">
            <a:avLst/>
          </a:prstGeom>
        </p:spPr>
        <p:txBody>
          <a:bodyPr wrap="square" rtlCol="0">
            <a:spAutoFit/>
          </a:bodyPr>
          <a:lstStyle/>
          <a:p>
            <a:r>
              <a:rPr sz="1300" b="1">
                <a:solidFill>
                  <a:srgbClr val="FFFFFF"/>
                </a:solidFill>
                <a:latin typeface="Aptos"/>
              </a:rPr>
              <a:t>DASHBOARD</a:t>
            </a:r>
          </a:p>
          <a:p>
            <a:r>
              <a:rPr sz="1100">
                <a:solidFill>
                  <a:srgbClr val="FFFFFF"/>
                </a:solidFill>
                <a:latin typeface="Aptos"/>
              </a:rPr>
              <a:t>Promotion decisions</a:t>
            </a:r>
          </a:p>
        </p:txBody>
      </p:sp>
      <p:sp>
        <p:nvSpPr>
          <p:cNvPr id="20" name="Shape 20"/>
          <p:cNvSpPr/>
          <p:nvPr/>
        </p:nvSpPr>
        <p:spPr>
          <a:xfrm>
            <a:off x="2310000" y="3950000"/>
            <a:ext cx="1900000" cy="930000"/>
          </a:xfrm>
          <a:prstGeom prst="roundRect">
            <a:avLst/>
          </a:prstGeom>
          <a:solidFill>
            <a:srgbClr val="EEF6F8"/>
          </a:solidFill>
          <a:ln>
            <a:noFill/>
          </a:ln>
        </p:spPr>
        <p:txBody>
          <a:bodyPr rtlCol="0" anchor="ctr"/>
          <a:lstStyle/>
          <a:p>
            <a:endParaRPr/>
          </a:p>
        </p:txBody>
      </p:sp>
      <p:sp>
        <p:nvSpPr>
          <p:cNvPr id="21" name="TextBox 21"/>
          <p:cNvSpPr txBox="1"/>
          <p:nvPr/>
        </p:nvSpPr>
        <p:spPr>
          <a:xfrm>
            <a:off x="2420000" y="4080000"/>
            <a:ext cx="1680000" cy="680000"/>
          </a:xfrm>
          <a:prstGeom prst="rect">
            <a:avLst/>
          </a:prstGeom>
        </p:spPr>
        <p:txBody>
          <a:bodyPr wrap="square" rtlCol="0">
            <a:spAutoFit/>
          </a:bodyPr>
          <a:lstStyle/>
          <a:p>
            <a:r>
              <a:rPr sz="1100" b="1">
                <a:solidFill>
                  <a:srgbClr val="102A43"/>
                </a:solidFill>
                <a:latin typeface="Aptos"/>
              </a:rPr>
              <a:t>RANDOM FOREST</a:t>
            </a:r>
          </a:p>
          <a:p>
            <a:r>
              <a:rPr sz="1200">
                <a:solidFill>
                  <a:srgbClr val="102A43"/>
                </a:solidFill>
                <a:latin typeface="Aptos"/>
              </a:rPr>
              <a:t>model_findings</a:t>
            </a:r>
          </a:p>
          <a:p>
            <a:r>
              <a:rPr sz="1000">
                <a:solidFill>
                  <a:srgbClr val="526879"/>
                </a:solidFill>
                <a:latin typeface="Aptos"/>
              </a:rPr>
              <a:t>Global feature signals</a:t>
            </a:r>
          </a:p>
        </p:txBody>
      </p:sp>
      <p:sp>
        <p:nvSpPr>
          <p:cNvPr id="22" name="Shape 22"/>
          <p:cNvSpPr/>
          <p:nvPr/>
        </p:nvSpPr>
        <p:spPr>
          <a:xfrm>
            <a:off x="4570000" y="3950000"/>
            <a:ext cx="4150000" cy="930000"/>
          </a:xfrm>
          <a:prstGeom prst="roundRect">
            <a:avLst/>
          </a:prstGeom>
          <a:solidFill>
            <a:srgbClr val="E5F4F2"/>
          </a:solidFill>
          <a:ln>
            <a:noFill/>
          </a:ln>
        </p:spPr>
        <p:txBody>
          <a:bodyPr rtlCol="0" anchor="ctr"/>
          <a:lstStyle/>
          <a:p>
            <a:endParaRPr/>
          </a:p>
        </p:txBody>
      </p:sp>
      <p:sp>
        <p:nvSpPr>
          <p:cNvPr id="23" name="TextBox 23"/>
          <p:cNvSpPr txBox="1"/>
          <p:nvPr/>
        </p:nvSpPr>
        <p:spPr>
          <a:xfrm>
            <a:off x="4720000" y="4060000"/>
            <a:ext cx="3840000" cy="700000"/>
          </a:xfrm>
          <a:prstGeom prst="rect">
            <a:avLst/>
          </a:prstGeom>
        </p:spPr>
        <p:txBody>
          <a:bodyPr wrap="square" rtlCol="0">
            <a:spAutoFit/>
          </a:bodyPr>
          <a:lstStyle/>
          <a:p>
            <a:r>
              <a:rPr sz="1200" b="1">
                <a:solidFill>
                  <a:srgbClr val="087F8C"/>
                </a:solidFill>
                <a:latin typeface="Aptos"/>
              </a:rPr>
              <a:t>GENIE AGENT</a:t>
            </a:r>
          </a:p>
          <a:p>
            <a:r>
              <a:rPr sz="1300">
                <a:solidFill>
                  <a:srgbClr val="102A43"/>
                </a:solidFill>
                <a:latin typeface="Aptos"/>
              </a:rPr>
              <a:t>Q&amp;A over both silver tables</a:t>
            </a:r>
          </a:p>
          <a:p>
            <a:r>
              <a:rPr sz="1300">
                <a:solidFill>
                  <a:srgbClr val="102A43"/>
                </a:solidFill>
                <a:latin typeface="Aptos"/>
              </a:rPr>
              <a:t>Business data + model signals</a:t>
            </a:r>
          </a:p>
        </p:txBody>
      </p:sp>
      <p:sp>
        <p:nvSpPr>
          <p:cNvPr id="24" name="Shape 24"/>
          <p:cNvSpPr/>
          <p:nvPr/>
        </p:nvSpPr>
        <p:spPr>
          <a:xfrm>
            <a:off x="1980000" y="3070000"/>
            <a:ext cx="290000" cy="180000"/>
          </a:xfrm>
          <a:prstGeom prst="rightArrow">
            <a:avLst/>
          </a:prstGeom>
          <a:solidFill>
            <a:srgbClr val="526879"/>
          </a:solidFill>
          <a:ln>
            <a:noFill/>
          </a:ln>
        </p:spPr>
        <p:txBody>
          <a:bodyPr rtlCol="0" anchor="ctr"/>
          <a:lstStyle/>
          <a:p>
            <a:endParaRPr/>
          </a:p>
        </p:txBody>
      </p:sp>
      <p:sp>
        <p:nvSpPr>
          <p:cNvPr id="25" name="Shape 25"/>
          <p:cNvSpPr/>
          <p:nvPr/>
        </p:nvSpPr>
        <p:spPr>
          <a:xfrm>
            <a:off x="4240000" y="3070000"/>
            <a:ext cx="290000" cy="180000"/>
          </a:xfrm>
          <a:prstGeom prst="rightArrow">
            <a:avLst/>
          </a:prstGeom>
          <a:solidFill>
            <a:srgbClr val="526879"/>
          </a:solidFill>
          <a:ln>
            <a:noFill/>
          </a:ln>
        </p:spPr>
        <p:txBody>
          <a:bodyPr rtlCol="0" anchor="ctr"/>
          <a:lstStyle/>
          <a:p>
            <a:endParaRPr/>
          </a:p>
        </p:txBody>
      </p:sp>
      <p:sp>
        <p:nvSpPr>
          <p:cNvPr id="26" name="Shape 26"/>
          <p:cNvSpPr/>
          <p:nvPr/>
        </p:nvSpPr>
        <p:spPr>
          <a:xfrm>
            <a:off x="6490000" y="3070000"/>
            <a:ext cx="290000" cy="180000"/>
          </a:xfrm>
          <a:prstGeom prst="rightArrow">
            <a:avLst/>
          </a:prstGeom>
          <a:solidFill>
            <a:srgbClr val="526879"/>
          </a:solidFill>
          <a:ln>
            <a:noFill/>
          </a:ln>
        </p:spPr>
        <p:txBody>
          <a:bodyPr rtlCol="0" anchor="ctr"/>
          <a:lstStyle/>
          <a:p>
            <a:endParaRPr/>
          </a:p>
        </p:txBody>
      </p:sp>
      <p:sp>
        <p:nvSpPr>
          <p:cNvPr id="27" name="Shape 27"/>
          <p:cNvSpPr/>
          <p:nvPr/>
        </p:nvSpPr>
        <p:spPr>
          <a:xfrm>
            <a:off x="1980000" y="4310000"/>
            <a:ext cx="290000" cy="180000"/>
          </a:xfrm>
          <a:prstGeom prst="rightArrow">
            <a:avLst/>
          </a:prstGeom>
          <a:solidFill>
            <a:srgbClr val="526879"/>
          </a:solidFill>
          <a:ln>
            <a:noFill/>
          </a:ln>
        </p:spPr>
        <p:txBody>
          <a:bodyPr rtlCol="0" anchor="ctr"/>
          <a:lstStyle/>
          <a:p>
            <a:endParaRPr/>
          </a:p>
        </p:txBody>
      </p:sp>
      <p:sp>
        <p:nvSpPr>
          <p:cNvPr id="28" name="Shape 28"/>
          <p:cNvSpPr/>
          <p:nvPr/>
        </p:nvSpPr>
        <p:spPr>
          <a:xfrm>
            <a:off x="4240000" y="4310000"/>
            <a:ext cx="290000" cy="180000"/>
          </a:xfrm>
          <a:prstGeom prst="rightArrow">
            <a:avLst/>
          </a:prstGeom>
          <a:solidFill>
            <a:srgbClr val="526879"/>
          </a:solidFill>
          <a:ln>
            <a:noFill/>
          </a:ln>
        </p:spPr>
        <p:txBody>
          <a:bodyPr rtlCol="0" anchor="ctr"/>
          <a:lstStyle/>
          <a:p>
            <a:endParaRPr/>
          </a:p>
        </p:txBody>
      </p:sp>
      <p:sp>
        <p:nvSpPr>
          <p:cNvPr id="29" name="Shape 29"/>
          <p:cNvSpPr/>
          <p:nvPr/>
        </p:nvSpPr>
        <p:spPr>
          <a:xfrm>
            <a:off x="420000" y="5190000"/>
            <a:ext cx="8300000" cy="490000"/>
          </a:xfrm>
          <a:prstGeom prst="roundRect">
            <a:avLst/>
          </a:prstGeom>
          <a:solidFill>
            <a:srgbClr val="102A43"/>
          </a:solidFill>
          <a:ln>
            <a:noFill/>
          </a:ln>
        </p:spPr>
        <p:txBody>
          <a:bodyPr rtlCol="0" anchor="ctr"/>
          <a:lstStyle/>
          <a:p>
            <a:endParaRPr/>
          </a:p>
        </p:txBody>
      </p:sp>
      <p:sp>
        <p:nvSpPr>
          <p:cNvPr id="30" name="TextBox 30"/>
          <p:cNvSpPr txBox="1"/>
          <p:nvPr/>
        </p:nvSpPr>
        <p:spPr>
          <a:xfrm>
            <a:off x="610000" y="5310000"/>
            <a:ext cx="7900000" cy="280000"/>
          </a:xfrm>
          <a:prstGeom prst="rect">
            <a:avLst/>
          </a:prstGeom>
        </p:spPr>
        <p:txBody>
          <a:bodyPr wrap="square" rtlCol="0">
            <a:spAutoFit/>
          </a:bodyPr>
          <a:lstStyle/>
          <a:p>
            <a:r>
              <a:rPr sz="1300">
                <a:solidFill>
                  <a:srgbClr val="FFFFFF"/>
                </a:solidFill>
                <a:latin typeface="Aptos"/>
              </a:rPr>
              <a:t>UNITY CATALOG: retail_demo  |  PII masking + governed access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9144000" cy="6858000"/>
          </a:xfrm>
          <a:prstGeom prst="rect">
            <a:avLst/>
          </a:prstGeom>
          <a:solidFill>
            <a:srgbClr val="F7FAFC"/>
          </a:solidFill>
          <a:ln>
            <a:noFill/>
          </a:ln>
        </p:spPr>
        <p:txBody>
          <a:bodyPr rtlCol="0" anchor="ctr"/>
          <a:lstStyle/>
          <a:p>
            <a:endParaRPr/>
          </a:p>
        </p:txBody>
      </p:sp>
      <p:sp>
        <p:nvSpPr>
          <p:cNvPr id="3" name="Shape 3"/>
          <p:cNvSpPr/>
          <p:nvPr/>
        </p:nvSpPr>
        <p:spPr>
          <a:xfrm>
            <a:off x="0" y="0"/>
            <a:ext cx="9144000" cy="85000"/>
          </a:xfrm>
          <a:prstGeom prst="rect">
            <a:avLst/>
          </a:prstGeom>
          <a:solidFill>
            <a:srgbClr val="087F8C"/>
          </a:solidFill>
          <a:ln>
            <a:noFill/>
          </a:ln>
        </p:spPr>
        <p:txBody>
          <a:bodyPr rtlCol="0" anchor="ctr"/>
          <a:lstStyle/>
          <a:p>
            <a:endParaRPr/>
          </a:p>
        </p:txBody>
      </p:sp>
      <p:sp>
        <p:nvSpPr>
          <p:cNvPr id="4" name="TextBox 4"/>
          <p:cNvSpPr txBox="1"/>
          <p:nvPr/>
        </p:nvSpPr>
        <p:spPr>
          <a:xfrm>
            <a:off x="420000" y="230000"/>
            <a:ext cx="8200000" cy="290000"/>
          </a:xfrm>
          <a:prstGeom prst="rect">
            <a:avLst/>
          </a:prstGeom>
        </p:spPr>
        <p:txBody>
          <a:bodyPr wrap="square" rtlCol="0">
            <a:spAutoFit/>
          </a:bodyPr>
          <a:lstStyle/>
          <a:p>
            <a:r>
              <a:rPr sz="1000" b="1">
                <a:solidFill>
                  <a:srgbClr val="087F8C"/>
                </a:solidFill>
                <a:latin typeface="Aptos"/>
              </a:rPr>
              <a:t>COSTCO  |  RETAIL INTELLIGENCE</a:t>
            </a:r>
          </a:p>
        </p:txBody>
      </p:sp>
      <p:sp>
        <p:nvSpPr>
          <p:cNvPr id="5" name="TextBox 5"/>
          <p:cNvSpPr txBox="1"/>
          <p:nvPr/>
        </p:nvSpPr>
        <p:spPr>
          <a:xfrm>
            <a:off x="420000" y="760000"/>
            <a:ext cx="8350000" cy="720000"/>
          </a:xfrm>
          <a:prstGeom prst="rect">
            <a:avLst/>
          </a:prstGeom>
        </p:spPr>
        <p:txBody>
          <a:bodyPr wrap="square" rtlCol="0">
            <a:spAutoFit/>
          </a:bodyPr>
          <a:lstStyle/>
          <a:p>
            <a:r>
              <a:rPr sz="2900" b="1">
                <a:solidFill>
                  <a:srgbClr val="102A43"/>
                </a:solidFill>
                <a:latin typeface="Aptos Display"/>
              </a:rPr>
              <a:t>Promotion results: one clear leader.</a:t>
            </a:r>
          </a:p>
        </p:txBody>
      </p:sp>
      <p:sp>
        <p:nvSpPr>
          <p:cNvPr id="6" name="Shape 6"/>
          <p:cNvSpPr/>
          <p:nvPr/>
        </p:nvSpPr>
        <p:spPr>
          <a:xfrm>
            <a:off x="420000" y="6340000"/>
            <a:ext cx="8300000" cy="10000"/>
          </a:xfrm>
          <a:prstGeom prst="rect">
            <a:avLst/>
          </a:prstGeom>
          <a:solidFill>
            <a:srgbClr val="D6E1E8"/>
          </a:solidFill>
          <a:ln>
            <a:noFill/>
          </a:ln>
        </p:spPr>
        <p:txBody>
          <a:bodyPr rtlCol="0" anchor="ctr"/>
          <a:lstStyle/>
          <a:p>
            <a:endParaRPr/>
          </a:p>
        </p:txBody>
      </p:sp>
      <p:sp>
        <p:nvSpPr>
          <p:cNvPr id="8" name="TextBox 8"/>
          <p:cNvSpPr txBox="1"/>
          <p:nvPr/>
        </p:nvSpPr>
        <p:spPr>
          <a:xfrm>
            <a:off x="8070000" y="6480000"/>
            <a:ext cx="720000" cy="230832"/>
          </a:xfrm>
          <a:prstGeom prst="rect">
            <a:avLst/>
          </a:prstGeom>
        </p:spPr>
        <p:txBody>
          <a:bodyPr wrap="square" rtlCol="0">
            <a:spAutoFit/>
          </a:bodyPr>
          <a:lstStyle/>
          <a:p>
            <a:r>
              <a:rPr sz="900" b="1" dirty="0">
                <a:solidFill>
                  <a:srgbClr val="087F8C"/>
                </a:solidFill>
                <a:latin typeface="Aptos"/>
              </a:rPr>
              <a:t>0</a:t>
            </a:r>
            <a:r>
              <a:rPr lang="en-US" sz="900" b="1" dirty="0">
                <a:solidFill>
                  <a:srgbClr val="087F8C"/>
                </a:solidFill>
                <a:latin typeface="Aptos"/>
              </a:rPr>
              <a:t>3</a:t>
            </a:r>
            <a:r>
              <a:rPr sz="900" b="1" dirty="0">
                <a:solidFill>
                  <a:srgbClr val="087F8C"/>
                </a:solidFill>
                <a:latin typeface="Aptos"/>
              </a:rPr>
              <a:t> / 0</a:t>
            </a:r>
            <a:r>
              <a:rPr lang="en-US" sz="900" b="1" dirty="0">
                <a:solidFill>
                  <a:srgbClr val="087F8C"/>
                </a:solidFill>
                <a:latin typeface="Aptos"/>
              </a:rPr>
              <a:t>6</a:t>
            </a:r>
            <a:endParaRPr sz="900" b="1" dirty="0">
              <a:solidFill>
                <a:srgbClr val="087F8C"/>
              </a:solidFill>
              <a:latin typeface="Aptos"/>
            </a:endParaRPr>
          </a:p>
        </p:txBody>
      </p:sp>
      <p:sp>
        <p:nvSpPr>
          <p:cNvPr id="9" name="TextBox 9"/>
          <p:cNvSpPr txBox="1"/>
          <p:nvPr/>
        </p:nvSpPr>
        <p:spPr>
          <a:xfrm>
            <a:off x="420000" y="1550000"/>
            <a:ext cx="8300000" cy="340000"/>
          </a:xfrm>
          <a:prstGeom prst="rect">
            <a:avLst/>
          </a:prstGeom>
        </p:spPr>
        <p:txBody>
          <a:bodyPr wrap="square" rtlCol="0">
            <a:spAutoFit/>
          </a:bodyPr>
          <a:lstStyle/>
          <a:p>
            <a:r>
              <a:rPr sz="1250">
                <a:solidFill>
                  <a:srgbClr val="526879"/>
                </a:solidFill>
                <a:latin typeface="Aptos"/>
              </a:rPr>
              <a:t>Reported outcomes | Average uplift vs baseline; effectiveness labels as supplied</a:t>
            </a:r>
          </a:p>
        </p:txBody>
      </p:sp>
      <p:sp>
        <p:nvSpPr>
          <p:cNvPr id="10" name="TextBox 10"/>
          <p:cNvSpPr txBox="1"/>
          <p:nvPr/>
        </p:nvSpPr>
        <p:spPr>
          <a:xfrm>
            <a:off x="550000" y="2200000"/>
            <a:ext cx="2570000" cy="420000"/>
          </a:xfrm>
          <a:prstGeom prst="rect">
            <a:avLst/>
          </a:prstGeom>
        </p:spPr>
        <p:txBody>
          <a:bodyPr wrap="square" rtlCol="0">
            <a:spAutoFit/>
          </a:bodyPr>
          <a:lstStyle/>
          <a:p>
            <a:r>
              <a:rPr sz="1100" b="1">
                <a:solidFill>
                  <a:srgbClr val="526879"/>
                </a:solidFill>
                <a:latin typeface="Aptos"/>
              </a:rPr>
              <a:t>PROMOTION</a:t>
            </a:r>
          </a:p>
        </p:txBody>
      </p:sp>
      <p:sp>
        <p:nvSpPr>
          <p:cNvPr id="11" name="TextBox 11"/>
          <p:cNvSpPr txBox="1"/>
          <p:nvPr/>
        </p:nvSpPr>
        <p:spPr>
          <a:xfrm>
            <a:off x="3200000" y="2070000"/>
            <a:ext cx="1420000" cy="550000"/>
          </a:xfrm>
          <a:prstGeom prst="rect">
            <a:avLst/>
          </a:prstGeom>
        </p:spPr>
        <p:txBody>
          <a:bodyPr wrap="square" rtlCol="0">
            <a:spAutoFit/>
          </a:bodyPr>
          <a:lstStyle/>
          <a:p>
            <a:r>
              <a:rPr sz="1100" b="1">
                <a:solidFill>
                  <a:srgbClr val="526879"/>
                </a:solidFill>
                <a:latin typeface="Aptos"/>
              </a:rPr>
              <a:t>Total promotion</a:t>
            </a:r>
          </a:p>
          <a:p>
            <a:r>
              <a:rPr sz="1100" b="1">
                <a:solidFill>
                  <a:srgbClr val="526879"/>
                </a:solidFill>
                <a:latin typeface="Aptos"/>
              </a:rPr>
              <a:t>investment</a:t>
            </a:r>
          </a:p>
        </p:txBody>
      </p:sp>
      <p:sp>
        <p:nvSpPr>
          <p:cNvPr id="12" name="TextBox 12"/>
          <p:cNvSpPr txBox="1"/>
          <p:nvPr/>
        </p:nvSpPr>
        <p:spPr>
          <a:xfrm>
            <a:off x="4660000" y="2070000"/>
            <a:ext cx="1240000" cy="550000"/>
          </a:xfrm>
          <a:prstGeom prst="rect">
            <a:avLst/>
          </a:prstGeom>
        </p:spPr>
        <p:txBody>
          <a:bodyPr wrap="square" rtlCol="0">
            <a:spAutoFit/>
          </a:bodyPr>
          <a:lstStyle/>
          <a:p>
            <a:r>
              <a:rPr sz="1100" b="1">
                <a:solidFill>
                  <a:srgbClr val="526879"/>
                </a:solidFill>
                <a:latin typeface="Aptos"/>
              </a:rPr>
              <a:t>Avg revenue</a:t>
            </a:r>
          </a:p>
          <a:p>
            <a:r>
              <a:rPr sz="1100" b="1">
                <a:solidFill>
                  <a:srgbClr val="526879"/>
                </a:solidFill>
                <a:latin typeface="Aptos"/>
              </a:rPr>
              <a:t>uplift (%)</a:t>
            </a:r>
          </a:p>
        </p:txBody>
      </p:sp>
      <p:sp>
        <p:nvSpPr>
          <p:cNvPr id="13" name="TextBox 13"/>
          <p:cNvSpPr txBox="1"/>
          <p:nvPr/>
        </p:nvSpPr>
        <p:spPr>
          <a:xfrm>
            <a:off x="6020000" y="2070000"/>
            <a:ext cx="1200000" cy="550000"/>
          </a:xfrm>
          <a:prstGeom prst="rect">
            <a:avLst/>
          </a:prstGeom>
        </p:spPr>
        <p:txBody>
          <a:bodyPr wrap="square" rtlCol="0">
            <a:spAutoFit/>
          </a:bodyPr>
          <a:lstStyle/>
          <a:p>
            <a:r>
              <a:rPr sz="1100" b="1">
                <a:solidFill>
                  <a:srgbClr val="526879"/>
                </a:solidFill>
                <a:latin typeface="Aptos"/>
              </a:rPr>
              <a:t>Avg unit</a:t>
            </a:r>
          </a:p>
          <a:p>
            <a:r>
              <a:rPr sz="1100" b="1">
                <a:solidFill>
                  <a:srgbClr val="526879"/>
                </a:solidFill>
                <a:latin typeface="Aptos"/>
              </a:rPr>
              <a:t>uplift (%)</a:t>
            </a:r>
          </a:p>
        </p:txBody>
      </p:sp>
      <p:sp>
        <p:nvSpPr>
          <p:cNvPr id="14" name="TextBox 14"/>
          <p:cNvSpPr txBox="1"/>
          <p:nvPr/>
        </p:nvSpPr>
        <p:spPr>
          <a:xfrm>
            <a:off x="7350000" y="2070000"/>
            <a:ext cx="1300000" cy="550000"/>
          </a:xfrm>
          <a:prstGeom prst="rect">
            <a:avLst/>
          </a:prstGeom>
        </p:spPr>
        <p:txBody>
          <a:bodyPr wrap="square" rtlCol="0">
            <a:spAutoFit/>
          </a:bodyPr>
          <a:lstStyle/>
          <a:p>
            <a:r>
              <a:rPr sz="1100" b="1">
                <a:solidFill>
                  <a:srgbClr val="526879"/>
                </a:solidFill>
                <a:latin typeface="Aptos"/>
              </a:rPr>
              <a:t>Promotion</a:t>
            </a:r>
          </a:p>
          <a:p>
            <a:r>
              <a:rPr sz="1100" b="1">
                <a:solidFill>
                  <a:srgbClr val="526879"/>
                </a:solidFill>
                <a:latin typeface="Aptos"/>
              </a:rPr>
              <a:t>effectiveness</a:t>
            </a:r>
          </a:p>
        </p:txBody>
      </p:sp>
      <p:sp>
        <p:nvSpPr>
          <p:cNvPr id="15" name="Shape 15"/>
          <p:cNvSpPr/>
          <p:nvPr/>
        </p:nvSpPr>
        <p:spPr>
          <a:xfrm>
            <a:off x="420000" y="2720000"/>
            <a:ext cx="8300000" cy="740000"/>
          </a:xfrm>
          <a:prstGeom prst="roundRect">
            <a:avLst/>
          </a:prstGeom>
          <a:solidFill>
            <a:srgbClr val="E5F4F2"/>
          </a:solidFill>
          <a:ln>
            <a:noFill/>
          </a:ln>
        </p:spPr>
        <p:txBody>
          <a:bodyPr rtlCol="0" anchor="ctr"/>
          <a:lstStyle/>
          <a:p>
            <a:endParaRPr/>
          </a:p>
        </p:txBody>
      </p:sp>
      <p:sp>
        <p:nvSpPr>
          <p:cNvPr id="16" name="Shape 16"/>
          <p:cNvSpPr/>
          <p:nvPr/>
        </p:nvSpPr>
        <p:spPr>
          <a:xfrm>
            <a:off x="420000" y="3570000"/>
            <a:ext cx="8300000" cy="740000"/>
          </a:xfrm>
          <a:prstGeom prst="roundRect">
            <a:avLst/>
          </a:prstGeom>
          <a:solidFill>
            <a:srgbClr val="EEF2F6"/>
          </a:solidFill>
          <a:ln>
            <a:noFill/>
          </a:ln>
        </p:spPr>
        <p:txBody>
          <a:bodyPr rtlCol="0" anchor="ctr"/>
          <a:lstStyle/>
          <a:p>
            <a:endParaRPr/>
          </a:p>
        </p:txBody>
      </p:sp>
      <p:sp>
        <p:nvSpPr>
          <p:cNvPr id="17" name="Shape 17"/>
          <p:cNvSpPr/>
          <p:nvPr/>
        </p:nvSpPr>
        <p:spPr>
          <a:xfrm>
            <a:off x="420000" y="4420000"/>
            <a:ext cx="8300000" cy="740000"/>
          </a:xfrm>
          <a:prstGeom prst="roundRect">
            <a:avLst/>
          </a:prstGeom>
          <a:solidFill>
            <a:srgbClr val="EEF2F6"/>
          </a:solidFill>
          <a:ln>
            <a:noFill/>
          </a:ln>
        </p:spPr>
        <p:txBody>
          <a:bodyPr rtlCol="0" anchor="ctr"/>
          <a:lstStyle/>
          <a:p>
            <a:endParaRPr/>
          </a:p>
        </p:txBody>
      </p:sp>
      <p:sp>
        <p:nvSpPr>
          <p:cNvPr id="18" name="TextBox 18"/>
          <p:cNvSpPr txBox="1"/>
          <p:nvPr/>
        </p:nvSpPr>
        <p:spPr>
          <a:xfrm>
            <a:off x="550000" y="2860000"/>
            <a:ext cx="2570000" cy="510000"/>
          </a:xfrm>
          <a:prstGeom prst="rect">
            <a:avLst/>
          </a:prstGeom>
        </p:spPr>
        <p:txBody>
          <a:bodyPr wrap="square" rtlCol="0">
            <a:spAutoFit/>
          </a:bodyPr>
          <a:lstStyle/>
          <a:p>
            <a:r>
              <a:rPr sz="1400" b="1">
                <a:solidFill>
                  <a:srgbClr val="102A43"/>
                </a:solidFill>
                <a:latin typeface="Aptos"/>
              </a:rPr>
              <a:t>Coffee Maker Summer Event</a:t>
            </a:r>
          </a:p>
        </p:txBody>
      </p:sp>
      <p:sp>
        <p:nvSpPr>
          <p:cNvPr id="19" name="TextBox 19"/>
          <p:cNvSpPr txBox="1"/>
          <p:nvPr/>
        </p:nvSpPr>
        <p:spPr>
          <a:xfrm>
            <a:off x="3200000" y="2910000"/>
            <a:ext cx="1420000" cy="410000"/>
          </a:xfrm>
          <a:prstGeom prst="rect">
            <a:avLst/>
          </a:prstGeom>
        </p:spPr>
        <p:txBody>
          <a:bodyPr wrap="square" rtlCol="0">
            <a:spAutoFit/>
          </a:bodyPr>
          <a:lstStyle/>
          <a:p>
            <a:r>
              <a:rPr sz="1500">
                <a:solidFill>
                  <a:srgbClr val="102A43"/>
                </a:solidFill>
                <a:latin typeface="Aptos"/>
              </a:rPr>
              <a:t>$2,464.00</a:t>
            </a:r>
          </a:p>
        </p:txBody>
      </p:sp>
      <p:sp>
        <p:nvSpPr>
          <p:cNvPr id="20" name="TextBox 20"/>
          <p:cNvSpPr txBox="1"/>
          <p:nvPr/>
        </p:nvSpPr>
        <p:spPr>
          <a:xfrm>
            <a:off x="4660000" y="2910000"/>
            <a:ext cx="1240000" cy="410000"/>
          </a:xfrm>
          <a:prstGeom prst="rect">
            <a:avLst/>
          </a:prstGeom>
        </p:spPr>
        <p:txBody>
          <a:bodyPr wrap="square" rtlCol="0">
            <a:spAutoFit/>
          </a:bodyPr>
          <a:lstStyle/>
          <a:p>
            <a:r>
              <a:rPr sz="1500" b="1">
                <a:solidFill>
                  <a:srgbClr val="087F8C"/>
                </a:solidFill>
                <a:latin typeface="Aptos"/>
              </a:rPr>
              <a:t>+95.56%</a:t>
            </a:r>
          </a:p>
        </p:txBody>
      </p:sp>
      <p:sp>
        <p:nvSpPr>
          <p:cNvPr id="21" name="TextBox 21"/>
          <p:cNvSpPr txBox="1"/>
          <p:nvPr/>
        </p:nvSpPr>
        <p:spPr>
          <a:xfrm>
            <a:off x="6020000" y="2910000"/>
            <a:ext cx="1200000" cy="410000"/>
          </a:xfrm>
          <a:prstGeom prst="rect">
            <a:avLst/>
          </a:prstGeom>
        </p:spPr>
        <p:txBody>
          <a:bodyPr wrap="square" rtlCol="0">
            <a:spAutoFit/>
          </a:bodyPr>
          <a:lstStyle/>
          <a:p>
            <a:r>
              <a:rPr sz="1500" b="1">
                <a:solidFill>
                  <a:srgbClr val="087F8C"/>
                </a:solidFill>
                <a:latin typeface="Aptos"/>
              </a:rPr>
              <a:t>+144.44%</a:t>
            </a:r>
          </a:p>
        </p:txBody>
      </p:sp>
      <p:sp>
        <p:nvSpPr>
          <p:cNvPr id="22" name="TextBox 22"/>
          <p:cNvSpPr txBox="1"/>
          <p:nvPr/>
        </p:nvSpPr>
        <p:spPr>
          <a:xfrm>
            <a:off x="7350000" y="2910000"/>
            <a:ext cx="1300000" cy="410000"/>
          </a:xfrm>
          <a:prstGeom prst="rect">
            <a:avLst/>
          </a:prstGeom>
        </p:spPr>
        <p:txBody>
          <a:bodyPr wrap="square" rtlCol="0">
            <a:spAutoFit/>
          </a:bodyPr>
          <a:lstStyle/>
          <a:p>
            <a:r>
              <a:rPr sz="1400" b="1">
                <a:solidFill>
                  <a:srgbClr val="087F8C"/>
                </a:solidFill>
                <a:latin typeface="Aptos"/>
              </a:rPr>
              <a:t>HIGH</a:t>
            </a:r>
          </a:p>
        </p:txBody>
      </p:sp>
      <p:sp>
        <p:nvSpPr>
          <p:cNvPr id="23" name="TextBox 23"/>
          <p:cNvSpPr txBox="1"/>
          <p:nvPr/>
        </p:nvSpPr>
        <p:spPr>
          <a:xfrm>
            <a:off x="550000" y="3770000"/>
            <a:ext cx="2570000" cy="410000"/>
          </a:xfrm>
          <a:prstGeom prst="rect">
            <a:avLst/>
          </a:prstGeom>
        </p:spPr>
        <p:txBody>
          <a:bodyPr wrap="square" rtlCol="0">
            <a:spAutoFit/>
          </a:bodyPr>
          <a:lstStyle/>
          <a:p>
            <a:r>
              <a:rPr sz="1400" b="1">
                <a:solidFill>
                  <a:srgbClr val="102A43"/>
                </a:solidFill>
                <a:latin typeface="Aptos"/>
              </a:rPr>
              <a:t>Backpack Clearance</a:t>
            </a:r>
          </a:p>
        </p:txBody>
      </p:sp>
      <p:sp>
        <p:nvSpPr>
          <p:cNvPr id="24" name="TextBox 24"/>
          <p:cNvSpPr txBox="1"/>
          <p:nvPr/>
        </p:nvSpPr>
        <p:spPr>
          <a:xfrm>
            <a:off x="3200000" y="3770000"/>
            <a:ext cx="1420000" cy="410000"/>
          </a:xfrm>
          <a:prstGeom prst="rect">
            <a:avLst/>
          </a:prstGeom>
        </p:spPr>
        <p:txBody>
          <a:bodyPr wrap="square" rtlCol="0">
            <a:spAutoFit/>
          </a:bodyPr>
          <a:lstStyle/>
          <a:p>
            <a:r>
              <a:rPr sz="1500">
                <a:solidFill>
                  <a:srgbClr val="102A43"/>
                </a:solidFill>
                <a:latin typeface="Aptos"/>
              </a:rPr>
              <a:t>$1,575.00</a:t>
            </a:r>
          </a:p>
        </p:txBody>
      </p:sp>
      <p:sp>
        <p:nvSpPr>
          <p:cNvPr id="25" name="TextBox 25"/>
          <p:cNvSpPr txBox="1"/>
          <p:nvPr/>
        </p:nvSpPr>
        <p:spPr>
          <a:xfrm>
            <a:off x="4660000" y="3770000"/>
            <a:ext cx="1240000" cy="410000"/>
          </a:xfrm>
          <a:prstGeom prst="rect">
            <a:avLst/>
          </a:prstGeom>
        </p:spPr>
        <p:txBody>
          <a:bodyPr wrap="square" rtlCol="0">
            <a:spAutoFit/>
          </a:bodyPr>
          <a:lstStyle/>
          <a:p>
            <a:r>
              <a:rPr sz="1500" b="1">
                <a:solidFill>
                  <a:srgbClr val="9F3D32"/>
                </a:solidFill>
                <a:latin typeface="Aptos"/>
              </a:rPr>
              <a:t>-44.74%</a:t>
            </a:r>
          </a:p>
        </p:txBody>
      </p:sp>
      <p:sp>
        <p:nvSpPr>
          <p:cNvPr id="26" name="TextBox 26"/>
          <p:cNvSpPr txBox="1"/>
          <p:nvPr/>
        </p:nvSpPr>
        <p:spPr>
          <a:xfrm>
            <a:off x="6020000" y="3770000"/>
            <a:ext cx="1200000" cy="410000"/>
          </a:xfrm>
          <a:prstGeom prst="rect">
            <a:avLst/>
          </a:prstGeom>
        </p:spPr>
        <p:txBody>
          <a:bodyPr wrap="square" rtlCol="0">
            <a:spAutoFit/>
          </a:bodyPr>
          <a:lstStyle/>
          <a:p>
            <a:r>
              <a:rPr sz="1500" b="1">
                <a:solidFill>
                  <a:srgbClr val="9F3D32"/>
                </a:solidFill>
                <a:latin typeface="Aptos"/>
              </a:rPr>
              <a:t>-21.05%</a:t>
            </a:r>
          </a:p>
        </p:txBody>
      </p:sp>
      <p:sp>
        <p:nvSpPr>
          <p:cNvPr id="27" name="TextBox 27"/>
          <p:cNvSpPr txBox="1"/>
          <p:nvPr/>
        </p:nvSpPr>
        <p:spPr>
          <a:xfrm>
            <a:off x="7350000" y="3770000"/>
            <a:ext cx="1300000" cy="410000"/>
          </a:xfrm>
          <a:prstGeom prst="rect">
            <a:avLst/>
          </a:prstGeom>
        </p:spPr>
        <p:txBody>
          <a:bodyPr wrap="square" rtlCol="0">
            <a:spAutoFit/>
          </a:bodyPr>
          <a:lstStyle/>
          <a:p>
            <a:r>
              <a:rPr sz="1400" b="1">
                <a:solidFill>
                  <a:srgbClr val="9F3D32"/>
                </a:solidFill>
                <a:latin typeface="Aptos"/>
              </a:rPr>
              <a:t>LOW</a:t>
            </a:r>
          </a:p>
        </p:txBody>
      </p:sp>
      <p:sp>
        <p:nvSpPr>
          <p:cNvPr id="28" name="TextBox 28"/>
          <p:cNvSpPr txBox="1"/>
          <p:nvPr/>
        </p:nvSpPr>
        <p:spPr>
          <a:xfrm>
            <a:off x="550000" y="4560000"/>
            <a:ext cx="2570000" cy="510000"/>
          </a:xfrm>
          <a:prstGeom prst="rect">
            <a:avLst/>
          </a:prstGeom>
        </p:spPr>
        <p:txBody>
          <a:bodyPr wrap="square" rtlCol="0">
            <a:spAutoFit/>
          </a:bodyPr>
          <a:lstStyle/>
          <a:p>
            <a:r>
              <a:rPr sz="1400" b="1">
                <a:solidFill>
                  <a:srgbClr val="102A43"/>
                </a:solidFill>
                <a:latin typeface="Aptos"/>
              </a:rPr>
              <a:t>Running Shoes Weekend Offer</a:t>
            </a:r>
          </a:p>
        </p:txBody>
      </p:sp>
      <p:sp>
        <p:nvSpPr>
          <p:cNvPr id="29" name="TextBox 29"/>
          <p:cNvSpPr txBox="1"/>
          <p:nvPr/>
        </p:nvSpPr>
        <p:spPr>
          <a:xfrm>
            <a:off x="3200000" y="4610000"/>
            <a:ext cx="1420000" cy="410000"/>
          </a:xfrm>
          <a:prstGeom prst="rect">
            <a:avLst/>
          </a:prstGeom>
        </p:spPr>
        <p:txBody>
          <a:bodyPr wrap="square" rtlCol="0">
            <a:spAutoFit/>
          </a:bodyPr>
          <a:lstStyle/>
          <a:p>
            <a:r>
              <a:rPr sz="1500">
                <a:solidFill>
                  <a:srgbClr val="102A43"/>
                </a:solidFill>
                <a:latin typeface="Aptos"/>
              </a:rPr>
              <a:t>$2,016.00</a:t>
            </a:r>
          </a:p>
        </p:txBody>
      </p:sp>
      <p:sp>
        <p:nvSpPr>
          <p:cNvPr id="30" name="TextBox 30"/>
          <p:cNvSpPr txBox="1"/>
          <p:nvPr/>
        </p:nvSpPr>
        <p:spPr>
          <a:xfrm>
            <a:off x="4660000" y="4610000"/>
            <a:ext cx="1240000" cy="410000"/>
          </a:xfrm>
          <a:prstGeom prst="rect">
            <a:avLst/>
          </a:prstGeom>
        </p:spPr>
        <p:txBody>
          <a:bodyPr wrap="square" rtlCol="0">
            <a:spAutoFit/>
          </a:bodyPr>
          <a:lstStyle/>
          <a:p>
            <a:r>
              <a:rPr sz="1500" b="1">
                <a:solidFill>
                  <a:srgbClr val="9F3D32"/>
                </a:solidFill>
                <a:latin typeface="Aptos"/>
              </a:rPr>
              <a:t>-2.86%</a:t>
            </a:r>
          </a:p>
        </p:txBody>
      </p:sp>
      <p:sp>
        <p:nvSpPr>
          <p:cNvPr id="31" name="TextBox 31"/>
          <p:cNvSpPr txBox="1"/>
          <p:nvPr/>
        </p:nvSpPr>
        <p:spPr>
          <a:xfrm>
            <a:off x="6020000" y="4610000"/>
            <a:ext cx="1200000" cy="410000"/>
          </a:xfrm>
          <a:prstGeom prst="rect">
            <a:avLst/>
          </a:prstGeom>
        </p:spPr>
        <p:txBody>
          <a:bodyPr wrap="square" rtlCol="0">
            <a:spAutoFit/>
          </a:bodyPr>
          <a:lstStyle/>
          <a:p>
            <a:r>
              <a:rPr sz="1500" b="1">
                <a:solidFill>
                  <a:srgbClr val="087F8C"/>
                </a:solidFill>
                <a:latin typeface="Aptos"/>
              </a:rPr>
              <a:t>+14.29%</a:t>
            </a:r>
          </a:p>
        </p:txBody>
      </p:sp>
      <p:sp>
        <p:nvSpPr>
          <p:cNvPr id="32" name="TextBox 32"/>
          <p:cNvSpPr txBox="1"/>
          <p:nvPr/>
        </p:nvSpPr>
        <p:spPr>
          <a:xfrm>
            <a:off x="7350000" y="4610000"/>
            <a:ext cx="1300000" cy="410000"/>
          </a:xfrm>
          <a:prstGeom prst="rect">
            <a:avLst/>
          </a:prstGeom>
        </p:spPr>
        <p:txBody>
          <a:bodyPr wrap="square" rtlCol="0">
            <a:spAutoFit/>
          </a:bodyPr>
          <a:lstStyle/>
          <a:p>
            <a:r>
              <a:rPr sz="1400" b="1">
                <a:solidFill>
                  <a:srgbClr val="9F3D32"/>
                </a:solidFill>
                <a:latin typeface="Aptos"/>
              </a:rPr>
              <a:t>LOW</a:t>
            </a:r>
          </a:p>
        </p:txBody>
      </p:sp>
      <p:sp>
        <p:nvSpPr>
          <p:cNvPr id="33" name="Shape 33"/>
          <p:cNvSpPr/>
          <p:nvPr/>
        </p:nvSpPr>
        <p:spPr>
          <a:xfrm>
            <a:off x="420000" y="5420000"/>
            <a:ext cx="8300000" cy="700000"/>
          </a:xfrm>
          <a:prstGeom prst="roundRect">
            <a:avLst/>
          </a:prstGeom>
          <a:solidFill>
            <a:srgbClr val="102A43"/>
          </a:solidFill>
          <a:ln>
            <a:noFill/>
          </a:ln>
        </p:spPr>
        <p:txBody>
          <a:bodyPr rtlCol="0" anchor="ctr"/>
          <a:lstStyle/>
          <a:p>
            <a:endParaRPr/>
          </a:p>
        </p:txBody>
      </p:sp>
      <p:sp>
        <p:nvSpPr>
          <p:cNvPr id="34" name="TextBox 34"/>
          <p:cNvSpPr txBox="1"/>
          <p:nvPr/>
        </p:nvSpPr>
        <p:spPr>
          <a:xfrm>
            <a:off x="610000" y="5510000"/>
            <a:ext cx="7880000" cy="570000"/>
          </a:xfrm>
          <a:prstGeom prst="rect">
            <a:avLst/>
          </a:prstGeom>
        </p:spPr>
        <p:txBody>
          <a:bodyPr wrap="square" rtlCol="0">
            <a:spAutoFit/>
          </a:bodyPr>
          <a:lstStyle/>
          <a:p>
            <a:r>
              <a:rPr sz="1800" b="1">
                <a:solidFill>
                  <a:srgbClr val="FFFFFF"/>
                </a:solidFill>
                <a:latin typeface="Aptos"/>
              </a:rPr>
              <a:t>Running shoes: more units, lower revenue.</a:t>
            </a:r>
          </a:p>
          <a:p>
            <a:r>
              <a:rPr sz="1400">
                <a:solidFill>
                  <a:srgbClr val="C8E7E7"/>
                </a:solidFill>
                <a:latin typeface="Aptos"/>
              </a:rPr>
              <a:t>Investigate pricing and mix before repeating the offer.</a:t>
            </a:r>
          </a:p>
        </p:txBody>
      </p:sp>
      <p:sp>
        <p:nvSpPr>
          <p:cNvPr id="35" name="TextBox 35"/>
          <p:cNvSpPr txBox="1"/>
          <p:nvPr/>
        </p:nvSpPr>
        <p:spPr>
          <a:xfrm>
            <a:off x="420000" y="6130000"/>
            <a:ext cx="8300000" cy="220000"/>
          </a:xfrm>
          <a:prstGeom prst="rect">
            <a:avLst/>
          </a:prstGeom>
        </p:spPr>
        <p:txBody>
          <a:bodyPr wrap="square" rtlCol="0">
            <a:spAutoFit/>
          </a:bodyPr>
          <a:lstStyle/>
          <a:p>
            <a:r>
              <a:rPr sz="1000">
                <a:solidFill>
                  <a:srgbClr val="8C5116"/>
                </a:solidFill>
                <a:latin typeface="Aptos"/>
              </a:rPr>
              <a:t>Average uplift is not portfolio lift. Investment + uplift % alone do not establish ROI.</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9144000" cy="6858000"/>
          </a:xfrm>
          <a:prstGeom prst="rect">
            <a:avLst/>
          </a:prstGeom>
          <a:solidFill>
            <a:srgbClr val="F7FAFC"/>
          </a:solidFill>
          <a:ln>
            <a:noFill/>
          </a:ln>
        </p:spPr>
        <p:txBody>
          <a:bodyPr rtlCol="0" anchor="ctr"/>
          <a:lstStyle/>
          <a:p>
            <a:endParaRPr/>
          </a:p>
        </p:txBody>
      </p:sp>
      <p:sp>
        <p:nvSpPr>
          <p:cNvPr id="3" name="Shape 3"/>
          <p:cNvSpPr/>
          <p:nvPr/>
        </p:nvSpPr>
        <p:spPr>
          <a:xfrm>
            <a:off x="0" y="0"/>
            <a:ext cx="9144000" cy="85000"/>
          </a:xfrm>
          <a:prstGeom prst="rect">
            <a:avLst/>
          </a:prstGeom>
          <a:solidFill>
            <a:srgbClr val="087F8C"/>
          </a:solidFill>
          <a:ln>
            <a:noFill/>
          </a:ln>
        </p:spPr>
        <p:txBody>
          <a:bodyPr rtlCol="0" anchor="ctr"/>
          <a:lstStyle/>
          <a:p>
            <a:endParaRPr/>
          </a:p>
        </p:txBody>
      </p:sp>
      <p:sp>
        <p:nvSpPr>
          <p:cNvPr id="4" name="TextBox 4"/>
          <p:cNvSpPr txBox="1"/>
          <p:nvPr/>
        </p:nvSpPr>
        <p:spPr>
          <a:xfrm>
            <a:off x="420000" y="230000"/>
            <a:ext cx="8200000" cy="290000"/>
          </a:xfrm>
          <a:prstGeom prst="rect">
            <a:avLst/>
          </a:prstGeom>
        </p:spPr>
        <p:txBody>
          <a:bodyPr wrap="square" rtlCol="0">
            <a:spAutoFit/>
          </a:bodyPr>
          <a:lstStyle/>
          <a:p>
            <a:r>
              <a:rPr sz="1000" b="1">
                <a:solidFill>
                  <a:srgbClr val="087F8C"/>
                </a:solidFill>
                <a:latin typeface="Aptos"/>
              </a:rPr>
              <a:t>COSTCO  |  RETAIL INTELLIGENCE</a:t>
            </a:r>
          </a:p>
        </p:txBody>
      </p:sp>
      <p:sp>
        <p:nvSpPr>
          <p:cNvPr id="5" name="TextBox 5"/>
          <p:cNvSpPr txBox="1"/>
          <p:nvPr/>
        </p:nvSpPr>
        <p:spPr>
          <a:xfrm>
            <a:off x="420000" y="760000"/>
            <a:ext cx="8350000" cy="720000"/>
          </a:xfrm>
          <a:prstGeom prst="rect">
            <a:avLst/>
          </a:prstGeom>
        </p:spPr>
        <p:txBody>
          <a:bodyPr wrap="square" rtlCol="0">
            <a:spAutoFit/>
          </a:bodyPr>
          <a:lstStyle/>
          <a:p>
            <a:r>
              <a:rPr sz="3000" b="1">
                <a:solidFill>
                  <a:srgbClr val="102A43"/>
                </a:solidFill>
                <a:latin typeface="Aptos Display"/>
              </a:rPr>
              <a:t>Tenure leads the churn model.</a:t>
            </a:r>
          </a:p>
        </p:txBody>
      </p:sp>
      <p:sp>
        <p:nvSpPr>
          <p:cNvPr id="6" name="Shape 6"/>
          <p:cNvSpPr/>
          <p:nvPr/>
        </p:nvSpPr>
        <p:spPr>
          <a:xfrm>
            <a:off x="420000" y="6340000"/>
            <a:ext cx="8300000" cy="10000"/>
          </a:xfrm>
          <a:prstGeom prst="rect">
            <a:avLst/>
          </a:prstGeom>
          <a:solidFill>
            <a:srgbClr val="D6E1E8"/>
          </a:solidFill>
          <a:ln>
            <a:noFill/>
          </a:ln>
        </p:spPr>
        <p:txBody>
          <a:bodyPr rtlCol="0" anchor="ctr"/>
          <a:lstStyle/>
          <a:p>
            <a:endParaRPr/>
          </a:p>
        </p:txBody>
      </p:sp>
      <p:sp>
        <p:nvSpPr>
          <p:cNvPr id="8" name="TextBox 8"/>
          <p:cNvSpPr txBox="1"/>
          <p:nvPr/>
        </p:nvSpPr>
        <p:spPr>
          <a:xfrm>
            <a:off x="8070000" y="6480000"/>
            <a:ext cx="720000" cy="230832"/>
          </a:xfrm>
          <a:prstGeom prst="rect">
            <a:avLst/>
          </a:prstGeom>
        </p:spPr>
        <p:txBody>
          <a:bodyPr wrap="square" rtlCol="0">
            <a:spAutoFit/>
          </a:bodyPr>
          <a:lstStyle/>
          <a:p>
            <a:r>
              <a:rPr sz="900" b="1" dirty="0">
                <a:solidFill>
                  <a:srgbClr val="087F8C"/>
                </a:solidFill>
                <a:latin typeface="Aptos"/>
              </a:rPr>
              <a:t>0</a:t>
            </a:r>
            <a:r>
              <a:rPr lang="en-US" sz="900" b="1" dirty="0">
                <a:solidFill>
                  <a:srgbClr val="087F8C"/>
                </a:solidFill>
                <a:latin typeface="Aptos"/>
              </a:rPr>
              <a:t>4</a:t>
            </a:r>
            <a:r>
              <a:rPr sz="900" b="1" dirty="0">
                <a:solidFill>
                  <a:srgbClr val="087F8C"/>
                </a:solidFill>
                <a:latin typeface="Aptos"/>
              </a:rPr>
              <a:t> / 0</a:t>
            </a:r>
            <a:r>
              <a:rPr lang="en-US" sz="900" b="1" dirty="0">
                <a:solidFill>
                  <a:srgbClr val="087F8C"/>
                </a:solidFill>
                <a:latin typeface="Aptos"/>
              </a:rPr>
              <a:t>6</a:t>
            </a:r>
            <a:endParaRPr sz="900" b="1" dirty="0">
              <a:solidFill>
                <a:srgbClr val="087F8C"/>
              </a:solidFill>
              <a:latin typeface="Aptos"/>
            </a:endParaRPr>
          </a:p>
        </p:txBody>
      </p:sp>
      <p:sp>
        <p:nvSpPr>
          <p:cNvPr id="9" name="TextBox 9"/>
          <p:cNvSpPr txBox="1"/>
          <p:nvPr/>
        </p:nvSpPr>
        <p:spPr>
          <a:xfrm>
            <a:off x="420000" y="1550000"/>
            <a:ext cx="8300000" cy="380000"/>
          </a:xfrm>
          <a:prstGeom prst="rect">
            <a:avLst/>
          </a:prstGeom>
        </p:spPr>
        <p:txBody>
          <a:bodyPr wrap="square" rtlCol="0">
            <a:spAutoFit/>
          </a:bodyPr>
          <a:lstStyle/>
          <a:p>
            <a:r>
              <a:rPr sz="1250">
                <a:solidFill>
                  <a:srgbClr val="526879"/>
                </a:solidFill>
                <a:latin typeface="Aptos"/>
              </a:rPr>
              <a:t>Reported Random Forest findings | Top 10 features = 72.0% of total importance</a:t>
            </a:r>
          </a:p>
        </p:txBody>
      </p:sp>
      <p:sp>
        <p:nvSpPr>
          <p:cNvPr id="10" name="Shape 10"/>
          <p:cNvSpPr/>
          <p:nvPr/>
        </p:nvSpPr>
        <p:spPr>
          <a:xfrm>
            <a:off x="420000" y="2080000"/>
            <a:ext cx="5070000" cy="3500000"/>
          </a:xfrm>
          <a:prstGeom prst="roundRect">
            <a:avLst/>
          </a:prstGeom>
          <a:solidFill>
            <a:srgbClr val="EEF6F8"/>
          </a:solidFill>
          <a:ln>
            <a:noFill/>
          </a:ln>
        </p:spPr>
        <p:txBody>
          <a:bodyPr rtlCol="0" anchor="ctr"/>
          <a:lstStyle/>
          <a:p>
            <a:endParaRPr/>
          </a:p>
        </p:txBody>
      </p:sp>
      <p:sp>
        <p:nvSpPr>
          <p:cNvPr id="11" name="Shape 11"/>
          <p:cNvSpPr/>
          <p:nvPr/>
        </p:nvSpPr>
        <p:spPr>
          <a:xfrm>
            <a:off x="5680000" y="2080000"/>
            <a:ext cx="3040000" cy="3500000"/>
          </a:xfrm>
          <a:prstGeom prst="roundRect">
            <a:avLst/>
          </a:prstGeom>
          <a:solidFill>
            <a:srgbClr val="E5F4F2"/>
          </a:solidFill>
          <a:ln>
            <a:noFill/>
          </a:ln>
        </p:spPr>
        <p:txBody>
          <a:bodyPr rtlCol="0" anchor="ctr"/>
          <a:lstStyle/>
          <a:p>
            <a:endParaRPr/>
          </a:p>
        </p:txBody>
      </p:sp>
      <p:sp>
        <p:nvSpPr>
          <p:cNvPr id="12" name="TextBox 12"/>
          <p:cNvSpPr txBox="1"/>
          <p:nvPr/>
        </p:nvSpPr>
        <p:spPr>
          <a:xfrm>
            <a:off x="590000" y="2230000"/>
            <a:ext cx="4660000" cy="300000"/>
          </a:xfrm>
          <a:prstGeom prst="rect">
            <a:avLst/>
          </a:prstGeom>
        </p:spPr>
        <p:txBody>
          <a:bodyPr wrap="square" rtlCol="0">
            <a:spAutoFit/>
          </a:bodyPr>
          <a:lstStyle/>
          <a:p>
            <a:r>
              <a:rPr sz="1050" b="1">
                <a:solidFill>
                  <a:srgbClr val="087F8C"/>
                </a:solidFill>
                <a:latin typeface="Aptos"/>
              </a:rPr>
              <a:t>RANDOM FOREST | GLOBAL FEATURE IMPORTANCE</a:t>
            </a:r>
          </a:p>
        </p:txBody>
      </p:sp>
      <p:sp>
        <p:nvSpPr>
          <p:cNvPr id="13" name="TextBox 13"/>
          <p:cNvSpPr txBox="1"/>
          <p:nvPr/>
        </p:nvSpPr>
        <p:spPr>
          <a:xfrm>
            <a:off x="5840000" y="2290000"/>
            <a:ext cx="2680000" cy="760000"/>
          </a:xfrm>
          <a:prstGeom prst="rect">
            <a:avLst/>
          </a:prstGeom>
        </p:spPr>
        <p:txBody>
          <a:bodyPr wrap="square" rtlCol="0">
            <a:spAutoFit/>
          </a:bodyPr>
          <a:lstStyle/>
          <a:p>
            <a:r>
              <a:rPr sz="2300" b="1">
                <a:solidFill>
                  <a:srgbClr val="102A43"/>
                </a:solidFill>
                <a:latin typeface="Aptos Display"/>
              </a:rPr>
              <a:t>Tenure leads</a:t>
            </a:r>
          </a:p>
          <a:p>
            <a:r>
              <a:rPr sz="1900" b="1">
                <a:solidFill>
                  <a:srgbClr val="087F8C"/>
                </a:solidFill>
                <a:latin typeface="Aptos Display"/>
              </a:rPr>
              <a:t>24.6% importance</a:t>
            </a:r>
          </a:p>
        </p:txBody>
      </p:sp>
      <p:sp>
        <p:nvSpPr>
          <p:cNvPr id="14" name="TextBox 14"/>
          <p:cNvSpPr txBox="1"/>
          <p:nvPr/>
        </p:nvSpPr>
        <p:spPr>
          <a:xfrm>
            <a:off x="5840000" y="3500000"/>
            <a:ext cx="2680000" cy="840000"/>
          </a:xfrm>
          <a:prstGeom prst="rect">
            <a:avLst/>
          </a:prstGeom>
        </p:spPr>
        <p:txBody>
          <a:bodyPr wrap="square" rtlCol="0">
            <a:spAutoFit/>
          </a:bodyPr>
          <a:lstStyle/>
          <a:p>
            <a:r>
              <a:rPr sz="1150">
                <a:solidFill>
                  <a:srgbClr val="102A43"/>
                </a:solidFill>
                <a:latin typeface="Aptos"/>
              </a:rPr>
              <a:t>Short tenure / fewer orders</a:t>
            </a:r>
          </a:p>
          <a:p>
            <a:r>
              <a:rPr sz="1150">
                <a:solidFill>
                  <a:srgbClr val="102A43"/>
                </a:solidFill>
                <a:latin typeface="Aptos"/>
              </a:rPr>
              <a:t>Lower rewards / longer gaps</a:t>
            </a:r>
          </a:p>
          <a:p>
            <a:r>
              <a:rPr sz="1150">
                <a:solidFill>
                  <a:srgbClr val="102A43"/>
                </a:solidFill>
                <a:latin typeface="Aptos"/>
              </a:rPr>
              <a:t>Complaints / low satisfaction</a:t>
            </a:r>
          </a:p>
          <a:p>
            <a:r>
              <a:rPr sz="1000">
                <a:solidFill>
                  <a:srgbClr val="526879"/>
                </a:solidFill>
                <a:latin typeface="Aptos"/>
              </a:rPr>
              <a:t>Direction needs separate evidence.</a:t>
            </a:r>
          </a:p>
        </p:txBody>
      </p:sp>
      <p:sp>
        <p:nvSpPr>
          <p:cNvPr id="15" name="TextBox 15"/>
          <p:cNvSpPr txBox="1"/>
          <p:nvPr/>
        </p:nvSpPr>
        <p:spPr>
          <a:xfrm>
            <a:off x="5840000" y="3150000"/>
            <a:ext cx="2680000" cy="300000"/>
          </a:xfrm>
          <a:prstGeom prst="rect">
            <a:avLst/>
          </a:prstGeom>
        </p:spPr>
        <p:txBody>
          <a:bodyPr wrap="square" rtlCol="0">
            <a:spAutoFit/>
          </a:bodyPr>
          <a:lstStyle/>
          <a:p>
            <a:r>
              <a:rPr sz="1050" b="1">
                <a:solidFill>
                  <a:srgbClr val="087F8C"/>
                </a:solidFill>
                <a:latin typeface="Aptos"/>
              </a:rPr>
              <a:t>HYPOTHESES TO VALIDATE</a:t>
            </a:r>
          </a:p>
        </p:txBody>
      </p:sp>
      <p:sp>
        <p:nvSpPr>
          <p:cNvPr id="16" name="TextBox 16"/>
          <p:cNvSpPr txBox="1"/>
          <p:nvPr/>
        </p:nvSpPr>
        <p:spPr>
          <a:xfrm>
            <a:off x="590000" y="5100000"/>
            <a:ext cx="4660000" cy="420000"/>
          </a:xfrm>
          <a:prstGeom prst="rect">
            <a:avLst/>
          </a:prstGeom>
        </p:spPr>
        <p:txBody>
          <a:bodyPr wrap="square" rtlCol="0">
            <a:spAutoFit/>
          </a:bodyPr>
          <a:lstStyle/>
          <a:p>
            <a:r>
              <a:rPr sz="1100" b="1">
                <a:solidFill>
                  <a:srgbClr val="102A43"/>
                </a:solidFill>
                <a:latin typeface="Aptos"/>
              </a:rPr>
              <a:t>Top 10: 72.0% | Remaining features: 28.0%</a:t>
            </a:r>
          </a:p>
          <a:p>
            <a:r>
              <a:rPr sz="1000">
                <a:solidFill>
                  <a:srgbClr val="526879"/>
                </a:solidFill>
                <a:latin typeface="Aptos"/>
              </a:rPr>
              <a:t>Importance is not the share of churn caused by each feature.</a:t>
            </a:r>
          </a:p>
        </p:txBody>
      </p:sp>
      <p:sp>
        <p:nvSpPr>
          <p:cNvPr id="17" name="TextBox 17"/>
          <p:cNvSpPr txBox="1"/>
          <p:nvPr/>
        </p:nvSpPr>
        <p:spPr>
          <a:xfrm>
            <a:off x="5840000" y="4550000"/>
            <a:ext cx="2680000" cy="870000"/>
          </a:xfrm>
          <a:prstGeom prst="rect">
            <a:avLst/>
          </a:prstGeom>
        </p:spPr>
        <p:txBody>
          <a:bodyPr wrap="square" rtlCol="0">
            <a:spAutoFit/>
          </a:bodyPr>
          <a:lstStyle/>
          <a:p>
            <a:r>
              <a:rPr sz="1050" b="1">
                <a:solidFill>
                  <a:srgbClr val="087F8C"/>
                </a:solidFill>
                <a:latin typeface="Aptos"/>
              </a:rPr>
              <a:t>NEXT: MEMBER ACTIVATION</a:t>
            </a:r>
          </a:p>
          <a:p>
            <a:r>
              <a:rPr sz="1150">
                <a:solidFill>
                  <a:srgbClr val="102A43"/>
                </a:solidFill>
                <a:latin typeface="Aptos"/>
              </a:rPr>
              <a:t>Publish versioned risk scores</a:t>
            </a:r>
          </a:p>
          <a:p>
            <a:r>
              <a:rPr sz="1150">
                <a:solidFill>
                  <a:srgbClr val="102A43"/>
                </a:solidFill>
                <a:latin typeface="Aptos"/>
              </a:rPr>
              <a:t>Review approved cohorts</a:t>
            </a:r>
          </a:p>
          <a:p>
            <a:r>
              <a:rPr sz="1150">
                <a:solidFill>
                  <a:srgbClr val="102A43"/>
                </a:solidFill>
                <a:latin typeface="Aptos"/>
              </a:rPr>
              <a:t>Test outreach, then measure</a:t>
            </a:r>
          </a:p>
        </p:txBody>
      </p:sp>
      <p:sp>
        <p:nvSpPr>
          <p:cNvPr id="18" name="Shape 18"/>
          <p:cNvSpPr/>
          <p:nvPr/>
        </p:nvSpPr>
        <p:spPr>
          <a:xfrm>
            <a:off x="420000" y="5650000"/>
            <a:ext cx="8300000" cy="420000"/>
          </a:xfrm>
          <a:prstGeom prst="roundRect">
            <a:avLst/>
          </a:prstGeom>
          <a:solidFill>
            <a:srgbClr val="102A43"/>
          </a:solidFill>
          <a:ln>
            <a:noFill/>
          </a:ln>
        </p:spPr>
        <p:txBody>
          <a:bodyPr rtlCol="0" anchor="ctr"/>
          <a:lstStyle/>
          <a:p>
            <a:endParaRPr/>
          </a:p>
        </p:txBody>
      </p:sp>
      <p:sp>
        <p:nvSpPr>
          <p:cNvPr id="19" name="TextBox 19"/>
          <p:cNvSpPr txBox="1"/>
          <p:nvPr/>
        </p:nvSpPr>
        <p:spPr>
          <a:xfrm>
            <a:off x="580000" y="5690000"/>
            <a:ext cx="7950000" cy="276999"/>
          </a:xfrm>
          <a:prstGeom prst="rect">
            <a:avLst/>
          </a:prstGeom>
        </p:spPr>
        <p:txBody>
          <a:bodyPr wrap="square" rtlCol="0">
            <a:spAutoFit/>
          </a:bodyPr>
          <a:lstStyle/>
          <a:p>
            <a:r>
              <a:rPr sz="1200" b="1" dirty="0">
                <a:solidFill>
                  <a:srgbClr val="FFFFFF"/>
                </a:solidFill>
                <a:latin typeface="Aptos"/>
              </a:rPr>
              <a:t>ASK GENIE: Rank the churn features in </a:t>
            </a:r>
            <a:r>
              <a:rPr sz="1200" b="1" dirty="0" err="1">
                <a:solidFill>
                  <a:srgbClr val="FFFFFF"/>
                </a:solidFill>
                <a:latin typeface="Aptos"/>
              </a:rPr>
              <a:t>model_findings</a:t>
            </a:r>
            <a:r>
              <a:rPr sz="1200" b="1" dirty="0">
                <a:solidFill>
                  <a:srgbClr val="FFFFFF"/>
                </a:solidFill>
                <a:latin typeface="Aptos"/>
              </a:rPr>
              <a:t>.</a:t>
            </a:r>
          </a:p>
        </p:txBody>
      </p:sp>
      <p:sp>
        <p:nvSpPr>
          <p:cNvPr id="20" name="TextBox 20"/>
          <p:cNvSpPr txBox="1"/>
          <p:nvPr/>
        </p:nvSpPr>
        <p:spPr>
          <a:xfrm>
            <a:off x="420000" y="6120000"/>
            <a:ext cx="8300000" cy="200000"/>
          </a:xfrm>
          <a:prstGeom prst="rect">
            <a:avLst/>
          </a:prstGeom>
        </p:spPr>
        <p:txBody>
          <a:bodyPr wrap="square" rtlCol="0">
            <a:spAutoFit/>
          </a:bodyPr>
          <a:lstStyle/>
          <a:p>
            <a:r>
              <a:rPr sz="950">
                <a:solidFill>
                  <a:srgbClr val="8C5116"/>
                </a:solidFill>
                <a:latin typeface="Aptos"/>
              </a:rPr>
              <a:t>Global importance does not establish direction, causation or predictive accuracy.</a:t>
            </a:r>
          </a:p>
        </p:txBody>
      </p:sp>
      <p:sp>
        <p:nvSpPr>
          <p:cNvPr id="21" name="TextBox 21"/>
          <p:cNvSpPr txBox="1"/>
          <p:nvPr/>
        </p:nvSpPr>
        <p:spPr>
          <a:xfrm>
            <a:off x="590000" y="2600000"/>
            <a:ext cx="2520000" cy="230000"/>
          </a:xfrm>
          <a:prstGeom prst="rect">
            <a:avLst/>
          </a:prstGeom>
        </p:spPr>
        <p:txBody>
          <a:bodyPr wrap="square" rtlCol="0">
            <a:spAutoFit/>
          </a:bodyPr>
          <a:lstStyle/>
          <a:p>
            <a:r>
              <a:rPr sz="1050" b="1">
                <a:solidFill>
                  <a:srgbClr val="102A43"/>
                </a:solidFill>
                <a:latin typeface="Aptos"/>
              </a:rPr>
              <a:t>1   Tenure</a:t>
            </a:r>
          </a:p>
        </p:txBody>
      </p:sp>
      <p:sp>
        <p:nvSpPr>
          <p:cNvPr id="22" name="Shape 22"/>
          <p:cNvSpPr/>
          <p:nvPr/>
        </p:nvSpPr>
        <p:spPr>
          <a:xfrm>
            <a:off x="3160000" y="2660000"/>
            <a:ext cx="1450000" cy="100000"/>
          </a:xfrm>
          <a:prstGeom prst="rect">
            <a:avLst/>
          </a:prstGeom>
          <a:solidFill>
            <a:srgbClr val="087F8C"/>
          </a:solidFill>
          <a:ln>
            <a:noFill/>
          </a:ln>
        </p:spPr>
        <p:txBody>
          <a:bodyPr rtlCol="0" anchor="ctr"/>
          <a:lstStyle/>
          <a:p>
            <a:endParaRPr/>
          </a:p>
        </p:txBody>
      </p:sp>
      <p:sp>
        <p:nvSpPr>
          <p:cNvPr id="23" name="TextBox 23"/>
          <p:cNvSpPr txBox="1"/>
          <p:nvPr/>
        </p:nvSpPr>
        <p:spPr>
          <a:xfrm>
            <a:off x="4680000" y="2600000"/>
            <a:ext cx="710000" cy="230000"/>
          </a:xfrm>
          <a:prstGeom prst="rect">
            <a:avLst/>
          </a:prstGeom>
        </p:spPr>
        <p:txBody>
          <a:bodyPr wrap="square" rtlCol="0">
            <a:spAutoFit/>
          </a:bodyPr>
          <a:lstStyle/>
          <a:p>
            <a:r>
              <a:rPr sz="1050" b="1">
                <a:solidFill>
                  <a:srgbClr val="087F8C"/>
                </a:solidFill>
                <a:latin typeface="Aptos"/>
              </a:rPr>
              <a:t>24.6%</a:t>
            </a:r>
          </a:p>
        </p:txBody>
      </p:sp>
      <p:sp>
        <p:nvSpPr>
          <p:cNvPr id="24" name="TextBox 24"/>
          <p:cNvSpPr txBox="1"/>
          <p:nvPr/>
        </p:nvSpPr>
        <p:spPr>
          <a:xfrm>
            <a:off x="590000" y="2835000"/>
            <a:ext cx="2520000" cy="230000"/>
          </a:xfrm>
          <a:prstGeom prst="rect">
            <a:avLst/>
          </a:prstGeom>
        </p:spPr>
        <p:txBody>
          <a:bodyPr wrap="square" rtlCol="0">
            <a:spAutoFit/>
          </a:bodyPr>
          <a:lstStyle/>
          <a:p>
            <a:r>
              <a:rPr sz="1050">
                <a:solidFill>
                  <a:srgbClr val="102A43"/>
                </a:solidFill>
                <a:latin typeface="Aptos"/>
              </a:rPr>
              <a:t>2   CashbackAmount</a:t>
            </a:r>
          </a:p>
        </p:txBody>
      </p:sp>
      <p:sp>
        <p:nvSpPr>
          <p:cNvPr id="25" name="Shape 25"/>
          <p:cNvSpPr/>
          <p:nvPr/>
        </p:nvSpPr>
        <p:spPr>
          <a:xfrm>
            <a:off x="3160000" y="2895000"/>
            <a:ext cx="518699" cy="100000"/>
          </a:xfrm>
          <a:prstGeom prst="rect">
            <a:avLst/>
          </a:prstGeom>
          <a:solidFill>
            <a:srgbClr val="66ADB5"/>
          </a:solidFill>
          <a:ln>
            <a:noFill/>
          </a:ln>
        </p:spPr>
        <p:txBody>
          <a:bodyPr rtlCol="0" anchor="ctr"/>
          <a:lstStyle/>
          <a:p>
            <a:endParaRPr/>
          </a:p>
        </p:txBody>
      </p:sp>
      <p:sp>
        <p:nvSpPr>
          <p:cNvPr id="26" name="TextBox 26"/>
          <p:cNvSpPr txBox="1"/>
          <p:nvPr/>
        </p:nvSpPr>
        <p:spPr>
          <a:xfrm>
            <a:off x="4680000" y="2835000"/>
            <a:ext cx="710000" cy="230000"/>
          </a:xfrm>
          <a:prstGeom prst="rect">
            <a:avLst/>
          </a:prstGeom>
        </p:spPr>
        <p:txBody>
          <a:bodyPr wrap="square" rtlCol="0">
            <a:spAutoFit/>
          </a:bodyPr>
          <a:lstStyle/>
          <a:p>
            <a:r>
              <a:rPr sz="1050">
                <a:solidFill>
                  <a:srgbClr val="102A43"/>
                </a:solidFill>
                <a:latin typeface="Aptos"/>
              </a:rPr>
              <a:t>8.8%</a:t>
            </a:r>
          </a:p>
        </p:txBody>
      </p:sp>
      <p:sp>
        <p:nvSpPr>
          <p:cNvPr id="27" name="TextBox 27"/>
          <p:cNvSpPr txBox="1"/>
          <p:nvPr/>
        </p:nvSpPr>
        <p:spPr>
          <a:xfrm>
            <a:off x="590000" y="3070000"/>
            <a:ext cx="2520000" cy="230000"/>
          </a:xfrm>
          <a:prstGeom prst="rect">
            <a:avLst/>
          </a:prstGeom>
        </p:spPr>
        <p:txBody>
          <a:bodyPr wrap="square" rtlCol="0">
            <a:spAutoFit/>
          </a:bodyPr>
          <a:lstStyle/>
          <a:p>
            <a:r>
              <a:rPr sz="1050">
                <a:solidFill>
                  <a:srgbClr val="102A43"/>
                </a:solidFill>
                <a:latin typeface="Aptos"/>
              </a:rPr>
              <a:t>3   WarehouseToHome</a:t>
            </a:r>
          </a:p>
        </p:txBody>
      </p:sp>
      <p:sp>
        <p:nvSpPr>
          <p:cNvPr id="28" name="Shape 28"/>
          <p:cNvSpPr/>
          <p:nvPr/>
        </p:nvSpPr>
        <p:spPr>
          <a:xfrm>
            <a:off x="3160000" y="3130000"/>
            <a:ext cx="365447" cy="100000"/>
          </a:xfrm>
          <a:prstGeom prst="rect">
            <a:avLst/>
          </a:prstGeom>
          <a:solidFill>
            <a:srgbClr val="66ADB5"/>
          </a:solidFill>
          <a:ln>
            <a:noFill/>
          </a:ln>
        </p:spPr>
        <p:txBody>
          <a:bodyPr rtlCol="0" anchor="ctr"/>
          <a:lstStyle/>
          <a:p>
            <a:endParaRPr/>
          </a:p>
        </p:txBody>
      </p:sp>
      <p:sp>
        <p:nvSpPr>
          <p:cNvPr id="29" name="TextBox 29"/>
          <p:cNvSpPr txBox="1"/>
          <p:nvPr/>
        </p:nvSpPr>
        <p:spPr>
          <a:xfrm>
            <a:off x="4680000" y="3070000"/>
            <a:ext cx="710000" cy="230000"/>
          </a:xfrm>
          <a:prstGeom prst="rect">
            <a:avLst/>
          </a:prstGeom>
        </p:spPr>
        <p:txBody>
          <a:bodyPr wrap="square" rtlCol="0">
            <a:spAutoFit/>
          </a:bodyPr>
          <a:lstStyle/>
          <a:p>
            <a:r>
              <a:rPr sz="1050">
                <a:solidFill>
                  <a:srgbClr val="102A43"/>
                </a:solidFill>
                <a:latin typeface="Aptos"/>
              </a:rPr>
              <a:t>6.2%</a:t>
            </a:r>
          </a:p>
        </p:txBody>
      </p:sp>
      <p:sp>
        <p:nvSpPr>
          <p:cNvPr id="30" name="TextBox 30"/>
          <p:cNvSpPr txBox="1"/>
          <p:nvPr/>
        </p:nvSpPr>
        <p:spPr>
          <a:xfrm>
            <a:off x="590000" y="3305000"/>
            <a:ext cx="2520000" cy="230000"/>
          </a:xfrm>
          <a:prstGeom prst="rect">
            <a:avLst/>
          </a:prstGeom>
        </p:spPr>
        <p:txBody>
          <a:bodyPr wrap="square" rtlCol="0">
            <a:spAutoFit/>
          </a:bodyPr>
          <a:lstStyle/>
          <a:p>
            <a:r>
              <a:rPr sz="1050">
                <a:solidFill>
                  <a:srgbClr val="102A43"/>
                </a:solidFill>
                <a:latin typeface="Aptos"/>
              </a:rPr>
              <a:t>4   Complain</a:t>
            </a:r>
          </a:p>
        </p:txBody>
      </p:sp>
      <p:sp>
        <p:nvSpPr>
          <p:cNvPr id="31" name="Shape 31"/>
          <p:cNvSpPr/>
          <p:nvPr/>
        </p:nvSpPr>
        <p:spPr>
          <a:xfrm>
            <a:off x="3160000" y="3365000"/>
            <a:ext cx="359553" cy="100000"/>
          </a:xfrm>
          <a:prstGeom prst="rect">
            <a:avLst/>
          </a:prstGeom>
          <a:solidFill>
            <a:srgbClr val="66ADB5"/>
          </a:solidFill>
          <a:ln>
            <a:noFill/>
          </a:ln>
        </p:spPr>
        <p:txBody>
          <a:bodyPr rtlCol="0" anchor="ctr"/>
          <a:lstStyle/>
          <a:p>
            <a:endParaRPr/>
          </a:p>
        </p:txBody>
      </p:sp>
      <p:sp>
        <p:nvSpPr>
          <p:cNvPr id="32" name="TextBox 32"/>
          <p:cNvSpPr txBox="1"/>
          <p:nvPr/>
        </p:nvSpPr>
        <p:spPr>
          <a:xfrm>
            <a:off x="4680000" y="3305000"/>
            <a:ext cx="710000" cy="230000"/>
          </a:xfrm>
          <a:prstGeom prst="rect">
            <a:avLst/>
          </a:prstGeom>
        </p:spPr>
        <p:txBody>
          <a:bodyPr wrap="square" rtlCol="0">
            <a:spAutoFit/>
          </a:bodyPr>
          <a:lstStyle/>
          <a:p>
            <a:r>
              <a:rPr sz="1050">
                <a:solidFill>
                  <a:srgbClr val="102A43"/>
                </a:solidFill>
                <a:latin typeface="Aptos"/>
              </a:rPr>
              <a:t>6.1%</a:t>
            </a:r>
          </a:p>
        </p:txBody>
      </p:sp>
      <p:sp>
        <p:nvSpPr>
          <p:cNvPr id="33" name="TextBox 33"/>
          <p:cNvSpPr txBox="1"/>
          <p:nvPr/>
        </p:nvSpPr>
        <p:spPr>
          <a:xfrm>
            <a:off x="590000" y="3540000"/>
            <a:ext cx="2520000" cy="230000"/>
          </a:xfrm>
          <a:prstGeom prst="rect">
            <a:avLst/>
          </a:prstGeom>
        </p:spPr>
        <p:txBody>
          <a:bodyPr wrap="square" rtlCol="0">
            <a:spAutoFit/>
          </a:bodyPr>
          <a:lstStyle/>
          <a:p>
            <a:r>
              <a:rPr sz="1050">
                <a:solidFill>
                  <a:srgbClr val="102A43"/>
                </a:solidFill>
                <a:latin typeface="Aptos"/>
              </a:rPr>
              <a:t>5   DaySinceLastOrder</a:t>
            </a:r>
          </a:p>
        </p:txBody>
      </p:sp>
      <p:sp>
        <p:nvSpPr>
          <p:cNvPr id="34" name="Shape 34"/>
          <p:cNvSpPr/>
          <p:nvPr/>
        </p:nvSpPr>
        <p:spPr>
          <a:xfrm>
            <a:off x="3160000" y="3600000"/>
            <a:ext cx="341870" cy="100000"/>
          </a:xfrm>
          <a:prstGeom prst="rect">
            <a:avLst/>
          </a:prstGeom>
          <a:solidFill>
            <a:srgbClr val="66ADB5"/>
          </a:solidFill>
          <a:ln>
            <a:noFill/>
          </a:ln>
        </p:spPr>
        <p:txBody>
          <a:bodyPr rtlCol="0" anchor="ctr"/>
          <a:lstStyle/>
          <a:p>
            <a:endParaRPr/>
          </a:p>
        </p:txBody>
      </p:sp>
      <p:sp>
        <p:nvSpPr>
          <p:cNvPr id="35" name="TextBox 35"/>
          <p:cNvSpPr txBox="1"/>
          <p:nvPr/>
        </p:nvSpPr>
        <p:spPr>
          <a:xfrm>
            <a:off x="4680000" y="3540000"/>
            <a:ext cx="710000" cy="230000"/>
          </a:xfrm>
          <a:prstGeom prst="rect">
            <a:avLst/>
          </a:prstGeom>
        </p:spPr>
        <p:txBody>
          <a:bodyPr wrap="square" rtlCol="0">
            <a:spAutoFit/>
          </a:bodyPr>
          <a:lstStyle/>
          <a:p>
            <a:r>
              <a:rPr sz="1050">
                <a:solidFill>
                  <a:srgbClr val="102A43"/>
                </a:solidFill>
                <a:latin typeface="Aptos"/>
              </a:rPr>
              <a:t>5.8%</a:t>
            </a:r>
          </a:p>
        </p:txBody>
      </p:sp>
      <p:sp>
        <p:nvSpPr>
          <p:cNvPr id="36" name="TextBox 36"/>
          <p:cNvSpPr txBox="1"/>
          <p:nvPr/>
        </p:nvSpPr>
        <p:spPr>
          <a:xfrm>
            <a:off x="590000" y="3775000"/>
            <a:ext cx="2520000" cy="230000"/>
          </a:xfrm>
          <a:prstGeom prst="rect">
            <a:avLst/>
          </a:prstGeom>
        </p:spPr>
        <p:txBody>
          <a:bodyPr wrap="square" rtlCol="0">
            <a:spAutoFit/>
          </a:bodyPr>
          <a:lstStyle/>
          <a:p>
            <a:r>
              <a:rPr sz="1050">
                <a:solidFill>
                  <a:srgbClr val="102A43"/>
                </a:solidFill>
                <a:latin typeface="Aptos"/>
              </a:rPr>
              <a:t>6   NumberOfAddress</a:t>
            </a:r>
          </a:p>
        </p:txBody>
      </p:sp>
      <p:sp>
        <p:nvSpPr>
          <p:cNvPr id="37" name="Shape 37"/>
          <p:cNvSpPr/>
          <p:nvPr/>
        </p:nvSpPr>
        <p:spPr>
          <a:xfrm>
            <a:off x="3160000" y="3835000"/>
            <a:ext cx="306504" cy="100000"/>
          </a:xfrm>
          <a:prstGeom prst="rect">
            <a:avLst/>
          </a:prstGeom>
          <a:solidFill>
            <a:srgbClr val="66ADB5"/>
          </a:solidFill>
          <a:ln>
            <a:noFill/>
          </a:ln>
        </p:spPr>
        <p:txBody>
          <a:bodyPr rtlCol="0" anchor="ctr"/>
          <a:lstStyle/>
          <a:p>
            <a:endParaRPr/>
          </a:p>
        </p:txBody>
      </p:sp>
      <p:sp>
        <p:nvSpPr>
          <p:cNvPr id="38" name="TextBox 38"/>
          <p:cNvSpPr txBox="1"/>
          <p:nvPr/>
        </p:nvSpPr>
        <p:spPr>
          <a:xfrm>
            <a:off x="4680000" y="3775000"/>
            <a:ext cx="710000" cy="230000"/>
          </a:xfrm>
          <a:prstGeom prst="rect">
            <a:avLst/>
          </a:prstGeom>
        </p:spPr>
        <p:txBody>
          <a:bodyPr wrap="square" rtlCol="0">
            <a:spAutoFit/>
          </a:bodyPr>
          <a:lstStyle/>
          <a:p>
            <a:r>
              <a:rPr sz="1050">
                <a:solidFill>
                  <a:srgbClr val="102A43"/>
                </a:solidFill>
                <a:latin typeface="Aptos"/>
              </a:rPr>
              <a:t>5.2%</a:t>
            </a:r>
          </a:p>
        </p:txBody>
      </p:sp>
      <p:sp>
        <p:nvSpPr>
          <p:cNvPr id="39" name="TextBox 39"/>
          <p:cNvSpPr txBox="1"/>
          <p:nvPr/>
        </p:nvSpPr>
        <p:spPr>
          <a:xfrm>
            <a:off x="590000" y="4010000"/>
            <a:ext cx="2520000" cy="230000"/>
          </a:xfrm>
          <a:prstGeom prst="rect">
            <a:avLst/>
          </a:prstGeom>
        </p:spPr>
        <p:txBody>
          <a:bodyPr wrap="square" rtlCol="0">
            <a:spAutoFit/>
          </a:bodyPr>
          <a:lstStyle/>
          <a:p>
            <a:r>
              <a:rPr sz="950">
                <a:solidFill>
                  <a:srgbClr val="102A43"/>
                </a:solidFill>
                <a:latin typeface="Aptos"/>
              </a:rPr>
              <a:t>7   OrderAmountHikeFromlastYear</a:t>
            </a:r>
          </a:p>
        </p:txBody>
      </p:sp>
      <p:sp>
        <p:nvSpPr>
          <p:cNvPr id="40" name="Shape 40"/>
          <p:cNvSpPr/>
          <p:nvPr/>
        </p:nvSpPr>
        <p:spPr>
          <a:xfrm>
            <a:off x="3160000" y="4070000"/>
            <a:ext cx="300610" cy="100000"/>
          </a:xfrm>
          <a:prstGeom prst="rect">
            <a:avLst/>
          </a:prstGeom>
          <a:solidFill>
            <a:srgbClr val="66ADB5"/>
          </a:solidFill>
          <a:ln>
            <a:noFill/>
          </a:ln>
        </p:spPr>
        <p:txBody>
          <a:bodyPr rtlCol="0" anchor="ctr"/>
          <a:lstStyle/>
          <a:p>
            <a:endParaRPr/>
          </a:p>
        </p:txBody>
      </p:sp>
      <p:sp>
        <p:nvSpPr>
          <p:cNvPr id="41" name="TextBox 41"/>
          <p:cNvSpPr txBox="1"/>
          <p:nvPr/>
        </p:nvSpPr>
        <p:spPr>
          <a:xfrm>
            <a:off x="4680000" y="4010000"/>
            <a:ext cx="710000" cy="230000"/>
          </a:xfrm>
          <a:prstGeom prst="rect">
            <a:avLst/>
          </a:prstGeom>
        </p:spPr>
        <p:txBody>
          <a:bodyPr wrap="square" rtlCol="0">
            <a:spAutoFit/>
          </a:bodyPr>
          <a:lstStyle/>
          <a:p>
            <a:r>
              <a:rPr sz="1050">
                <a:solidFill>
                  <a:srgbClr val="102A43"/>
                </a:solidFill>
                <a:latin typeface="Aptos"/>
              </a:rPr>
              <a:t>5.1%</a:t>
            </a:r>
          </a:p>
        </p:txBody>
      </p:sp>
      <p:sp>
        <p:nvSpPr>
          <p:cNvPr id="42" name="TextBox 42"/>
          <p:cNvSpPr txBox="1"/>
          <p:nvPr/>
        </p:nvSpPr>
        <p:spPr>
          <a:xfrm>
            <a:off x="590000" y="4245000"/>
            <a:ext cx="2520000" cy="230000"/>
          </a:xfrm>
          <a:prstGeom prst="rect">
            <a:avLst/>
          </a:prstGeom>
        </p:spPr>
        <p:txBody>
          <a:bodyPr wrap="square" rtlCol="0">
            <a:spAutoFit/>
          </a:bodyPr>
          <a:lstStyle/>
          <a:p>
            <a:r>
              <a:rPr sz="1050">
                <a:solidFill>
                  <a:srgbClr val="102A43"/>
                </a:solidFill>
                <a:latin typeface="Aptos"/>
              </a:rPr>
              <a:t>8   SatisfactionScore</a:t>
            </a:r>
          </a:p>
        </p:txBody>
      </p:sp>
      <p:sp>
        <p:nvSpPr>
          <p:cNvPr id="43" name="Shape 43"/>
          <p:cNvSpPr/>
          <p:nvPr/>
        </p:nvSpPr>
        <p:spPr>
          <a:xfrm>
            <a:off x="3160000" y="4305000"/>
            <a:ext cx="259350" cy="100000"/>
          </a:xfrm>
          <a:prstGeom prst="rect">
            <a:avLst/>
          </a:prstGeom>
          <a:solidFill>
            <a:srgbClr val="66ADB5"/>
          </a:solidFill>
          <a:ln>
            <a:noFill/>
          </a:ln>
        </p:spPr>
        <p:txBody>
          <a:bodyPr rtlCol="0" anchor="ctr"/>
          <a:lstStyle/>
          <a:p>
            <a:endParaRPr/>
          </a:p>
        </p:txBody>
      </p:sp>
      <p:sp>
        <p:nvSpPr>
          <p:cNvPr id="44" name="TextBox 44"/>
          <p:cNvSpPr txBox="1"/>
          <p:nvPr/>
        </p:nvSpPr>
        <p:spPr>
          <a:xfrm>
            <a:off x="4680000" y="4245000"/>
            <a:ext cx="710000" cy="230000"/>
          </a:xfrm>
          <a:prstGeom prst="rect">
            <a:avLst/>
          </a:prstGeom>
        </p:spPr>
        <p:txBody>
          <a:bodyPr wrap="square" rtlCol="0">
            <a:spAutoFit/>
          </a:bodyPr>
          <a:lstStyle/>
          <a:p>
            <a:r>
              <a:rPr sz="1050">
                <a:solidFill>
                  <a:srgbClr val="102A43"/>
                </a:solidFill>
                <a:latin typeface="Aptos"/>
              </a:rPr>
              <a:t>4.4%</a:t>
            </a:r>
          </a:p>
        </p:txBody>
      </p:sp>
      <p:sp>
        <p:nvSpPr>
          <p:cNvPr id="45" name="TextBox 45"/>
          <p:cNvSpPr txBox="1"/>
          <p:nvPr/>
        </p:nvSpPr>
        <p:spPr>
          <a:xfrm>
            <a:off x="590000" y="4480000"/>
            <a:ext cx="2520000" cy="230000"/>
          </a:xfrm>
          <a:prstGeom prst="rect">
            <a:avLst/>
          </a:prstGeom>
        </p:spPr>
        <p:txBody>
          <a:bodyPr wrap="square" rtlCol="0">
            <a:spAutoFit/>
          </a:bodyPr>
          <a:lstStyle/>
          <a:p>
            <a:r>
              <a:rPr sz="1000">
                <a:solidFill>
                  <a:srgbClr val="102A43"/>
                </a:solidFill>
                <a:latin typeface="Aptos"/>
              </a:rPr>
              <a:t>9   NumberOfDeviceRegistered</a:t>
            </a:r>
          </a:p>
        </p:txBody>
      </p:sp>
      <p:sp>
        <p:nvSpPr>
          <p:cNvPr id="46" name="Shape 46"/>
          <p:cNvSpPr/>
          <p:nvPr/>
        </p:nvSpPr>
        <p:spPr>
          <a:xfrm>
            <a:off x="3160000" y="4540000"/>
            <a:ext cx="176829" cy="100000"/>
          </a:xfrm>
          <a:prstGeom prst="rect">
            <a:avLst/>
          </a:prstGeom>
          <a:solidFill>
            <a:srgbClr val="66ADB5"/>
          </a:solidFill>
          <a:ln>
            <a:noFill/>
          </a:ln>
        </p:spPr>
        <p:txBody>
          <a:bodyPr rtlCol="0" anchor="ctr"/>
          <a:lstStyle/>
          <a:p>
            <a:endParaRPr/>
          </a:p>
        </p:txBody>
      </p:sp>
      <p:sp>
        <p:nvSpPr>
          <p:cNvPr id="47" name="TextBox 47"/>
          <p:cNvSpPr txBox="1"/>
          <p:nvPr/>
        </p:nvSpPr>
        <p:spPr>
          <a:xfrm>
            <a:off x="4680000" y="4480000"/>
            <a:ext cx="710000" cy="230000"/>
          </a:xfrm>
          <a:prstGeom prst="rect">
            <a:avLst/>
          </a:prstGeom>
        </p:spPr>
        <p:txBody>
          <a:bodyPr wrap="square" rtlCol="0">
            <a:spAutoFit/>
          </a:bodyPr>
          <a:lstStyle/>
          <a:p>
            <a:r>
              <a:rPr sz="1050">
                <a:solidFill>
                  <a:srgbClr val="102A43"/>
                </a:solidFill>
                <a:latin typeface="Aptos"/>
              </a:rPr>
              <a:t>3.0%</a:t>
            </a:r>
          </a:p>
        </p:txBody>
      </p:sp>
      <p:sp>
        <p:nvSpPr>
          <p:cNvPr id="48" name="TextBox 48"/>
          <p:cNvSpPr txBox="1"/>
          <p:nvPr/>
        </p:nvSpPr>
        <p:spPr>
          <a:xfrm>
            <a:off x="590000" y="4715000"/>
            <a:ext cx="2520000" cy="230000"/>
          </a:xfrm>
          <a:prstGeom prst="rect">
            <a:avLst/>
          </a:prstGeom>
        </p:spPr>
        <p:txBody>
          <a:bodyPr wrap="square" rtlCol="0">
            <a:spAutoFit/>
          </a:bodyPr>
          <a:lstStyle/>
          <a:p>
            <a:r>
              <a:rPr sz="1050">
                <a:solidFill>
                  <a:srgbClr val="102A43"/>
                </a:solidFill>
                <a:latin typeface="Aptos"/>
              </a:rPr>
              <a:t>10  OrderCount</a:t>
            </a:r>
          </a:p>
        </p:txBody>
      </p:sp>
      <p:sp>
        <p:nvSpPr>
          <p:cNvPr id="49" name="Shape 49"/>
          <p:cNvSpPr/>
          <p:nvPr/>
        </p:nvSpPr>
        <p:spPr>
          <a:xfrm>
            <a:off x="3160000" y="4775000"/>
            <a:ext cx="165041" cy="100000"/>
          </a:xfrm>
          <a:prstGeom prst="rect">
            <a:avLst/>
          </a:prstGeom>
          <a:solidFill>
            <a:srgbClr val="66ADB5"/>
          </a:solidFill>
          <a:ln>
            <a:noFill/>
          </a:ln>
        </p:spPr>
        <p:txBody>
          <a:bodyPr rtlCol="0" anchor="ctr"/>
          <a:lstStyle/>
          <a:p>
            <a:endParaRPr/>
          </a:p>
        </p:txBody>
      </p:sp>
      <p:sp>
        <p:nvSpPr>
          <p:cNvPr id="50" name="TextBox 50"/>
          <p:cNvSpPr txBox="1"/>
          <p:nvPr/>
        </p:nvSpPr>
        <p:spPr>
          <a:xfrm>
            <a:off x="4680000" y="4715000"/>
            <a:ext cx="710000" cy="230000"/>
          </a:xfrm>
          <a:prstGeom prst="rect">
            <a:avLst/>
          </a:prstGeom>
        </p:spPr>
        <p:txBody>
          <a:bodyPr wrap="square" rtlCol="0">
            <a:spAutoFit/>
          </a:bodyPr>
          <a:lstStyle/>
          <a:p>
            <a:r>
              <a:rPr sz="1050">
                <a:solidFill>
                  <a:srgbClr val="102A43"/>
                </a:solidFill>
                <a:latin typeface="Aptos"/>
              </a:rPr>
              <a:t>2.8%</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9144000" cy="6858000"/>
          </a:xfrm>
          <a:prstGeom prst="rect">
            <a:avLst/>
          </a:prstGeom>
          <a:solidFill>
            <a:srgbClr val="F7FAFC"/>
          </a:solidFill>
          <a:ln>
            <a:noFill/>
          </a:ln>
        </p:spPr>
        <p:txBody>
          <a:bodyPr rtlCol="0" anchor="ctr"/>
          <a:lstStyle/>
          <a:p>
            <a:endParaRPr/>
          </a:p>
        </p:txBody>
      </p:sp>
      <p:sp>
        <p:nvSpPr>
          <p:cNvPr id="3" name="Shape 3"/>
          <p:cNvSpPr/>
          <p:nvPr/>
        </p:nvSpPr>
        <p:spPr>
          <a:xfrm>
            <a:off x="0" y="0"/>
            <a:ext cx="9144000" cy="85000"/>
          </a:xfrm>
          <a:prstGeom prst="rect">
            <a:avLst/>
          </a:prstGeom>
          <a:solidFill>
            <a:srgbClr val="087F8C"/>
          </a:solidFill>
          <a:ln>
            <a:noFill/>
          </a:ln>
        </p:spPr>
        <p:txBody>
          <a:bodyPr rtlCol="0" anchor="ctr"/>
          <a:lstStyle/>
          <a:p>
            <a:endParaRPr/>
          </a:p>
        </p:txBody>
      </p:sp>
      <p:sp>
        <p:nvSpPr>
          <p:cNvPr id="4" name="TextBox 4"/>
          <p:cNvSpPr txBox="1"/>
          <p:nvPr/>
        </p:nvSpPr>
        <p:spPr>
          <a:xfrm>
            <a:off x="420000" y="230000"/>
            <a:ext cx="8200000" cy="290000"/>
          </a:xfrm>
          <a:prstGeom prst="rect">
            <a:avLst/>
          </a:prstGeom>
        </p:spPr>
        <p:txBody>
          <a:bodyPr wrap="square" rtlCol="0">
            <a:spAutoFit/>
          </a:bodyPr>
          <a:lstStyle/>
          <a:p>
            <a:r>
              <a:rPr sz="1000" b="1">
                <a:solidFill>
                  <a:srgbClr val="087F8C"/>
                </a:solidFill>
                <a:latin typeface="Aptos"/>
              </a:rPr>
              <a:t>COSTCO  |  RETAIL INTELLIGENCE</a:t>
            </a:r>
          </a:p>
        </p:txBody>
      </p:sp>
      <p:sp>
        <p:nvSpPr>
          <p:cNvPr id="5" name="TextBox 5"/>
          <p:cNvSpPr txBox="1"/>
          <p:nvPr/>
        </p:nvSpPr>
        <p:spPr>
          <a:xfrm>
            <a:off x="420000" y="760000"/>
            <a:ext cx="8350000" cy="720000"/>
          </a:xfrm>
          <a:prstGeom prst="rect">
            <a:avLst/>
          </a:prstGeom>
        </p:spPr>
        <p:txBody>
          <a:bodyPr wrap="square" rtlCol="0">
            <a:spAutoFit/>
          </a:bodyPr>
          <a:lstStyle/>
          <a:p>
            <a:r>
              <a:rPr sz="2900" b="1">
                <a:solidFill>
                  <a:srgbClr val="102A43"/>
                </a:solidFill>
                <a:latin typeface="Aptos Display"/>
              </a:rPr>
              <a:t>Databricks features behind the value</a:t>
            </a:r>
          </a:p>
        </p:txBody>
      </p:sp>
      <p:sp>
        <p:nvSpPr>
          <p:cNvPr id="6" name="Shape 6"/>
          <p:cNvSpPr/>
          <p:nvPr/>
        </p:nvSpPr>
        <p:spPr>
          <a:xfrm>
            <a:off x="420000" y="6340000"/>
            <a:ext cx="8300000" cy="10000"/>
          </a:xfrm>
          <a:prstGeom prst="rect">
            <a:avLst/>
          </a:prstGeom>
          <a:solidFill>
            <a:srgbClr val="D6E1E8"/>
          </a:solidFill>
          <a:ln>
            <a:noFill/>
          </a:ln>
        </p:spPr>
        <p:txBody>
          <a:bodyPr rtlCol="0" anchor="ctr"/>
          <a:lstStyle/>
          <a:p>
            <a:endParaRPr/>
          </a:p>
        </p:txBody>
      </p:sp>
      <p:sp>
        <p:nvSpPr>
          <p:cNvPr id="7" name="TextBox 7"/>
          <p:cNvSpPr txBox="1"/>
          <p:nvPr/>
        </p:nvSpPr>
        <p:spPr>
          <a:xfrm>
            <a:off x="8070000" y="6480000"/>
            <a:ext cx="720000" cy="230832"/>
          </a:xfrm>
          <a:prstGeom prst="rect">
            <a:avLst/>
          </a:prstGeom>
        </p:spPr>
        <p:txBody>
          <a:bodyPr wrap="square" rtlCol="0">
            <a:spAutoFit/>
          </a:bodyPr>
          <a:lstStyle/>
          <a:p>
            <a:r>
              <a:rPr sz="900" b="1" dirty="0">
                <a:solidFill>
                  <a:srgbClr val="087F8C"/>
                </a:solidFill>
                <a:latin typeface="Aptos"/>
              </a:rPr>
              <a:t>0</a:t>
            </a:r>
            <a:r>
              <a:rPr lang="en-US" sz="900" b="1" dirty="0">
                <a:solidFill>
                  <a:srgbClr val="087F8C"/>
                </a:solidFill>
                <a:latin typeface="Aptos"/>
              </a:rPr>
              <a:t>5</a:t>
            </a:r>
            <a:r>
              <a:rPr sz="900" b="1" dirty="0">
                <a:solidFill>
                  <a:srgbClr val="087F8C"/>
                </a:solidFill>
                <a:latin typeface="Aptos"/>
              </a:rPr>
              <a:t> / 0</a:t>
            </a:r>
            <a:r>
              <a:rPr lang="en-US" sz="900" b="1" dirty="0">
                <a:solidFill>
                  <a:srgbClr val="087F8C"/>
                </a:solidFill>
                <a:latin typeface="Aptos"/>
              </a:rPr>
              <a:t>6</a:t>
            </a:r>
            <a:endParaRPr sz="900" b="1" dirty="0">
              <a:solidFill>
                <a:srgbClr val="087F8C"/>
              </a:solidFill>
              <a:latin typeface="Aptos"/>
            </a:endParaRPr>
          </a:p>
        </p:txBody>
      </p:sp>
      <p:sp>
        <p:nvSpPr>
          <p:cNvPr id="8" name="TextBox 8"/>
          <p:cNvSpPr txBox="1"/>
          <p:nvPr/>
        </p:nvSpPr>
        <p:spPr>
          <a:xfrm>
            <a:off x="420000" y="1550000"/>
            <a:ext cx="8300000" cy="380000"/>
          </a:xfrm>
          <a:prstGeom prst="rect">
            <a:avLst/>
          </a:prstGeom>
        </p:spPr>
        <p:txBody>
          <a:bodyPr wrap="square" rtlCol="0">
            <a:spAutoFit/>
          </a:bodyPr>
          <a:lstStyle/>
          <a:p>
            <a:r>
              <a:rPr sz="1350">
                <a:solidFill>
                  <a:srgbClr val="526879"/>
                </a:solidFill>
                <a:latin typeface="Aptos"/>
              </a:rPr>
              <a:t>One platform across ingestion, governance, ML and business decisions.</a:t>
            </a:r>
          </a:p>
        </p:txBody>
      </p:sp>
      <p:sp>
        <p:nvSpPr>
          <p:cNvPr id="9" name="Shape 9"/>
          <p:cNvSpPr/>
          <p:nvPr/>
        </p:nvSpPr>
        <p:spPr>
          <a:xfrm>
            <a:off x="420000" y="2130000"/>
            <a:ext cx="4000000" cy="950000"/>
          </a:xfrm>
          <a:prstGeom prst="roundRect">
            <a:avLst/>
          </a:prstGeom>
          <a:solidFill>
            <a:srgbClr val="E8F4F3"/>
          </a:solidFill>
          <a:ln>
            <a:noFill/>
          </a:ln>
        </p:spPr>
        <p:txBody>
          <a:bodyPr rtlCol="0" anchor="ctr"/>
          <a:lstStyle/>
          <a:p>
            <a:endParaRPr/>
          </a:p>
        </p:txBody>
      </p:sp>
      <p:sp>
        <p:nvSpPr>
          <p:cNvPr id="10" name="Shape 10"/>
          <p:cNvSpPr/>
          <p:nvPr/>
        </p:nvSpPr>
        <p:spPr>
          <a:xfrm>
            <a:off x="4690000" y="2130000"/>
            <a:ext cx="4030000" cy="950000"/>
          </a:xfrm>
          <a:prstGeom prst="roundRect">
            <a:avLst/>
          </a:prstGeom>
          <a:solidFill>
            <a:srgbClr val="E8EEF3"/>
          </a:solidFill>
          <a:ln>
            <a:noFill/>
          </a:ln>
        </p:spPr>
        <p:txBody>
          <a:bodyPr rtlCol="0" anchor="ctr"/>
          <a:lstStyle/>
          <a:p>
            <a:endParaRPr/>
          </a:p>
        </p:txBody>
      </p:sp>
      <p:sp>
        <p:nvSpPr>
          <p:cNvPr id="11" name="Shape 11"/>
          <p:cNvSpPr/>
          <p:nvPr/>
        </p:nvSpPr>
        <p:spPr>
          <a:xfrm>
            <a:off x="420000" y="3270000"/>
            <a:ext cx="4000000" cy="950000"/>
          </a:xfrm>
          <a:prstGeom prst="roundRect">
            <a:avLst/>
          </a:prstGeom>
          <a:solidFill>
            <a:srgbClr val="E8F4F3"/>
          </a:solidFill>
          <a:ln>
            <a:noFill/>
          </a:ln>
        </p:spPr>
        <p:txBody>
          <a:bodyPr rtlCol="0" anchor="ctr"/>
          <a:lstStyle/>
          <a:p>
            <a:endParaRPr/>
          </a:p>
        </p:txBody>
      </p:sp>
      <p:sp>
        <p:nvSpPr>
          <p:cNvPr id="12" name="Shape 12"/>
          <p:cNvSpPr/>
          <p:nvPr/>
        </p:nvSpPr>
        <p:spPr>
          <a:xfrm>
            <a:off x="4690000" y="3270000"/>
            <a:ext cx="4030000" cy="950000"/>
          </a:xfrm>
          <a:prstGeom prst="roundRect">
            <a:avLst/>
          </a:prstGeom>
          <a:solidFill>
            <a:srgbClr val="E8EEF3"/>
          </a:solidFill>
          <a:ln>
            <a:noFill/>
          </a:ln>
        </p:spPr>
        <p:txBody>
          <a:bodyPr rtlCol="0" anchor="ctr"/>
          <a:lstStyle/>
          <a:p>
            <a:endParaRPr/>
          </a:p>
        </p:txBody>
      </p:sp>
      <p:sp>
        <p:nvSpPr>
          <p:cNvPr id="13" name="Shape 13"/>
          <p:cNvSpPr/>
          <p:nvPr/>
        </p:nvSpPr>
        <p:spPr>
          <a:xfrm>
            <a:off x="420000" y="4410000"/>
            <a:ext cx="4000000" cy="950000"/>
          </a:xfrm>
          <a:prstGeom prst="roundRect">
            <a:avLst/>
          </a:prstGeom>
          <a:solidFill>
            <a:srgbClr val="E8F4F3"/>
          </a:solidFill>
          <a:ln>
            <a:noFill/>
          </a:ln>
        </p:spPr>
        <p:txBody>
          <a:bodyPr rtlCol="0" anchor="ctr"/>
          <a:lstStyle/>
          <a:p>
            <a:endParaRPr/>
          </a:p>
        </p:txBody>
      </p:sp>
      <p:sp>
        <p:nvSpPr>
          <p:cNvPr id="14" name="Shape 14"/>
          <p:cNvSpPr/>
          <p:nvPr/>
        </p:nvSpPr>
        <p:spPr>
          <a:xfrm>
            <a:off x="4690000" y="4410000"/>
            <a:ext cx="4030000" cy="950000"/>
          </a:xfrm>
          <a:prstGeom prst="roundRect">
            <a:avLst/>
          </a:prstGeom>
          <a:solidFill>
            <a:srgbClr val="E8EEF3"/>
          </a:solidFill>
          <a:ln>
            <a:noFill/>
          </a:ln>
        </p:spPr>
        <p:txBody>
          <a:bodyPr rtlCol="0" anchor="ctr"/>
          <a:lstStyle/>
          <a:p>
            <a:endParaRPr/>
          </a:p>
        </p:txBody>
      </p:sp>
      <p:sp>
        <p:nvSpPr>
          <p:cNvPr id="15" name="TextBox 15"/>
          <p:cNvSpPr txBox="1"/>
          <p:nvPr/>
        </p:nvSpPr>
        <p:spPr>
          <a:xfrm>
            <a:off x="610000" y="2260000"/>
            <a:ext cx="3610000" cy="320000"/>
          </a:xfrm>
          <a:prstGeom prst="rect">
            <a:avLst/>
          </a:prstGeom>
        </p:spPr>
        <p:txBody>
          <a:bodyPr wrap="square" rtlCol="0">
            <a:spAutoFit/>
          </a:bodyPr>
          <a:lstStyle/>
          <a:p>
            <a:r>
              <a:rPr sz="1700" b="1">
                <a:solidFill>
                  <a:srgbClr val="087F8C"/>
                </a:solidFill>
                <a:latin typeface="Aptos"/>
              </a:rPr>
              <a:t>Auto Loader + notebooks</a:t>
            </a:r>
          </a:p>
        </p:txBody>
      </p:sp>
      <p:sp>
        <p:nvSpPr>
          <p:cNvPr id="16" name="TextBox 16"/>
          <p:cNvSpPr txBox="1"/>
          <p:nvPr/>
        </p:nvSpPr>
        <p:spPr>
          <a:xfrm>
            <a:off x="610000" y="2660000"/>
            <a:ext cx="3610000" cy="400000"/>
          </a:xfrm>
          <a:prstGeom prst="rect">
            <a:avLst/>
          </a:prstGeom>
        </p:spPr>
        <p:txBody>
          <a:bodyPr wrap="square" rtlCol="0">
            <a:spAutoFit/>
          </a:bodyPr>
          <a:lstStyle/>
          <a:p>
            <a:r>
              <a:rPr sz="1250">
                <a:solidFill>
                  <a:srgbClr val="102A43"/>
                </a:solidFill>
                <a:latin typeface="Aptos"/>
              </a:rPr>
              <a:t>Incremental file ingestion + JDBC</a:t>
            </a:r>
          </a:p>
          <a:p>
            <a:r>
              <a:rPr sz="1200">
                <a:solidFill>
                  <a:srgbClr val="526879"/>
                </a:solidFill>
                <a:latin typeface="Aptos"/>
              </a:rPr>
              <a:t>Unify file and relational inputs.</a:t>
            </a:r>
          </a:p>
        </p:txBody>
      </p:sp>
      <p:sp>
        <p:nvSpPr>
          <p:cNvPr id="17" name="TextBox 17"/>
          <p:cNvSpPr txBox="1"/>
          <p:nvPr/>
        </p:nvSpPr>
        <p:spPr>
          <a:xfrm>
            <a:off x="4880000" y="2260000"/>
            <a:ext cx="3640000" cy="320000"/>
          </a:xfrm>
          <a:prstGeom prst="rect">
            <a:avLst/>
          </a:prstGeom>
        </p:spPr>
        <p:txBody>
          <a:bodyPr wrap="square" rtlCol="0">
            <a:spAutoFit/>
          </a:bodyPr>
          <a:lstStyle/>
          <a:p>
            <a:r>
              <a:rPr sz="1700" b="1">
                <a:solidFill>
                  <a:srgbClr val="087F8C"/>
                </a:solidFill>
                <a:latin typeface="Aptos"/>
              </a:rPr>
              <a:t>Delta tables + medallion</a:t>
            </a:r>
          </a:p>
        </p:txBody>
      </p:sp>
      <p:sp>
        <p:nvSpPr>
          <p:cNvPr id="18" name="TextBox 18"/>
          <p:cNvSpPr txBox="1"/>
          <p:nvPr/>
        </p:nvSpPr>
        <p:spPr>
          <a:xfrm>
            <a:off x="4880000" y="2660000"/>
            <a:ext cx="3640000" cy="400000"/>
          </a:xfrm>
          <a:prstGeom prst="rect">
            <a:avLst/>
          </a:prstGeom>
        </p:spPr>
        <p:txBody>
          <a:bodyPr wrap="square" rtlCol="0">
            <a:spAutoFit/>
          </a:bodyPr>
          <a:lstStyle/>
          <a:p>
            <a:r>
              <a:rPr sz="1250">
                <a:solidFill>
                  <a:srgbClr val="102A43"/>
                </a:solidFill>
                <a:latin typeface="Aptos"/>
              </a:rPr>
              <a:t>Bronze -&gt; silver -&gt; gold</a:t>
            </a:r>
          </a:p>
          <a:p>
            <a:r>
              <a:rPr sz="1200">
                <a:solidFill>
                  <a:srgbClr val="526879"/>
                </a:solidFill>
                <a:latin typeface="Aptos"/>
              </a:rPr>
              <a:t>Reusable detail and consistent metrics.</a:t>
            </a:r>
          </a:p>
        </p:txBody>
      </p:sp>
      <p:sp>
        <p:nvSpPr>
          <p:cNvPr id="19" name="TextBox 19"/>
          <p:cNvSpPr txBox="1"/>
          <p:nvPr/>
        </p:nvSpPr>
        <p:spPr>
          <a:xfrm>
            <a:off x="610000" y="3400000"/>
            <a:ext cx="3610000" cy="320000"/>
          </a:xfrm>
          <a:prstGeom prst="rect">
            <a:avLst/>
          </a:prstGeom>
        </p:spPr>
        <p:txBody>
          <a:bodyPr wrap="square" rtlCol="0">
            <a:spAutoFit/>
          </a:bodyPr>
          <a:lstStyle/>
          <a:p>
            <a:r>
              <a:rPr sz="1700" b="1">
                <a:solidFill>
                  <a:srgbClr val="087F8C"/>
                </a:solidFill>
                <a:latin typeface="Aptos"/>
              </a:rPr>
              <a:t>Unity Catalog</a:t>
            </a:r>
          </a:p>
        </p:txBody>
      </p:sp>
      <p:sp>
        <p:nvSpPr>
          <p:cNvPr id="20" name="TextBox 20"/>
          <p:cNvSpPr txBox="1"/>
          <p:nvPr/>
        </p:nvSpPr>
        <p:spPr>
          <a:xfrm>
            <a:off x="610000" y="3800000"/>
            <a:ext cx="3610000" cy="400000"/>
          </a:xfrm>
          <a:prstGeom prst="rect">
            <a:avLst/>
          </a:prstGeom>
        </p:spPr>
        <p:txBody>
          <a:bodyPr wrap="square" rtlCol="0">
            <a:spAutoFit/>
          </a:bodyPr>
          <a:lstStyle/>
          <a:p>
            <a:r>
              <a:rPr sz="1250">
                <a:solidFill>
                  <a:srgbClr val="102A43"/>
                </a:solidFill>
                <a:latin typeface="Aptos"/>
              </a:rPr>
              <a:t>Governed access + PII column masking</a:t>
            </a:r>
          </a:p>
          <a:p>
            <a:r>
              <a:rPr sz="1200">
                <a:solidFill>
                  <a:srgbClr val="526879"/>
                </a:solidFill>
                <a:latin typeface="Aptos"/>
              </a:rPr>
              <a:t>Share customer data with approved users.</a:t>
            </a:r>
          </a:p>
        </p:txBody>
      </p:sp>
      <p:sp>
        <p:nvSpPr>
          <p:cNvPr id="21" name="TextBox 21"/>
          <p:cNvSpPr txBox="1"/>
          <p:nvPr/>
        </p:nvSpPr>
        <p:spPr>
          <a:xfrm>
            <a:off x="4880000" y="3400000"/>
            <a:ext cx="3640000" cy="320000"/>
          </a:xfrm>
          <a:prstGeom prst="rect">
            <a:avLst/>
          </a:prstGeom>
        </p:spPr>
        <p:txBody>
          <a:bodyPr wrap="square" rtlCol="0">
            <a:spAutoFit/>
          </a:bodyPr>
          <a:lstStyle/>
          <a:p>
            <a:r>
              <a:rPr sz="1700" b="1">
                <a:solidFill>
                  <a:srgbClr val="087F8C"/>
                </a:solidFill>
                <a:latin typeface="Aptos"/>
              </a:rPr>
              <a:t>Jobs / notebook pipelines</a:t>
            </a:r>
          </a:p>
        </p:txBody>
      </p:sp>
      <p:sp>
        <p:nvSpPr>
          <p:cNvPr id="22" name="TextBox 22"/>
          <p:cNvSpPr txBox="1"/>
          <p:nvPr/>
        </p:nvSpPr>
        <p:spPr>
          <a:xfrm>
            <a:off x="4880000" y="3800000"/>
            <a:ext cx="3640000" cy="400000"/>
          </a:xfrm>
          <a:prstGeom prst="rect">
            <a:avLst/>
          </a:prstGeom>
        </p:spPr>
        <p:txBody>
          <a:bodyPr wrap="square" rtlCol="0">
            <a:spAutoFit/>
          </a:bodyPr>
          <a:lstStyle/>
          <a:p>
            <a:r>
              <a:rPr sz="1250">
                <a:solidFill>
                  <a:srgbClr val="102A43"/>
                </a:solidFill>
                <a:latin typeface="Aptos"/>
              </a:rPr>
              <a:t>Orchestration, quality + file monitoring</a:t>
            </a:r>
          </a:p>
          <a:p>
            <a:r>
              <a:rPr sz="1200">
                <a:solidFill>
                  <a:srgbClr val="526879"/>
                </a:solidFill>
                <a:latin typeface="Aptos"/>
              </a:rPr>
              <a:t>Repeatable processing with visibility.</a:t>
            </a:r>
          </a:p>
        </p:txBody>
      </p:sp>
      <p:sp>
        <p:nvSpPr>
          <p:cNvPr id="23" name="TextBox 23"/>
          <p:cNvSpPr txBox="1"/>
          <p:nvPr/>
        </p:nvSpPr>
        <p:spPr>
          <a:xfrm>
            <a:off x="610000" y="4540000"/>
            <a:ext cx="3610000" cy="320000"/>
          </a:xfrm>
          <a:prstGeom prst="rect">
            <a:avLst/>
          </a:prstGeom>
        </p:spPr>
        <p:txBody>
          <a:bodyPr wrap="square" rtlCol="0">
            <a:spAutoFit/>
          </a:bodyPr>
          <a:lstStyle/>
          <a:p>
            <a:r>
              <a:rPr sz="1700" b="1">
                <a:solidFill>
                  <a:srgbClr val="087F8C"/>
                </a:solidFill>
                <a:latin typeface="Aptos"/>
              </a:rPr>
              <a:t>MLflow + Random Forest</a:t>
            </a:r>
          </a:p>
        </p:txBody>
      </p:sp>
      <p:sp>
        <p:nvSpPr>
          <p:cNvPr id="24" name="TextBox 24"/>
          <p:cNvSpPr txBox="1"/>
          <p:nvPr/>
        </p:nvSpPr>
        <p:spPr>
          <a:xfrm>
            <a:off x="610000" y="4940000"/>
            <a:ext cx="3610000" cy="400000"/>
          </a:xfrm>
          <a:prstGeom prst="rect">
            <a:avLst/>
          </a:prstGeom>
        </p:spPr>
        <p:txBody>
          <a:bodyPr wrap="square" rtlCol="0">
            <a:spAutoFit/>
          </a:bodyPr>
          <a:lstStyle/>
          <a:p>
            <a:r>
              <a:rPr sz="1250">
                <a:solidFill>
                  <a:srgbClr val="102A43"/>
                </a:solidFill>
                <a:latin typeface="Aptos"/>
              </a:rPr>
              <a:t>Experiment evidence + churn signals</a:t>
            </a:r>
          </a:p>
          <a:p>
            <a:r>
              <a:rPr sz="1200">
                <a:solidFill>
                  <a:srgbClr val="526879"/>
                </a:solidFill>
                <a:latin typeface="Aptos"/>
              </a:rPr>
              <a:t>Make model experiments traceable.</a:t>
            </a:r>
          </a:p>
        </p:txBody>
      </p:sp>
      <p:sp>
        <p:nvSpPr>
          <p:cNvPr id="25" name="TextBox 25"/>
          <p:cNvSpPr txBox="1"/>
          <p:nvPr/>
        </p:nvSpPr>
        <p:spPr>
          <a:xfrm>
            <a:off x="4880000" y="4540000"/>
            <a:ext cx="3640000" cy="320000"/>
          </a:xfrm>
          <a:prstGeom prst="rect">
            <a:avLst/>
          </a:prstGeom>
        </p:spPr>
        <p:txBody>
          <a:bodyPr wrap="square" rtlCol="0">
            <a:spAutoFit/>
          </a:bodyPr>
          <a:lstStyle/>
          <a:p>
            <a:r>
              <a:rPr sz="1700" b="1">
                <a:solidFill>
                  <a:srgbClr val="087F8C"/>
                </a:solidFill>
                <a:latin typeface="Aptos"/>
              </a:rPr>
              <a:t>Genie + dashboards</a:t>
            </a:r>
          </a:p>
        </p:txBody>
      </p:sp>
      <p:sp>
        <p:nvSpPr>
          <p:cNvPr id="26" name="TextBox 26"/>
          <p:cNvSpPr txBox="1"/>
          <p:nvPr/>
        </p:nvSpPr>
        <p:spPr>
          <a:xfrm>
            <a:off x="4880000" y="4940000"/>
            <a:ext cx="3640000" cy="400000"/>
          </a:xfrm>
          <a:prstGeom prst="rect">
            <a:avLst/>
          </a:prstGeom>
        </p:spPr>
        <p:txBody>
          <a:bodyPr wrap="square" rtlCol="0">
            <a:spAutoFit/>
          </a:bodyPr>
          <a:lstStyle/>
          <a:p>
            <a:r>
              <a:rPr sz="1250">
                <a:solidFill>
                  <a:srgbClr val="102A43"/>
                </a:solidFill>
                <a:latin typeface="Aptos"/>
              </a:rPr>
              <a:t>Natural-language Q&amp;A + promotion KPIs</a:t>
            </a:r>
          </a:p>
          <a:p>
            <a:r>
              <a:rPr sz="1200">
                <a:solidFill>
                  <a:srgbClr val="526879"/>
                </a:solidFill>
                <a:latin typeface="Aptos"/>
              </a:rPr>
              <a:t>Put insights in business users' hands.</a:t>
            </a:r>
          </a:p>
        </p:txBody>
      </p:sp>
      <p:sp>
        <p:nvSpPr>
          <p:cNvPr id="27" name="Shape 27"/>
          <p:cNvSpPr/>
          <p:nvPr/>
        </p:nvSpPr>
        <p:spPr>
          <a:xfrm>
            <a:off x="420000" y="5650000"/>
            <a:ext cx="8300000" cy="530000"/>
          </a:xfrm>
          <a:prstGeom prst="roundRect">
            <a:avLst/>
          </a:prstGeom>
          <a:solidFill>
            <a:srgbClr val="102A43"/>
          </a:solidFill>
          <a:ln>
            <a:noFill/>
          </a:ln>
        </p:spPr>
        <p:txBody>
          <a:bodyPr rtlCol="0" anchor="ctr"/>
          <a:lstStyle/>
          <a:p>
            <a:endParaRPr/>
          </a:p>
        </p:txBody>
      </p:sp>
      <p:sp>
        <p:nvSpPr>
          <p:cNvPr id="28" name="TextBox 28"/>
          <p:cNvSpPr txBox="1"/>
          <p:nvPr/>
        </p:nvSpPr>
        <p:spPr>
          <a:xfrm>
            <a:off x="610000" y="5710000"/>
            <a:ext cx="7870000" cy="430000"/>
          </a:xfrm>
          <a:prstGeom prst="rect">
            <a:avLst/>
          </a:prstGeom>
        </p:spPr>
        <p:txBody>
          <a:bodyPr wrap="square" rtlCol="0">
            <a:spAutoFit/>
          </a:bodyPr>
          <a:lstStyle/>
          <a:p>
            <a:r>
              <a:rPr sz="1000" b="1">
                <a:solidFill>
                  <a:srgbClr val="86D3D0"/>
                </a:solidFill>
                <a:latin typeface="Aptos"/>
              </a:rPr>
              <a:t>DEVELOPMENT INTEGRATIONS</a:t>
            </a:r>
          </a:p>
          <a:p>
            <a:r>
              <a:rPr sz="1200">
                <a:solidFill>
                  <a:srgbClr val="FFFFFF"/>
                </a:solidFill>
                <a:latin typeface="Aptos"/>
              </a:rPr>
              <a:t>VS Code + Databricks Connect | GitHub | GitHub Copilot + Genie Code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9144000" cy="6858000"/>
          </a:xfrm>
          <a:prstGeom prst="rect">
            <a:avLst/>
          </a:prstGeom>
          <a:solidFill>
            <a:srgbClr val="F7FAFC"/>
          </a:solidFill>
          <a:ln>
            <a:noFill/>
          </a:ln>
        </p:spPr>
        <p:txBody>
          <a:bodyPr rtlCol="0" anchor="ctr"/>
          <a:lstStyle/>
          <a:p>
            <a:endParaRPr/>
          </a:p>
        </p:txBody>
      </p:sp>
      <p:sp>
        <p:nvSpPr>
          <p:cNvPr id="3" name="Shape 3"/>
          <p:cNvSpPr/>
          <p:nvPr/>
        </p:nvSpPr>
        <p:spPr>
          <a:xfrm>
            <a:off x="0" y="0"/>
            <a:ext cx="9144000" cy="85000"/>
          </a:xfrm>
          <a:prstGeom prst="rect">
            <a:avLst/>
          </a:prstGeom>
          <a:solidFill>
            <a:srgbClr val="087F8C"/>
          </a:solidFill>
          <a:ln>
            <a:noFill/>
          </a:ln>
        </p:spPr>
        <p:txBody>
          <a:bodyPr rtlCol="0" anchor="ctr"/>
          <a:lstStyle/>
          <a:p>
            <a:endParaRPr/>
          </a:p>
        </p:txBody>
      </p:sp>
      <p:sp>
        <p:nvSpPr>
          <p:cNvPr id="4" name="TextBox 4"/>
          <p:cNvSpPr txBox="1"/>
          <p:nvPr/>
        </p:nvSpPr>
        <p:spPr>
          <a:xfrm>
            <a:off x="420000" y="230000"/>
            <a:ext cx="8200000" cy="290000"/>
          </a:xfrm>
          <a:prstGeom prst="rect">
            <a:avLst/>
          </a:prstGeom>
        </p:spPr>
        <p:txBody>
          <a:bodyPr wrap="square" rtlCol="0">
            <a:spAutoFit/>
          </a:bodyPr>
          <a:lstStyle/>
          <a:p>
            <a:r>
              <a:rPr sz="1000" b="1">
                <a:solidFill>
                  <a:srgbClr val="087F8C"/>
                </a:solidFill>
                <a:latin typeface="Aptos"/>
              </a:rPr>
              <a:t>COSTCO  |  RETAIL INTELLIGENCE</a:t>
            </a:r>
          </a:p>
        </p:txBody>
      </p:sp>
      <p:sp>
        <p:nvSpPr>
          <p:cNvPr id="5" name="TextBox 5"/>
          <p:cNvSpPr txBox="1"/>
          <p:nvPr/>
        </p:nvSpPr>
        <p:spPr>
          <a:xfrm>
            <a:off x="420000" y="760000"/>
            <a:ext cx="8350000" cy="553998"/>
          </a:xfrm>
          <a:prstGeom prst="rect">
            <a:avLst/>
          </a:prstGeom>
        </p:spPr>
        <p:txBody>
          <a:bodyPr wrap="square" rtlCol="0">
            <a:spAutoFit/>
          </a:bodyPr>
          <a:lstStyle/>
          <a:p>
            <a:r>
              <a:rPr lang="en-US" sz="3000" b="1" dirty="0">
                <a:solidFill>
                  <a:srgbClr val="102A43"/>
                </a:solidFill>
                <a:latin typeface="Aptos Display"/>
              </a:rPr>
              <a:t>Wave 1 </a:t>
            </a:r>
            <a:r>
              <a:rPr sz="3000" b="1" dirty="0">
                <a:solidFill>
                  <a:srgbClr val="102A43"/>
                </a:solidFill>
                <a:latin typeface="Aptos Display"/>
              </a:rPr>
              <a:t>pilot</a:t>
            </a:r>
          </a:p>
        </p:txBody>
      </p:sp>
      <p:sp>
        <p:nvSpPr>
          <p:cNvPr id="6" name="Shape 6"/>
          <p:cNvSpPr/>
          <p:nvPr/>
        </p:nvSpPr>
        <p:spPr>
          <a:xfrm>
            <a:off x="420000" y="6340000"/>
            <a:ext cx="8300000" cy="10000"/>
          </a:xfrm>
          <a:prstGeom prst="rect">
            <a:avLst/>
          </a:prstGeom>
          <a:solidFill>
            <a:srgbClr val="D6E1E8"/>
          </a:solidFill>
          <a:ln>
            <a:noFill/>
          </a:ln>
        </p:spPr>
        <p:txBody>
          <a:bodyPr rtlCol="0" anchor="ctr"/>
          <a:lstStyle/>
          <a:p>
            <a:endParaRPr/>
          </a:p>
        </p:txBody>
      </p:sp>
      <p:sp>
        <p:nvSpPr>
          <p:cNvPr id="8" name="TextBox 8"/>
          <p:cNvSpPr txBox="1"/>
          <p:nvPr/>
        </p:nvSpPr>
        <p:spPr>
          <a:xfrm>
            <a:off x="8070000" y="6480000"/>
            <a:ext cx="720000" cy="230832"/>
          </a:xfrm>
          <a:prstGeom prst="rect">
            <a:avLst/>
          </a:prstGeom>
        </p:spPr>
        <p:txBody>
          <a:bodyPr wrap="square" rtlCol="0">
            <a:spAutoFit/>
          </a:bodyPr>
          <a:lstStyle/>
          <a:p>
            <a:r>
              <a:rPr sz="900" b="1" dirty="0">
                <a:solidFill>
                  <a:srgbClr val="087F8C"/>
                </a:solidFill>
                <a:latin typeface="Aptos"/>
              </a:rPr>
              <a:t>0</a:t>
            </a:r>
            <a:r>
              <a:rPr lang="en-US" sz="900" b="1" dirty="0">
                <a:solidFill>
                  <a:srgbClr val="087F8C"/>
                </a:solidFill>
                <a:latin typeface="Aptos"/>
              </a:rPr>
              <a:t>6</a:t>
            </a:r>
            <a:r>
              <a:rPr sz="900" b="1" dirty="0">
                <a:solidFill>
                  <a:srgbClr val="087F8C"/>
                </a:solidFill>
                <a:latin typeface="Aptos"/>
              </a:rPr>
              <a:t> / 0</a:t>
            </a:r>
            <a:r>
              <a:rPr lang="en-US" sz="900" b="1" dirty="0">
                <a:solidFill>
                  <a:srgbClr val="087F8C"/>
                </a:solidFill>
                <a:latin typeface="Aptos"/>
              </a:rPr>
              <a:t>6</a:t>
            </a:r>
            <a:endParaRPr sz="900" b="1" dirty="0">
              <a:solidFill>
                <a:srgbClr val="087F8C"/>
              </a:solidFill>
              <a:latin typeface="Aptos"/>
            </a:endParaRPr>
          </a:p>
        </p:txBody>
      </p:sp>
      <p:sp>
        <p:nvSpPr>
          <p:cNvPr id="9" name="TextBox 9"/>
          <p:cNvSpPr txBox="1"/>
          <p:nvPr/>
        </p:nvSpPr>
        <p:spPr>
          <a:xfrm>
            <a:off x="420000" y="1550000"/>
            <a:ext cx="8300000" cy="380000"/>
          </a:xfrm>
          <a:prstGeom prst="rect">
            <a:avLst/>
          </a:prstGeom>
        </p:spPr>
        <p:txBody>
          <a:bodyPr wrap="square" rtlCol="0">
            <a:spAutoFit/>
          </a:bodyPr>
          <a:lstStyle/>
          <a:p>
            <a:r>
              <a:rPr sz="1400" dirty="0">
                <a:solidFill>
                  <a:srgbClr val="526879"/>
                </a:solidFill>
                <a:latin typeface="Aptos"/>
              </a:rPr>
              <a:t>Small scope. Named owners. Evidence before scale.</a:t>
            </a:r>
          </a:p>
        </p:txBody>
      </p:sp>
      <p:sp>
        <p:nvSpPr>
          <p:cNvPr id="10" name="Shape 10"/>
          <p:cNvSpPr/>
          <p:nvPr/>
        </p:nvSpPr>
        <p:spPr>
          <a:xfrm>
            <a:off x="420000" y="2140000"/>
            <a:ext cx="8300000" cy="720000"/>
          </a:xfrm>
          <a:prstGeom prst="roundRect">
            <a:avLst/>
          </a:prstGeom>
          <a:solidFill>
            <a:srgbClr val="E8F4F3"/>
          </a:solidFill>
          <a:ln>
            <a:noFill/>
          </a:ln>
        </p:spPr>
        <p:txBody>
          <a:bodyPr rtlCol="0" anchor="ctr"/>
          <a:lstStyle/>
          <a:p>
            <a:endParaRPr dirty="0"/>
          </a:p>
        </p:txBody>
      </p:sp>
      <p:sp>
        <p:nvSpPr>
          <p:cNvPr id="11" name="TextBox 11"/>
          <p:cNvSpPr txBox="1"/>
          <p:nvPr/>
        </p:nvSpPr>
        <p:spPr>
          <a:xfrm>
            <a:off x="620000" y="2350000"/>
            <a:ext cx="1210000" cy="400110"/>
          </a:xfrm>
          <a:prstGeom prst="rect">
            <a:avLst/>
          </a:prstGeom>
        </p:spPr>
        <p:txBody>
          <a:bodyPr wrap="square" rtlCol="0">
            <a:spAutoFit/>
          </a:bodyPr>
          <a:lstStyle/>
          <a:p>
            <a:r>
              <a:rPr sz="2000" b="1" dirty="0">
                <a:solidFill>
                  <a:srgbClr val="087F8C"/>
                </a:solidFill>
                <a:latin typeface="Aptos Display"/>
              </a:rPr>
              <a:t>01-</a:t>
            </a:r>
            <a:r>
              <a:rPr lang="en-US" sz="2000" b="1" dirty="0">
                <a:solidFill>
                  <a:srgbClr val="087F8C"/>
                </a:solidFill>
                <a:latin typeface="Aptos Display"/>
              </a:rPr>
              <a:t>14</a:t>
            </a:r>
            <a:endParaRPr sz="2000" b="1" dirty="0">
              <a:solidFill>
                <a:srgbClr val="087F8C"/>
              </a:solidFill>
              <a:latin typeface="Aptos Display"/>
            </a:endParaRPr>
          </a:p>
        </p:txBody>
      </p:sp>
      <p:sp>
        <p:nvSpPr>
          <p:cNvPr id="12" name="TextBox 12"/>
          <p:cNvSpPr txBox="1"/>
          <p:nvPr/>
        </p:nvSpPr>
        <p:spPr>
          <a:xfrm>
            <a:off x="2110000" y="2250000"/>
            <a:ext cx="6320000" cy="577081"/>
          </a:xfrm>
          <a:prstGeom prst="rect">
            <a:avLst/>
          </a:prstGeom>
        </p:spPr>
        <p:txBody>
          <a:bodyPr wrap="square" rtlCol="0">
            <a:spAutoFit/>
          </a:bodyPr>
          <a:lstStyle/>
          <a:p>
            <a:r>
              <a:rPr sz="1900" b="1" dirty="0">
                <a:solidFill>
                  <a:srgbClr val="102A43"/>
                </a:solidFill>
                <a:latin typeface="Aptos"/>
              </a:rPr>
              <a:t>Align the decision</a:t>
            </a:r>
          </a:p>
          <a:p>
            <a:r>
              <a:rPr sz="1250" dirty="0">
                <a:solidFill>
                  <a:srgbClr val="526879"/>
                </a:solidFill>
                <a:latin typeface="Aptos"/>
              </a:rPr>
              <a:t>scope, baseline, churn definition</a:t>
            </a:r>
            <a:r>
              <a:rPr lang="en-US" sz="1250" dirty="0">
                <a:solidFill>
                  <a:srgbClr val="526879"/>
                </a:solidFill>
                <a:latin typeface="Aptos"/>
              </a:rPr>
              <a:t>, historical duration agreement (past 6 months, 1 year)</a:t>
            </a:r>
            <a:endParaRPr sz="1250" dirty="0">
              <a:solidFill>
                <a:srgbClr val="526879"/>
              </a:solidFill>
              <a:latin typeface="Aptos"/>
            </a:endParaRPr>
          </a:p>
        </p:txBody>
      </p:sp>
      <p:sp>
        <p:nvSpPr>
          <p:cNvPr id="13" name="Shape 13"/>
          <p:cNvSpPr/>
          <p:nvPr/>
        </p:nvSpPr>
        <p:spPr>
          <a:xfrm>
            <a:off x="420000" y="2980000"/>
            <a:ext cx="8300000" cy="720000"/>
          </a:xfrm>
          <a:prstGeom prst="roundRect">
            <a:avLst/>
          </a:prstGeom>
          <a:solidFill>
            <a:srgbClr val="E8EEF3"/>
          </a:solidFill>
          <a:ln>
            <a:noFill/>
          </a:ln>
        </p:spPr>
        <p:txBody>
          <a:bodyPr rtlCol="0" anchor="ctr"/>
          <a:lstStyle/>
          <a:p>
            <a:endParaRPr/>
          </a:p>
        </p:txBody>
      </p:sp>
      <p:sp>
        <p:nvSpPr>
          <p:cNvPr id="14" name="TextBox 14"/>
          <p:cNvSpPr txBox="1"/>
          <p:nvPr/>
        </p:nvSpPr>
        <p:spPr>
          <a:xfrm>
            <a:off x="620000" y="3190000"/>
            <a:ext cx="1210000" cy="400110"/>
          </a:xfrm>
          <a:prstGeom prst="rect">
            <a:avLst/>
          </a:prstGeom>
        </p:spPr>
        <p:txBody>
          <a:bodyPr wrap="square" rtlCol="0">
            <a:spAutoFit/>
          </a:bodyPr>
          <a:lstStyle/>
          <a:p>
            <a:r>
              <a:rPr lang="en-US" sz="2000" b="1" dirty="0">
                <a:solidFill>
                  <a:srgbClr val="087F8C"/>
                </a:solidFill>
                <a:latin typeface="Aptos Display"/>
              </a:rPr>
              <a:t>15</a:t>
            </a:r>
            <a:r>
              <a:rPr sz="2000" b="1" dirty="0">
                <a:solidFill>
                  <a:srgbClr val="087F8C"/>
                </a:solidFill>
                <a:latin typeface="Aptos Display"/>
              </a:rPr>
              <a:t>-</a:t>
            </a:r>
            <a:r>
              <a:rPr lang="en-US" sz="2000" b="1" dirty="0">
                <a:solidFill>
                  <a:srgbClr val="087F8C"/>
                </a:solidFill>
                <a:latin typeface="Aptos Display"/>
              </a:rPr>
              <a:t>30</a:t>
            </a:r>
            <a:endParaRPr sz="2000" b="1" dirty="0">
              <a:solidFill>
                <a:srgbClr val="087F8C"/>
              </a:solidFill>
              <a:latin typeface="Aptos Display"/>
            </a:endParaRPr>
          </a:p>
        </p:txBody>
      </p:sp>
      <p:sp>
        <p:nvSpPr>
          <p:cNvPr id="15" name="TextBox 15"/>
          <p:cNvSpPr txBox="1"/>
          <p:nvPr/>
        </p:nvSpPr>
        <p:spPr>
          <a:xfrm>
            <a:off x="2110000" y="3090000"/>
            <a:ext cx="6320000" cy="577081"/>
          </a:xfrm>
          <a:prstGeom prst="rect">
            <a:avLst/>
          </a:prstGeom>
        </p:spPr>
        <p:txBody>
          <a:bodyPr wrap="square" rtlCol="0">
            <a:spAutoFit/>
          </a:bodyPr>
          <a:lstStyle/>
          <a:p>
            <a:r>
              <a:rPr sz="1900" b="1" dirty="0">
                <a:solidFill>
                  <a:srgbClr val="102A43"/>
                </a:solidFill>
                <a:latin typeface="Aptos"/>
              </a:rPr>
              <a:t>Connect and govern</a:t>
            </a:r>
          </a:p>
          <a:p>
            <a:r>
              <a:rPr sz="1250" dirty="0">
                <a:solidFill>
                  <a:srgbClr val="526879"/>
                </a:solidFill>
                <a:latin typeface="Aptos"/>
              </a:rPr>
              <a:t>Data engineering: reconcile</a:t>
            </a:r>
            <a:r>
              <a:rPr lang="en-US" sz="1250" dirty="0">
                <a:solidFill>
                  <a:srgbClr val="526879"/>
                </a:solidFill>
                <a:latin typeface="Aptos"/>
              </a:rPr>
              <a:t>, load historical data</a:t>
            </a:r>
          </a:p>
        </p:txBody>
      </p:sp>
      <p:sp>
        <p:nvSpPr>
          <p:cNvPr id="16" name="Shape 16"/>
          <p:cNvSpPr/>
          <p:nvPr/>
        </p:nvSpPr>
        <p:spPr>
          <a:xfrm>
            <a:off x="420000" y="3820000"/>
            <a:ext cx="8300000" cy="720000"/>
          </a:xfrm>
          <a:prstGeom prst="roundRect">
            <a:avLst/>
          </a:prstGeom>
          <a:solidFill>
            <a:srgbClr val="E8F4F3"/>
          </a:solidFill>
          <a:ln>
            <a:noFill/>
          </a:ln>
        </p:spPr>
        <p:txBody>
          <a:bodyPr rtlCol="0" anchor="ctr"/>
          <a:lstStyle/>
          <a:p>
            <a:endParaRPr/>
          </a:p>
        </p:txBody>
      </p:sp>
      <p:sp>
        <p:nvSpPr>
          <p:cNvPr id="17" name="TextBox 17"/>
          <p:cNvSpPr txBox="1"/>
          <p:nvPr/>
        </p:nvSpPr>
        <p:spPr>
          <a:xfrm>
            <a:off x="620000" y="4030000"/>
            <a:ext cx="1210000" cy="400110"/>
          </a:xfrm>
          <a:prstGeom prst="rect">
            <a:avLst/>
          </a:prstGeom>
        </p:spPr>
        <p:txBody>
          <a:bodyPr wrap="square" rtlCol="0">
            <a:spAutoFit/>
          </a:bodyPr>
          <a:lstStyle/>
          <a:p>
            <a:r>
              <a:rPr lang="en-US" sz="2000" b="1" dirty="0">
                <a:solidFill>
                  <a:srgbClr val="087F8C"/>
                </a:solidFill>
                <a:latin typeface="Aptos Display"/>
              </a:rPr>
              <a:t>30</a:t>
            </a:r>
            <a:r>
              <a:rPr sz="2000" b="1" dirty="0">
                <a:solidFill>
                  <a:srgbClr val="087F8C"/>
                </a:solidFill>
                <a:latin typeface="Aptos Display"/>
              </a:rPr>
              <a:t>-</a:t>
            </a:r>
            <a:r>
              <a:rPr lang="en-US" sz="2000" b="1" dirty="0">
                <a:solidFill>
                  <a:srgbClr val="087F8C"/>
                </a:solidFill>
                <a:latin typeface="Aptos Display"/>
              </a:rPr>
              <a:t>45</a:t>
            </a:r>
            <a:endParaRPr sz="2000" b="1" dirty="0">
              <a:solidFill>
                <a:srgbClr val="087F8C"/>
              </a:solidFill>
              <a:latin typeface="Aptos Display"/>
            </a:endParaRPr>
          </a:p>
        </p:txBody>
      </p:sp>
      <p:sp>
        <p:nvSpPr>
          <p:cNvPr id="18" name="TextBox 18"/>
          <p:cNvSpPr txBox="1"/>
          <p:nvPr/>
        </p:nvSpPr>
        <p:spPr>
          <a:xfrm>
            <a:off x="2110000" y="3930000"/>
            <a:ext cx="6320000" cy="769441"/>
          </a:xfrm>
          <a:prstGeom prst="rect">
            <a:avLst/>
          </a:prstGeom>
        </p:spPr>
        <p:txBody>
          <a:bodyPr wrap="square" rtlCol="0">
            <a:spAutoFit/>
          </a:bodyPr>
          <a:lstStyle/>
          <a:p>
            <a:r>
              <a:rPr sz="1900" b="1" dirty="0">
                <a:solidFill>
                  <a:srgbClr val="102A43"/>
                </a:solidFill>
                <a:latin typeface="Aptos"/>
              </a:rPr>
              <a:t>Score and evaluate</a:t>
            </a:r>
          </a:p>
          <a:p>
            <a:r>
              <a:rPr lang="en-US" sz="1250" dirty="0">
                <a:solidFill>
                  <a:srgbClr val="526879"/>
                </a:solidFill>
                <a:latin typeface="Aptos"/>
              </a:rPr>
              <a:t>Data engineering: historical and one complete product category promotion analysis</a:t>
            </a:r>
          </a:p>
          <a:p>
            <a:r>
              <a:rPr sz="1250" dirty="0">
                <a:solidFill>
                  <a:srgbClr val="526879"/>
                </a:solidFill>
                <a:latin typeface="Aptos"/>
              </a:rPr>
              <a:t>Data science + analysts: </a:t>
            </a:r>
            <a:r>
              <a:rPr sz="1250" dirty="0" err="1">
                <a:solidFill>
                  <a:srgbClr val="526879"/>
                </a:solidFill>
                <a:latin typeface="Aptos"/>
              </a:rPr>
              <a:t>backtest</a:t>
            </a:r>
            <a:r>
              <a:rPr sz="1250" dirty="0">
                <a:solidFill>
                  <a:srgbClr val="526879"/>
                </a:solidFill>
                <a:latin typeface="Aptos"/>
              </a:rPr>
              <a:t>, publish scores, test Genie</a:t>
            </a:r>
            <a:endParaRPr lang="en-US" sz="1250" dirty="0">
              <a:solidFill>
                <a:srgbClr val="526879"/>
              </a:solidFill>
              <a:latin typeface="Aptos"/>
            </a:endParaRPr>
          </a:p>
        </p:txBody>
      </p:sp>
      <p:sp>
        <p:nvSpPr>
          <p:cNvPr id="19" name="Shape 19"/>
          <p:cNvSpPr/>
          <p:nvPr/>
        </p:nvSpPr>
        <p:spPr>
          <a:xfrm>
            <a:off x="420000" y="4660000"/>
            <a:ext cx="8300000" cy="720000"/>
          </a:xfrm>
          <a:prstGeom prst="roundRect">
            <a:avLst/>
          </a:prstGeom>
          <a:solidFill>
            <a:srgbClr val="E8EEF3"/>
          </a:solidFill>
          <a:ln>
            <a:noFill/>
          </a:ln>
        </p:spPr>
        <p:txBody>
          <a:bodyPr rtlCol="0" anchor="ctr"/>
          <a:lstStyle/>
          <a:p>
            <a:endParaRPr/>
          </a:p>
        </p:txBody>
      </p:sp>
      <p:sp>
        <p:nvSpPr>
          <p:cNvPr id="20" name="TextBox 20"/>
          <p:cNvSpPr txBox="1"/>
          <p:nvPr/>
        </p:nvSpPr>
        <p:spPr>
          <a:xfrm>
            <a:off x="620000" y="4870000"/>
            <a:ext cx="1210000" cy="400110"/>
          </a:xfrm>
          <a:prstGeom prst="rect">
            <a:avLst/>
          </a:prstGeom>
        </p:spPr>
        <p:txBody>
          <a:bodyPr wrap="square" rtlCol="0">
            <a:spAutoFit/>
          </a:bodyPr>
          <a:lstStyle/>
          <a:p>
            <a:r>
              <a:rPr lang="en-US" sz="2000" b="1" dirty="0">
                <a:solidFill>
                  <a:srgbClr val="087F8C"/>
                </a:solidFill>
                <a:latin typeface="Aptos Display"/>
              </a:rPr>
              <a:t>46</a:t>
            </a:r>
            <a:r>
              <a:rPr sz="2000" b="1" dirty="0">
                <a:solidFill>
                  <a:srgbClr val="087F8C"/>
                </a:solidFill>
                <a:latin typeface="Aptos Display"/>
              </a:rPr>
              <a:t>-</a:t>
            </a:r>
            <a:r>
              <a:rPr lang="en-US" sz="2000" b="1" dirty="0">
                <a:solidFill>
                  <a:srgbClr val="087F8C"/>
                </a:solidFill>
                <a:latin typeface="Aptos Display"/>
              </a:rPr>
              <a:t>60</a:t>
            </a:r>
            <a:endParaRPr sz="2000" b="1" dirty="0">
              <a:solidFill>
                <a:srgbClr val="087F8C"/>
              </a:solidFill>
              <a:latin typeface="Aptos Display"/>
            </a:endParaRPr>
          </a:p>
        </p:txBody>
      </p:sp>
      <p:sp>
        <p:nvSpPr>
          <p:cNvPr id="21" name="TextBox 21"/>
          <p:cNvSpPr txBox="1"/>
          <p:nvPr/>
        </p:nvSpPr>
        <p:spPr>
          <a:xfrm>
            <a:off x="2110000" y="4770000"/>
            <a:ext cx="6320000" cy="520000"/>
          </a:xfrm>
          <a:prstGeom prst="rect">
            <a:avLst/>
          </a:prstGeom>
        </p:spPr>
        <p:txBody>
          <a:bodyPr wrap="square" rtlCol="0">
            <a:spAutoFit/>
          </a:bodyPr>
          <a:lstStyle/>
          <a:p>
            <a:r>
              <a:rPr sz="1900" b="1">
                <a:solidFill>
                  <a:srgbClr val="102A43"/>
                </a:solidFill>
                <a:latin typeface="Aptos"/>
              </a:rPr>
              <a:t>Operate and decide</a:t>
            </a:r>
          </a:p>
          <a:p>
            <a:r>
              <a:rPr sz="1250">
                <a:solidFill>
                  <a:srgbClr val="526879"/>
                </a:solidFill>
                <a:latin typeface="Aptos"/>
              </a:rPr>
              <a:t>Business owner: shadow pilot, launch tests, review cost/value</a:t>
            </a:r>
          </a:p>
        </p:txBody>
      </p:sp>
      <p:sp>
        <p:nvSpPr>
          <p:cNvPr id="23" name="Shape 23"/>
          <p:cNvSpPr/>
          <p:nvPr/>
        </p:nvSpPr>
        <p:spPr>
          <a:xfrm>
            <a:off x="420000" y="5940000"/>
            <a:ext cx="8300000" cy="330000"/>
          </a:xfrm>
          <a:prstGeom prst="roundRect">
            <a:avLst/>
          </a:prstGeom>
          <a:solidFill>
            <a:srgbClr val="102A43"/>
          </a:solidFill>
          <a:ln>
            <a:noFill/>
          </a:ln>
        </p:spPr>
        <p:txBody>
          <a:bodyPr rtlCol="0" anchor="ctr"/>
          <a:lstStyle/>
          <a:p>
            <a:endParaRPr/>
          </a:p>
        </p:txBody>
      </p:sp>
      <p:sp>
        <p:nvSpPr>
          <p:cNvPr id="24" name="TextBox 24"/>
          <p:cNvSpPr txBox="1"/>
          <p:nvPr/>
        </p:nvSpPr>
        <p:spPr>
          <a:xfrm>
            <a:off x="570000" y="5950000"/>
            <a:ext cx="8000000" cy="290000"/>
          </a:xfrm>
          <a:prstGeom prst="rect">
            <a:avLst/>
          </a:prstGeom>
        </p:spPr>
        <p:txBody>
          <a:bodyPr wrap="square" rtlCol="0">
            <a:spAutoFit/>
          </a:bodyPr>
          <a:lstStyle/>
          <a:p>
            <a:r>
              <a:rPr sz="1200" b="1">
                <a:solidFill>
                  <a:srgbClr val="FFFFFF"/>
                </a:solidFill>
                <a:latin typeface="Aptos"/>
              </a:rPr>
              <a:t>THE ASK: one sponsor, one category, an agreed member cohort and data access.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9144000" cy="6858000"/>
          </a:xfrm>
          <a:prstGeom prst="rect">
            <a:avLst/>
          </a:prstGeom>
          <a:solidFill>
            <a:srgbClr val="F7FAFC"/>
          </a:solidFill>
          <a:ln>
            <a:noFill/>
          </a:ln>
        </p:spPr>
        <p:txBody>
          <a:bodyPr rtlCol="0" anchor="ctr"/>
          <a:lstStyle/>
          <a:p>
            <a:endParaRPr/>
          </a:p>
        </p:txBody>
      </p:sp>
      <p:sp>
        <p:nvSpPr>
          <p:cNvPr id="3" name="Shape 3"/>
          <p:cNvSpPr/>
          <p:nvPr/>
        </p:nvSpPr>
        <p:spPr>
          <a:xfrm>
            <a:off x="0" y="0"/>
            <a:ext cx="9144000" cy="85000"/>
          </a:xfrm>
          <a:prstGeom prst="rect">
            <a:avLst/>
          </a:prstGeom>
          <a:solidFill>
            <a:srgbClr val="087F8C"/>
          </a:solidFill>
          <a:ln>
            <a:noFill/>
          </a:ln>
        </p:spPr>
        <p:txBody>
          <a:bodyPr rtlCol="0" anchor="ctr"/>
          <a:lstStyle/>
          <a:p>
            <a:endParaRPr/>
          </a:p>
        </p:txBody>
      </p:sp>
      <p:sp>
        <p:nvSpPr>
          <p:cNvPr id="4" name="TextBox 4"/>
          <p:cNvSpPr txBox="1"/>
          <p:nvPr/>
        </p:nvSpPr>
        <p:spPr>
          <a:xfrm>
            <a:off x="420000" y="230000"/>
            <a:ext cx="8200000" cy="290000"/>
          </a:xfrm>
          <a:prstGeom prst="rect">
            <a:avLst/>
          </a:prstGeom>
        </p:spPr>
        <p:txBody>
          <a:bodyPr wrap="square" rtlCol="0">
            <a:spAutoFit/>
          </a:bodyPr>
          <a:lstStyle/>
          <a:p>
            <a:r>
              <a:rPr sz="1000" b="1">
                <a:solidFill>
                  <a:srgbClr val="087F8C"/>
                </a:solidFill>
                <a:latin typeface="Aptos"/>
              </a:rPr>
              <a:t>COSTCO  |  RETAIL INTELLIGENCE</a:t>
            </a:r>
          </a:p>
        </p:txBody>
      </p:sp>
      <p:sp>
        <p:nvSpPr>
          <p:cNvPr id="5" name="Shape 6"/>
          <p:cNvSpPr/>
          <p:nvPr/>
        </p:nvSpPr>
        <p:spPr>
          <a:xfrm>
            <a:off x="420000" y="6340000"/>
            <a:ext cx="8300000" cy="10000"/>
          </a:xfrm>
          <a:prstGeom prst="rect">
            <a:avLst/>
          </a:prstGeom>
          <a:solidFill>
            <a:srgbClr val="D6E1E8"/>
          </a:solidFill>
          <a:ln>
            <a:noFill/>
          </a:ln>
        </p:spPr>
        <p:txBody>
          <a:bodyPr rtlCol="0" anchor="ctr"/>
          <a:lstStyle/>
          <a:p>
            <a:endParaRPr/>
          </a:p>
        </p:txBody>
      </p:sp>
      <p:sp>
        <p:nvSpPr>
          <p:cNvPr id="6" name="Thank you title"/>
          <p:cNvSpPr txBox="1"/>
          <p:nvPr/>
        </p:nvSpPr>
        <p:spPr>
          <a:xfrm>
            <a:off x="420624" y="2606040"/>
            <a:ext cx="8302752" cy="960120"/>
          </a:xfrm>
          <a:prstGeom prst="rect">
            <a:avLst/>
          </a:prstGeom>
        </p:spPr>
        <p:txBody>
          <a:bodyPr wrap="square" rtlCol="0" anchor="ctr">
            <a:spAutoFit/>
          </a:bodyPr>
          <a:lstStyle/>
          <a:p>
            <a:pPr algn="ctr"/>
            <a:r>
              <a:rPr sz="4800" b="1">
                <a:solidFill>
                  <a:srgbClr val="102A43"/>
                </a:solidFill>
                <a:latin typeface="Aptos Display"/>
              </a:rPr>
              <a:t>Thank you</a:t>
            </a:r>
          </a:p>
        </p:txBody>
      </p:sp>
    </p:spTree>
    <p:extLst>
      <p:ext uri="{BB962C8B-B14F-4D97-AF65-F5344CB8AC3E}">
        <p14:creationId xmlns:p14="http://schemas.microsoft.com/office/powerpoint/2010/main" val="10943109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Editable promotion and member intelligence diagram"/>
          <p:cNvGrpSpPr/>
          <p:nvPr/>
        </p:nvGrpSpPr>
        <p:grpSpPr>
          <a:xfrm>
            <a:off x="0" y="0"/>
            <a:ext cx="9144000" cy="7135091"/>
            <a:chOff x="0" y="794657"/>
            <a:chExt cx="9144000" cy="5554445"/>
          </a:xfrm>
        </p:grpSpPr>
        <p:sp>
          <p:nvSpPr>
            <p:cNvPr id="3" name="Diagram background"/>
            <p:cNvSpPr/>
            <p:nvPr/>
          </p:nvSpPr>
          <p:spPr>
            <a:xfrm>
              <a:off x="0" y="794657"/>
              <a:ext cx="9144000" cy="5554445"/>
            </a:xfrm>
            <a:prstGeom prst="rect">
              <a:avLst/>
            </a:prstGeom>
            <a:solidFill>
              <a:srgbClr val="F6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Diagram panel"/>
            <p:cNvSpPr/>
            <p:nvPr/>
          </p:nvSpPr>
          <p:spPr>
            <a:xfrm>
              <a:off x="0" y="794657"/>
              <a:ext cx="9144000" cy="71439"/>
            </a:xfrm>
            <a:prstGeom prst="rect">
              <a:avLst/>
            </a:prstGeom>
            <a:solidFill>
              <a:srgbClr val="2B81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romotion impact + member intelligence"/>
            <p:cNvSpPr txBox="1"/>
            <p:nvPr/>
          </p:nvSpPr>
          <p:spPr>
            <a:xfrm>
              <a:off x="285750" y="1008976"/>
              <a:ext cx="8572500" cy="321479"/>
            </a:xfrm>
            <a:prstGeom prst="rect">
              <a:avLst/>
            </a:prstGeom>
            <a:noFill/>
            <a:effectLst/>
          </p:spPr>
          <p:txBody>
            <a:bodyPr wrap="square" lIns="0" tIns="0" rIns="0" bIns="0">
              <a:spAutoFit/>
            </a:bodyPr>
            <a:lstStyle/>
            <a:p>
              <a:pPr>
                <a:spcBef>
                  <a:spcPts val="0"/>
                </a:spcBef>
                <a:spcAft>
                  <a:spcPts val="0"/>
                </a:spcAft>
                <a:defRPr sz="1687" b="1">
                  <a:solidFill>
                    <a:srgbClr val="172C43"/>
                  </a:solidFill>
                  <a:latin typeface="Arial"/>
                </a:defRPr>
              </a:pPr>
              <a:r>
                <a:t>Promotion impact + member intelligence</a:t>
              </a:r>
            </a:p>
          </p:txBody>
        </p:sp>
        <p:sp>
          <p:nvSpPr>
            <p:cNvPr id="6" name="Hypothetical Costco regional pilot | Promotion insights + customer churn"/>
            <p:cNvSpPr txBox="1"/>
            <p:nvPr/>
          </p:nvSpPr>
          <p:spPr>
            <a:xfrm>
              <a:off x="285750" y="1294735"/>
              <a:ext cx="8572500" cy="214319"/>
            </a:xfrm>
            <a:prstGeom prst="rect">
              <a:avLst/>
            </a:prstGeom>
            <a:noFill/>
            <a:effectLst/>
          </p:spPr>
          <p:txBody>
            <a:bodyPr wrap="square" lIns="0" tIns="0" rIns="0" bIns="0">
              <a:spAutoFit/>
            </a:bodyPr>
            <a:lstStyle/>
            <a:p>
              <a:pPr>
                <a:spcBef>
                  <a:spcPts val="0"/>
                </a:spcBef>
                <a:spcAft>
                  <a:spcPts val="0"/>
                </a:spcAft>
                <a:defRPr sz="871" b="0">
                  <a:solidFill>
                    <a:srgbClr val="607783"/>
                  </a:solidFill>
                  <a:latin typeface="Arial"/>
                </a:defRPr>
              </a:pPr>
              <a:r>
                <a:t>Hypothetical Costco regional pilot | Promotion insights + customer churn</a:t>
              </a:r>
            </a:p>
          </p:txBody>
        </p:sp>
        <p:sp>
          <p:nvSpPr>
            <p:cNvPr id="7" name="SOURCES"/>
            <p:cNvSpPr txBox="1"/>
            <p:nvPr/>
          </p:nvSpPr>
          <p:spPr>
            <a:xfrm>
              <a:off x="285750" y="1616214"/>
              <a:ext cx="1357312" cy="160739"/>
            </a:xfrm>
            <a:prstGeom prst="rect">
              <a:avLst/>
            </a:prstGeom>
            <a:noFill/>
            <a:effectLst/>
          </p:spPr>
          <p:txBody>
            <a:bodyPr wrap="square" lIns="0" tIns="0" rIns="0" bIns="0">
              <a:spAutoFit/>
            </a:bodyPr>
            <a:lstStyle/>
            <a:p>
              <a:pPr>
                <a:spcBef>
                  <a:spcPts val="0"/>
                </a:spcBef>
                <a:spcAft>
                  <a:spcPts val="0"/>
                </a:spcAft>
                <a:defRPr sz="773" b="1">
                  <a:solidFill>
                    <a:srgbClr val="172C43"/>
                  </a:solidFill>
                  <a:latin typeface="Arial"/>
                </a:defRPr>
              </a:pPr>
              <a:r>
                <a:t>SOURCES</a:t>
              </a:r>
            </a:p>
          </p:txBody>
        </p:sp>
        <p:sp>
          <p:nvSpPr>
            <p:cNvPr id="8" name="INGEST · BRONZE"/>
            <p:cNvSpPr txBox="1"/>
            <p:nvPr/>
          </p:nvSpPr>
          <p:spPr>
            <a:xfrm>
              <a:off x="1839515" y="1616214"/>
              <a:ext cx="2035968" cy="160739"/>
            </a:xfrm>
            <a:prstGeom prst="rect">
              <a:avLst/>
            </a:prstGeom>
            <a:noFill/>
            <a:effectLst/>
          </p:spPr>
          <p:txBody>
            <a:bodyPr wrap="square" lIns="0" tIns="0" rIns="0" bIns="0">
              <a:spAutoFit/>
            </a:bodyPr>
            <a:lstStyle/>
            <a:p>
              <a:pPr>
                <a:spcBef>
                  <a:spcPts val="0"/>
                </a:spcBef>
                <a:spcAft>
                  <a:spcPts val="0"/>
                </a:spcAft>
                <a:defRPr sz="773" b="1">
                  <a:solidFill>
                    <a:srgbClr val="172C43"/>
                  </a:solidFill>
                  <a:latin typeface="Arial"/>
                </a:defRPr>
              </a:pPr>
              <a:r>
                <a:t>INGEST · BRONZE</a:t>
              </a:r>
            </a:p>
          </p:txBody>
        </p:sp>
        <p:sp>
          <p:nvSpPr>
            <p:cNvPr id="9" name="SILVER · PREDICTIVE ML"/>
            <p:cNvSpPr txBox="1"/>
            <p:nvPr/>
          </p:nvSpPr>
          <p:spPr>
            <a:xfrm>
              <a:off x="4054078" y="1616214"/>
              <a:ext cx="2035968" cy="160739"/>
            </a:xfrm>
            <a:prstGeom prst="rect">
              <a:avLst/>
            </a:prstGeom>
            <a:noFill/>
            <a:effectLst/>
          </p:spPr>
          <p:txBody>
            <a:bodyPr wrap="square" lIns="0" tIns="0" rIns="0" bIns="0">
              <a:spAutoFit/>
            </a:bodyPr>
            <a:lstStyle/>
            <a:p>
              <a:pPr>
                <a:spcBef>
                  <a:spcPts val="0"/>
                </a:spcBef>
                <a:spcAft>
                  <a:spcPts val="0"/>
                </a:spcAft>
                <a:defRPr sz="773" b="1">
                  <a:solidFill>
                    <a:srgbClr val="172C43"/>
                  </a:solidFill>
                  <a:latin typeface="Arial"/>
                </a:defRPr>
              </a:pPr>
              <a:r>
                <a:t>SILVER · PREDICTIVE ML</a:t>
              </a:r>
            </a:p>
          </p:txBody>
        </p:sp>
        <p:sp>
          <p:nvSpPr>
            <p:cNvPr id="10" name="GOLD"/>
            <p:cNvSpPr txBox="1"/>
            <p:nvPr/>
          </p:nvSpPr>
          <p:spPr>
            <a:xfrm>
              <a:off x="6143625" y="1616214"/>
              <a:ext cx="1518046" cy="160739"/>
            </a:xfrm>
            <a:prstGeom prst="rect">
              <a:avLst/>
            </a:prstGeom>
            <a:noFill/>
            <a:effectLst/>
          </p:spPr>
          <p:txBody>
            <a:bodyPr wrap="square" lIns="0" tIns="0" rIns="0" bIns="0">
              <a:spAutoFit/>
            </a:bodyPr>
            <a:lstStyle/>
            <a:p>
              <a:pPr>
                <a:spcBef>
                  <a:spcPts val="0"/>
                </a:spcBef>
                <a:spcAft>
                  <a:spcPts val="0"/>
                </a:spcAft>
                <a:defRPr sz="773" b="1">
                  <a:solidFill>
                    <a:srgbClr val="172C43"/>
                  </a:solidFill>
                  <a:latin typeface="Arial"/>
                </a:defRPr>
              </a:pPr>
              <a:r>
                <a:t>GOLD</a:t>
              </a:r>
            </a:p>
          </p:txBody>
        </p:sp>
        <p:sp>
          <p:nvSpPr>
            <p:cNvPr id="11" name="BUSINESS EXPERIENCE"/>
            <p:cNvSpPr txBox="1"/>
            <p:nvPr/>
          </p:nvSpPr>
          <p:spPr>
            <a:xfrm>
              <a:off x="7768828" y="1616214"/>
              <a:ext cx="1375171" cy="160739"/>
            </a:xfrm>
            <a:prstGeom prst="rect">
              <a:avLst/>
            </a:prstGeom>
            <a:noFill/>
            <a:effectLst/>
          </p:spPr>
          <p:txBody>
            <a:bodyPr wrap="square" lIns="0" tIns="0" rIns="0" bIns="0">
              <a:spAutoFit/>
            </a:bodyPr>
            <a:lstStyle/>
            <a:p>
              <a:pPr>
                <a:spcBef>
                  <a:spcPts val="0"/>
                </a:spcBef>
                <a:spcAft>
                  <a:spcPts val="0"/>
                </a:spcAft>
                <a:defRPr sz="773" b="1">
                  <a:solidFill>
                    <a:srgbClr val="172C43"/>
                  </a:solidFill>
                  <a:latin typeface="Arial"/>
                </a:defRPr>
              </a:pPr>
              <a:r>
                <a:t>BUSINESS EXPERIENCE</a:t>
              </a:r>
            </a:p>
          </p:txBody>
        </p:sp>
        <p:sp>
          <p:nvSpPr>
            <p:cNvPr id="12" name="Diagram panel"/>
            <p:cNvSpPr/>
            <p:nvPr/>
          </p:nvSpPr>
          <p:spPr>
            <a:xfrm>
              <a:off x="285750" y="1866254"/>
              <a:ext cx="1268015" cy="625098"/>
            </a:xfrm>
            <a:prstGeom prst="roundRect">
              <a:avLst>
                <a:gd name="adj" fmla="val 8000"/>
              </a:avLst>
            </a:prstGeom>
            <a:solidFill>
              <a:srgbClr val="FFFFFF"/>
            </a:solidFill>
            <a:ln w="6985">
              <a:solidFill>
                <a:srgbClr val="D9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Azure SQL"/>
            <p:cNvSpPr txBox="1"/>
            <p:nvPr/>
          </p:nvSpPr>
          <p:spPr>
            <a:xfrm>
              <a:off x="392906" y="1991273"/>
              <a:ext cx="1071562" cy="178599"/>
            </a:xfrm>
            <a:prstGeom prst="rect">
              <a:avLst/>
            </a:prstGeom>
            <a:noFill/>
            <a:effectLst/>
          </p:spPr>
          <p:txBody>
            <a:bodyPr wrap="square" lIns="0" tIns="0" rIns="0" bIns="0">
              <a:spAutoFit/>
            </a:bodyPr>
            <a:lstStyle/>
            <a:p>
              <a:pPr>
                <a:spcBef>
                  <a:spcPts val="0"/>
                </a:spcBef>
                <a:spcAft>
                  <a:spcPts val="0"/>
                </a:spcAft>
                <a:defRPr sz="956" b="1">
                  <a:solidFill>
                    <a:srgbClr val="172C43"/>
                  </a:solidFill>
                  <a:latin typeface="Arial"/>
                </a:defRPr>
              </a:pPr>
              <a:r>
                <a:t>Azure SQL</a:t>
              </a:r>
            </a:p>
          </p:txBody>
        </p:sp>
        <p:sp>
          <p:nvSpPr>
            <p:cNvPr id="14" name="Store data"/>
            <p:cNvSpPr txBox="1"/>
            <p:nvPr/>
          </p:nvSpPr>
          <p:spPr>
            <a:xfrm>
              <a:off x="392906" y="2205593"/>
              <a:ext cx="1089421" cy="375059"/>
            </a:xfrm>
            <a:prstGeom prst="rect">
              <a:avLst/>
            </a:prstGeom>
            <a:noFill/>
            <a:effectLst/>
          </p:spPr>
          <p:txBody>
            <a:bodyPr wrap="square" lIns="0" tIns="0" rIns="0" bIns="0">
              <a:spAutoFit/>
            </a:bodyPr>
            <a:lstStyle/>
            <a:p>
              <a:pPr>
                <a:spcBef>
                  <a:spcPts val="0"/>
                </a:spcBef>
                <a:spcAft>
                  <a:spcPts val="0"/>
                </a:spcAft>
                <a:defRPr sz="843" b="0">
                  <a:solidFill>
                    <a:srgbClr val="5E6D79"/>
                  </a:solidFill>
                  <a:latin typeface="Arial"/>
                </a:defRPr>
              </a:pPr>
              <a:r>
                <a:t>Store data</a:t>
              </a:r>
            </a:p>
          </p:txBody>
        </p:sp>
        <p:sp>
          <p:nvSpPr>
            <p:cNvPr id="15" name="Diagram panel"/>
            <p:cNvSpPr/>
            <p:nvPr/>
          </p:nvSpPr>
          <p:spPr>
            <a:xfrm>
              <a:off x="285750" y="2741391"/>
              <a:ext cx="1268015" cy="750118"/>
            </a:xfrm>
            <a:prstGeom prst="roundRect">
              <a:avLst>
                <a:gd name="adj" fmla="val 8000"/>
              </a:avLst>
            </a:prstGeom>
            <a:solidFill>
              <a:srgbClr val="FFFFFF"/>
            </a:solidFill>
            <a:ln w="6985">
              <a:solidFill>
                <a:srgbClr val="D9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UC volumes"/>
            <p:cNvSpPr txBox="1"/>
            <p:nvPr/>
          </p:nvSpPr>
          <p:spPr>
            <a:xfrm>
              <a:off x="392906" y="2866411"/>
              <a:ext cx="1071562" cy="178599"/>
            </a:xfrm>
            <a:prstGeom prst="rect">
              <a:avLst/>
            </a:prstGeom>
            <a:noFill/>
            <a:effectLst/>
          </p:spPr>
          <p:txBody>
            <a:bodyPr wrap="square" lIns="0" tIns="0" rIns="0" bIns="0">
              <a:spAutoFit/>
            </a:bodyPr>
            <a:lstStyle/>
            <a:p>
              <a:pPr>
                <a:spcBef>
                  <a:spcPts val="0"/>
                </a:spcBef>
                <a:spcAft>
                  <a:spcPts val="0"/>
                </a:spcAft>
                <a:defRPr sz="956" b="1">
                  <a:solidFill>
                    <a:srgbClr val="172C43"/>
                  </a:solidFill>
                  <a:latin typeface="Arial"/>
                </a:defRPr>
              </a:pPr>
              <a:r>
                <a:t>UC volumes</a:t>
              </a:r>
            </a:p>
          </p:txBody>
        </p:sp>
        <p:sp>
          <p:nvSpPr>
            <p:cNvPr id="17" name="Sales / product / / promotion files"/>
            <p:cNvSpPr txBox="1"/>
            <p:nvPr/>
          </p:nvSpPr>
          <p:spPr>
            <a:xfrm>
              <a:off x="392906" y="3080730"/>
              <a:ext cx="1089421" cy="375059"/>
            </a:xfrm>
            <a:prstGeom prst="rect">
              <a:avLst/>
            </a:prstGeom>
            <a:noFill/>
            <a:effectLst/>
          </p:spPr>
          <p:txBody>
            <a:bodyPr wrap="square" lIns="0" tIns="0" rIns="0" bIns="0">
              <a:spAutoFit/>
            </a:bodyPr>
            <a:lstStyle/>
            <a:p>
              <a:pPr>
                <a:spcBef>
                  <a:spcPts val="0"/>
                </a:spcBef>
                <a:spcAft>
                  <a:spcPts val="0"/>
                </a:spcAft>
                <a:defRPr sz="843" b="0">
                  <a:solidFill>
                    <a:srgbClr val="5E6D79"/>
                  </a:solidFill>
                  <a:latin typeface="Arial"/>
                </a:defRPr>
              </a:pPr>
              <a:r>
                <a:t>Sales / product /</a:t>
              </a:r>
            </a:p>
            <a:p>
              <a:pPr>
                <a:spcBef>
                  <a:spcPts val="0"/>
                </a:spcBef>
                <a:spcAft>
                  <a:spcPts val="0"/>
                </a:spcAft>
                <a:defRPr sz="843" b="0">
                  <a:solidFill>
                    <a:srgbClr val="5E6D79"/>
                  </a:solidFill>
                  <a:latin typeface="Arial"/>
                </a:defRPr>
              </a:pPr>
              <a:r>
                <a:t>promotion files</a:t>
              </a:r>
            </a:p>
          </p:txBody>
        </p:sp>
        <p:sp>
          <p:nvSpPr>
            <p:cNvPr id="18" name="Diagram panel"/>
            <p:cNvSpPr/>
            <p:nvPr/>
          </p:nvSpPr>
          <p:spPr>
            <a:xfrm>
              <a:off x="285750" y="3723689"/>
              <a:ext cx="1268015" cy="642958"/>
            </a:xfrm>
            <a:prstGeom prst="roundRect">
              <a:avLst>
                <a:gd name="adj" fmla="val 8000"/>
              </a:avLst>
            </a:prstGeom>
            <a:solidFill>
              <a:srgbClr val="FFFFFF"/>
            </a:solidFill>
            <a:ln w="6985">
              <a:solidFill>
                <a:srgbClr val="D9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Flat file"/>
            <p:cNvSpPr txBox="1"/>
            <p:nvPr/>
          </p:nvSpPr>
          <p:spPr>
            <a:xfrm>
              <a:off x="392906" y="3848708"/>
              <a:ext cx="1071562" cy="178599"/>
            </a:xfrm>
            <a:prstGeom prst="rect">
              <a:avLst/>
            </a:prstGeom>
            <a:noFill/>
            <a:effectLst/>
          </p:spPr>
          <p:txBody>
            <a:bodyPr wrap="square" lIns="0" tIns="0" rIns="0" bIns="0">
              <a:spAutoFit/>
            </a:bodyPr>
            <a:lstStyle/>
            <a:p>
              <a:pPr>
                <a:spcBef>
                  <a:spcPts val="0"/>
                </a:spcBef>
                <a:spcAft>
                  <a:spcPts val="0"/>
                </a:spcAft>
                <a:defRPr sz="956" b="1">
                  <a:solidFill>
                    <a:srgbClr val="172C43"/>
                  </a:solidFill>
                  <a:latin typeface="Arial"/>
                </a:defRPr>
              </a:pPr>
              <a:r>
                <a:t>Flat file</a:t>
              </a:r>
            </a:p>
          </p:txBody>
        </p:sp>
        <p:sp>
          <p:nvSpPr>
            <p:cNvPr id="20" name="Customer / churn"/>
            <p:cNvSpPr txBox="1"/>
            <p:nvPr/>
          </p:nvSpPr>
          <p:spPr>
            <a:xfrm>
              <a:off x="392906" y="4063028"/>
              <a:ext cx="1089421" cy="375059"/>
            </a:xfrm>
            <a:prstGeom prst="rect">
              <a:avLst/>
            </a:prstGeom>
            <a:noFill/>
            <a:effectLst/>
          </p:spPr>
          <p:txBody>
            <a:bodyPr wrap="square" lIns="0" tIns="0" rIns="0" bIns="0">
              <a:spAutoFit/>
            </a:bodyPr>
            <a:lstStyle/>
            <a:p>
              <a:pPr>
                <a:spcBef>
                  <a:spcPts val="0"/>
                </a:spcBef>
                <a:spcAft>
                  <a:spcPts val="0"/>
                </a:spcAft>
                <a:defRPr sz="843" b="0">
                  <a:solidFill>
                    <a:srgbClr val="5E6D79"/>
                  </a:solidFill>
                  <a:latin typeface="Arial"/>
                </a:defRPr>
              </a:pPr>
              <a:r>
                <a:t>Customer / churn</a:t>
              </a:r>
            </a:p>
          </p:txBody>
        </p:sp>
        <p:sp>
          <p:nvSpPr>
            <p:cNvPr id="21" name="Diagram panel"/>
            <p:cNvSpPr/>
            <p:nvPr/>
          </p:nvSpPr>
          <p:spPr>
            <a:xfrm>
              <a:off x="1839515" y="1866254"/>
              <a:ext cx="1857375" cy="2500393"/>
            </a:xfrm>
            <a:prstGeom prst="roundRect">
              <a:avLst>
                <a:gd name="adj" fmla="val 8000"/>
              </a:avLst>
            </a:prstGeom>
            <a:solidFill>
              <a:srgbClr val="FEF9EE"/>
            </a:solidFill>
            <a:ln w="6985">
              <a:solidFill>
                <a:srgbClr val="EDE4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Notebook ingestion"/>
            <p:cNvSpPr txBox="1"/>
            <p:nvPr/>
          </p:nvSpPr>
          <p:spPr>
            <a:xfrm>
              <a:off x="1964531" y="1991273"/>
              <a:ext cx="1625203" cy="214319"/>
            </a:xfrm>
            <a:prstGeom prst="rect">
              <a:avLst/>
            </a:prstGeom>
            <a:noFill/>
            <a:effectLst/>
          </p:spPr>
          <p:txBody>
            <a:bodyPr wrap="square" lIns="0" tIns="0" rIns="0" bIns="0">
              <a:spAutoFit/>
            </a:bodyPr>
            <a:lstStyle/>
            <a:p>
              <a:pPr>
                <a:spcBef>
                  <a:spcPts val="0"/>
                </a:spcBef>
                <a:spcAft>
                  <a:spcPts val="0"/>
                </a:spcAft>
                <a:defRPr sz="984" b="1">
                  <a:solidFill>
                    <a:srgbClr val="172C43"/>
                  </a:solidFill>
                  <a:latin typeface="Arial"/>
                </a:defRPr>
              </a:pPr>
              <a:r>
                <a:t>Notebook ingestion</a:t>
              </a:r>
            </a:p>
          </p:txBody>
        </p:sp>
        <p:sp>
          <p:nvSpPr>
            <p:cNvPr id="23" name="JDBC stores"/>
            <p:cNvSpPr txBox="1"/>
            <p:nvPr/>
          </p:nvSpPr>
          <p:spPr>
            <a:xfrm>
              <a:off x="1964531" y="2205593"/>
              <a:ext cx="1607343" cy="178599"/>
            </a:xfrm>
            <a:prstGeom prst="rect">
              <a:avLst/>
            </a:prstGeom>
            <a:noFill/>
            <a:effectLst/>
          </p:spPr>
          <p:txBody>
            <a:bodyPr wrap="square" lIns="0" tIns="0" rIns="0" bIns="0">
              <a:spAutoFit/>
            </a:bodyPr>
            <a:lstStyle/>
            <a:p>
              <a:pPr>
                <a:spcBef>
                  <a:spcPts val="0"/>
                </a:spcBef>
                <a:spcAft>
                  <a:spcPts val="0"/>
                </a:spcAft>
                <a:defRPr sz="871" b="0">
                  <a:solidFill>
                    <a:srgbClr val="5E6D79"/>
                  </a:solidFill>
                  <a:latin typeface="Arial"/>
                </a:defRPr>
              </a:pPr>
              <a:r>
                <a:t>JDBC stores</a:t>
              </a:r>
            </a:p>
          </p:txBody>
        </p:sp>
        <p:sp>
          <p:nvSpPr>
            <p:cNvPr id="24" name="Diagram panel"/>
            <p:cNvSpPr/>
            <p:nvPr/>
          </p:nvSpPr>
          <p:spPr>
            <a:xfrm>
              <a:off x="1964531" y="2419912"/>
              <a:ext cx="1607343" cy="410778"/>
            </a:xfrm>
            <a:prstGeom prst="roundRect">
              <a:avLst>
                <a:gd name="adj" fmla="val 8000"/>
              </a:avLst>
            </a:prstGeom>
            <a:solidFill>
              <a:srgbClr val="F1E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bronze Delta tables"/>
            <p:cNvSpPr txBox="1"/>
            <p:nvPr/>
          </p:nvSpPr>
          <p:spPr>
            <a:xfrm>
              <a:off x="2053828" y="2509212"/>
              <a:ext cx="1464468" cy="178599"/>
            </a:xfrm>
            <a:prstGeom prst="rect">
              <a:avLst/>
            </a:prstGeom>
            <a:noFill/>
            <a:effectLst/>
          </p:spPr>
          <p:txBody>
            <a:bodyPr wrap="square" lIns="0" tIns="0" rIns="0" bIns="0">
              <a:spAutoFit/>
            </a:bodyPr>
            <a:lstStyle/>
            <a:p>
              <a:pPr>
                <a:spcBef>
                  <a:spcPts val="0"/>
                </a:spcBef>
                <a:spcAft>
                  <a:spcPts val="0"/>
                </a:spcAft>
                <a:defRPr sz="914" b="1">
                  <a:solidFill>
                    <a:srgbClr val="172C43"/>
                  </a:solidFill>
                  <a:latin typeface="Arial"/>
                </a:defRPr>
              </a:pPr>
              <a:r>
                <a:t>bronze Delta tables</a:t>
              </a:r>
            </a:p>
          </p:txBody>
        </p:sp>
        <p:sp>
          <p:nvSpPr>
            <p:cNvPr id="26" name="Raw records + ingest metadata"/>
            <p:cNvSpPr txBox="1"/>
            <p:nvPr/>
          </p:nvSpPr>
          <p:spPr>
            <a:xfrm>
              <a:off x="2053828" y="2687811"/>
              <a:ext cx="1482328" cy="142879"/>
            </a:xfrm>
            <a:prstGeom prst="rect">
              <a:avLst/>
            </a:prstGeom>
            <a:noFill/>
            <a:effectLst/>
          </p:spPr>
          <p:txBody>
            <a:bodyPr wrap="square" lIns="0" tIns="0" rIns="0" bIns="0">
              <a:spAutoFit/>
            </a:bodyPr>
            <a:lstStyle/>
            <a:p>
              <a:pPr>
                <a:spcBef>
                  <a:spcPts val="0"/>
                </a:spcBef>
                <a:spcAft>
                  <a:spcPts val="0"/>
                </a:spcAft>
                <a:defRPr sz="745" b="0">
                  <a:solidFill>
                    <a:srgbClr val="607783"/>
                  </a:solidFill>
                  <a:latin typeface="Arial"/>
                </a:defRPr>
              </a:pPr>
              <a:r>
                <a:t>Raw records + ingest metadata</a:t>
              </a:r>
            </a:p>
          </p:txBody>
        </p:sp>
        <p:sp>
          <p:nvSpPr>
            <p:cNvPr id="27" name="Auto Loader: volume files"/>
            <p:cNvSpPr txBox="1"/>
            <p:nvPr/>
          </p:nvSpPr>
          <p:spPr>
            <a:xfrm>
              <a:off x="1964531" y="2991431"/>
              <a:ext cx="1660921" cy="178599"/>
            </a:xfrm>
            <a:prstGeom prst="rect">
              <a:avLst/>
            </a:prstGeom>
            <a:noFill/>
            <a:effectLst/>
          </p:spPr>
          <p:txBody>
            <a:bodyPr wrap="square" lIns="0" tIns="0" rIns="0" bIns="0">
              <a:spAutoFit/>
            </a:bodyPr>
            <a:lstStyle/>
            <a:p>
              <a:pPr>
                <a:spcBef>
                  <a:spcPts val="0"/>
                </a:spcBef>
                <a:spcAft>
                  <a:spcPts val="0"/>
                </a:spcAft>
                <a:defRPr sz="871" b="1">
                  <a:solidFill>
                    <a:srgbClr val="172C43"/>
                  </a:solidFill>
                  <a:latin typeface="Arial"/>
                </a:defRPr>
              </a:pPr>
              <a:r>
                <a:t>Auto Loader: volume files</a:t>
              </a:r>
            </a:p>
          </p:txBody>
        </p:sp>
        <p:sp>
          <p:nvSpPr>
            <p:cNvPr id="28" name="Schema / data quality checks"/>
            <p:cNvSpPr txBox="1"/>
            <p:nvPr/>
          </p:nvSpPr>
          <p:spPr>
            <a:xfrm>
              <a:off x="1964531" y="3295050"/>
              <a:ext cx="1643062" cy="178599"/>
            </a:xfrm>
            <a:prstGeom prst="rect">
              <a:avLst/>
            </a:prstGeom>
            <a:noFill/>
            <a:effectLst/>
          </p:spPr>
          <p:txBody>
            <a:bodyPr wrap="square" lIns="0" tIns="0" rIns="0" bIns="0">
              <a:spAutoFit/>
            </a:bodyPr>
            <a:lstStyle/>
            <a:p>
              <a:pPr>
                <a:spcBef>
                  <a:spcPts val="0"/>
                </a:spcBef>
                <a:spcAft>
                  <a:spcPts val="0"/>
                </a:spcAft>
                <a:defRPr sz="801" b="0">
                  <a:solidFill>
                    <a:srgbClr val="607783"/>
                  </a:solidFill>
                  <a:latin typeface="Arial"/>
                </a:defRPr>
              </a:pPr>
              <a:r>
                <a:t>Schema / data quality checks</a:t>
              </a:r>
            </a:p>
          </p:txBody>
        </p:sp>
        <p:sp>
          <p:nvSpPr>
            <p:cNvPr id="29" name="Notebook: churn file"/>
            <p:cNvSpPr txBox="1"/>
            <p:nvPr/>
          </p:nvSpPr>
          <p:spPr>
            <a:xfrm>
              <a:off x="1964531" y="3902288"/>
              <a:ext cx="1625203" cy="178599"/>
            </a:xfrm>
            <a:prstGeom prst="rect">
              <a:avLst/>
            </a:prstGeom>
            <a:noFill/>
            <a:effectLst/>
          </p:spPr>
          <p:txBody>
            <a:bodyPr wrap="square" lIns="0" tIns="0" rIns="0" bIns="0">
              <a:spAutoFit/>
            </a:bodyPr>
            <a:lstStyle/>
            <a:p>
              <a:pPr>
                <a:spcBef>
                  <a:spcPts val="0"/>
                </a:spcBef>
                <a:spcAft>
                  <a:spcPts val="0"/>
                </a:spcAft>
                <a:defRPr sz="871" b="1">
                  <a:solidFill>
                    <a:srgbClr val="172C43"/>
                  </a:solidFill>
                  <a:latin typeface="Arial"/>
                </a:defRPr>
              </a:pPr>
              <a:r>
                <a:t>Notebook: churn file</a:t>
              </a:r>
            </a:p>
          </p:txBody>
        </p:sp>
        <p:sp>
          <p:nvSpPr>
            <p:cNvPr id="30" name="Raw churn retained in bronze"/>
            <p:cNvSpPr txBox="1"/>
            <p:nvPr/>
          </p:nvSpPr>
          <p:spPr>
            <a:xfrm>
              <a:off x="1964531" y="4134468"/>
              <a:ext cx="1625203" cy="160739"/>
            </a:xfrm>
            <a:prstGeom prst="rect">
              <a:avLst/>
            </a:prstGeom>
            <a:noFill/>
            <a:effectLst/>
          </p:spPr>
          <p:txBody>
            <a:bodyPr wrap="square" lIns="0" tIns="0" rIns="0" bIns="0">
              <a:spAutoFit/>
            </a:bodyPr>
            <a:lstStyle/>
            <a:p>
              <a:pPr>
                <a:spcBef>
                  <a:spcPts val="0"/>
                </a:spcBef>
                <a:spcAft>
                  <a:spcPts val="0"/>
                </a:spcAft>
                <a:defRPr sz="787" b="0">
                  <a:solidFill>
                    <a:srgbClr val="607783"/>
                  </a:solidFill>
                  <a:latin typeface="Arial"/>
                </a:defRPr>
              </a:pPr>
              <a:r>
                <a:t>Raw churn retained in bronze</a:t>
              </a:r>
            </a:p>
          </p:txBody>
        </p:sp>
        <p:sp>
          <p:nvSpPr>
            <p:cNvPr id="31" name="Diagram panel"/>
            <p:cNvSpPr/>
            <p:nvPr/>
          </p:nvSpPr>
          <p:spPr>
            <a:xfrm>
              <a:off x="4054078" y="1991273"/>
              <a:ext cx="1750218" cy="982297"/>
            </a:xfrm>
            <a:prstGeom prst="roundRect">
              <a:avLst>
                <a:gd name="adj" fmla="val 8000"/>
              </a:avLst>
            </a:prstGeom>
            <a:solidFill>
              <a:srgbClr val="EEF6F8"/>
            </a:solidFill>
            <a:ln w="6985">
              <a:solidFill>
                <a:srgbClr val="C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silver.promotion_Sales"/>
            <p:cNvSpPr txBox="1"/>
            <p:nvPr/>
          </p:nvSpPr>
          <p:spPr>
            <a:xfrm>
              <a:off x="4161234" y="2116293"/>
              <a:ext cx="1571625" cy="214319"/>
            </a:xfrm>
            <a:prstGeom prst="rect">
              <a:avLst/>
            </a:prstGeom>
            <a:noFill/>
            <a:effectLst/>
          </p:spPr>
          <p:txBody>
            <a:bodyPr wrap="square" lIns="0" tIns="0" rIns="0" bIns="0">
              <a:spAutoFit/>
            </a:bodyPr>
            <a:lstStyle/>
            <a:p>
              <a:pPr>
                <a:spcBef>
                  <a:spcPts val="0"/>
                </a:spcBef>
                <a:spcAft>
                  <a:spcPts val="0"/>
                </a:spcAft>
                <a:defRPr sz="956" b="1">
                  <a:solidFill>
                    <a:srgbClr val="172C43"/>
                  </a:solidFill>
                  <a:latin typeface="Arial"/>
                </a:defRPr>
              </a:pPr>
              <a:r>
                <a:t>silver.promotion_Sales</a:t>
              </a:r>
            </a:p>
          </p:txBody>
        </p:sp>
        <p:sp>
          <p:nvSpPr>
            <p:cNvPr id="33" name="Sales + stores + products / + promotions"/>
            <p:cNvSpPr txBox="1"/>
            <p:nvPr/>
          </p:nvSpPr>
          <p:spPr>
            <a:xfrm>
              <a:off x="4161234" y="2330612"/>
              <a:ext cx="1571625" cy="321479"/>
            </a:xfrm>
            <a:prstGeom prst="rect">
              <a:avLst/>
            </a:prstGeom>
            <a:noFill/>
            <a:effectLst/>
          </p:spPr>
          <p:txBody>
            <a:bodyPr wrap="square" lIns="0" tIns="0" rIns="0" bIns="0">
              <a:spAutoFit/>
            </a:bodyPr>
            <a:lstStyle/>
            <a:p>
              <a:pPr>
                <a:spcBef>
                  <a:spcPts val="0"/>
                </a:spcBef>
                <a:spcAft>
                  <a:spcPts val="0"/>
                </a:spcAft>
                <a:defRPr sz="857" b="0">
                  <a:solidFill>
                    <a:srgbClr val="172C43"/>
                  </a:solidFill>
                  <a:latin typeface="Arial"/>
                </a:defRPr>
              </a:pPr>
              <a:r>
                <a:t>Sales + stores + products</a:t>
              </a:r>
            </a:p>
            <a:p>
              <a:pPr>
                <a:spcBef>
                  <a:spcPts val="0"/>
                </a:spcBef>
                <a:spcAft>
                  <a:spcPts val="0"/>
                </a:spcAft>
                <a:defRPr sz="857" b="0">
                  <a:solidFill>
                    <a:srgbClr val="172C43"/>
                  </a:solidFill>
                  <a:latin typeface="Arial"/>
                </a:defRPr>
              </a:pPr>
              <a:r>
                <a:t>+ promotions</a:t>
              </a:r>
            </a:p>
          </p:txBody>
        </p:sp>
        <p:sp>
          <p:nvSpPr>
            <p:cNvPr id="34" name="Non-aggregated OBT"/>
            <p:cNvSpPr txBox="1"/>
            <p:nvPr/>
          </p:nvSpPr>
          <p:spPr>
            <a:xfrm>
              <a:off x="4161234" y="2723531"/>
              <a:ext cx="1571625" cy="160739"/>
            </a:xfrm>
            <a:prstGeom prst="rect">
              <a:avLst/>
            </a:prstGeom>
            <a:noFill/>
            <a:effectLst/>
          </p:spPr>
          <p:txBody>
            <a:bodyPr wrap="square" lIns="0" tIns="0" rIns="0" bIns="0">
              <a:spAutoFit/>
            </a:bodyPr>
            <a:lstStyle/>
            <a:p>
              <a:pPr>
                <a:spcBef>
                  <a:spcPts val="0"/>
                </a:spcBef>
                <a:spcAft>
                  <a:spcPts val="0"/>
                </a:spcAft>
                <a:defRPr sz="787" b="0">
                  <a:solidFill>
                    <a:srgbClr val="607783"/>
                  </a:solidFill>
                  <a:latin typeface="Arial"/>
                </a:defRPr>
              </a:pPr>
              <a:r>
                <a:t>Non-aggregated OBT</a:t>
              </a:r>
            </a:p>
          </p:txBody>
        </p:sp>
        <p:sp>
          <p:nvSpPr>
            <p:cNvPr id="35" name="Diagram panel"/>
            <p:cNvSpPr/>
            <p:nvPr/>
          </p:nvSpPr>
          <p:spPr>
            <a:xfrm>
              <a:off x="4054078" y="3348630"/>
              <a:ext cx="1750218" cy="1107317"/>
            </a:xfrm>
            <a:prstGeom prst="roundRect">
              <a:avLst>
                <a:gd name="adj" fmla="val 8000"/>
              </a:avLst>
            </a:prstGeom>
            <a:solidFill>
              <a:srgbClr val="EEF6F8"/>
            </a:solidFill>
            <a:ln w="6985">
              <a:solidFill>
                <a:srgbClr val="C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andom Forest notebook"/>
            <p:cNvSpPr txBox="1"/>
            <p:nvPr/>
          </p:nvSpPr>
          <p:spPr>
            <a:xfrm>
              <a:off x="4161234" y="3473649"/>
              <a:ext cx="1571625" cy="178599"/>
            </a:xfrm>
            <a:prstGeom prst="rect">
              <a:avLst/>
            </a:prstGeom>
            <a:noFill/>
            <a:effectLst/>
          </p:spPr>
          <p:txBody>
            <a:bodyPr wrap="square" lIns="0" tIns="0" rIns="0" bIns="0">
              <a:spAutoFit/>
            </a:bodyPr>
            <a:lstStyle/>
            <a:p>
              <a:pPr>
                <a:spcBef>
                  <a:spcPts val="0"/>
                </a:spcBef>
                <a:spcAft>
                  <a:spcPts val="0"/>
                </a:spcAft>
                <a:defRPr sz="942" b="1">
                  <a:solidFill>
                    <a:srgbClr val="172C43"/>
                  </a:solidFill>
                  <a:latin typeface="Arial"/>
                </a:defRPr>
              </a:pPr>
              <a:r>
                <a:t>Random Forest notebook</a:t>
              </a:r>
            </a:p>
          </p:txBody>
        </p:sp>
        <p:sp>
          <p:nvSpPr>
            <p:cNvPr id="37" name="Training / findings pipeline"/>
            <p:cNvSpPr txBox="1"/>
            <p:nvPr/>
          </p:nvSpPr>
          <p:spPr>
            <a:xfrm>
              <a:off x="4161234" y="3670109"/>
              <a:ext cx="1571625" cy="178599"/>
            </a:xfrm>
            <a:prstGeom prst="rect">
              <a:avLst/>
            </a:prstGeom>
            <a:noFill/>
            <a:effectLst/>
          </p:spPr>
          <p:txBody>
            <a:bodyPr wrap="square" lIns="0" tIns="0" rIns="0" bIns="0">
              <a:spAutoFit/>
            </a:bodyPr>
            <a:lstStyle/>
            <a:p>
              <a:pPr>
                <a:spcBef>
                  <a:spcPts val="0"/>
                </a:spcBef>
                <a:spcAft>
                  <a:spcPts val="0"/>
                </a:spcAft>
                <a:defRPr sz="857" b="0">
                  <a:solidFill>
                    <a:srgbClr val="172C43"/>
                  </a:solidFill>
                  <a:latin typeface="Arial"/>
                </a:defRPr>
              </a:pPr>
              <a:r>
                <a:t>Training / findings pipeline</a:t>
              </a:r>
            </a:p>
          </p:txBody>
        </p:sp>
        <p:cxnSp>
          <p:nvCxnSpPr>
            <p:cNvPr id="38" name="Connector 37"/>
            <p:cNvCxnSpPr/>
            <p:nvPr/>
          </p:nvCxnSpPr>
          <p:spPr>
            <a:xfrm>
              <a:off x="4929187" y="3830848"/>
              <a:ext cx="0" cy="142880"/>
            </a:xfrm>
            <a:prstGeom prst="line">
              <a:avLst/>
            </a:prstGeom>
            <a:ln w="12700">
              <a:solidFill>
                <a:srgbClr val="536C7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9" name="silver.model_findings"/>
            <p:cNvSpPr txBox="1"/>
            <p:nvPr/>
          </p:nvSpPr>
          <p:spPr>
            <a:xfrm>
              <a:off x="4161234" y="4063028"/>
              <a:ext cx="1571625" cy="178599"/>
            </a:xfrm>
            <a:prstGeom prst="rect">
              <a:avLst/>
            </a:prstGeom>
            <a:noFill/>
            <a:effectLst/>
          </p:spPr>
          <p:txBody>
            <a:bodyPr wrap="square" lIns="0" tIns="0" rIns="0" bIns="0">
              <a:spAutoFit/>
            </a:bodyPr>
            <a:lstStyle/>
            <a:p>
              <a:pPr>
                <a:spcBef>
                  <a:spcPts val="0"/>
                </a:spcBef>
                <a:spcAft>
                  <a:spcPts val="0"/>
                </a:spcAft>
                <a:defRPr sz="956" b="1">
                  <a:solidFill>
                    <a:srgbClr val="172C43"/>
                  </a:solidFill>
                  <a:latin typeface="Arial"/>
                </a:defRPr>
              </a:pPr>
              <a:r>
                <a:t>silver.model_findings</a:t>
              </a:r>
            </a:p>
          </p:txBody>
        </p:sp>
        <p:sp>
          <p:nvSpPr>
            <p:cNvPr id="40" name="Global feature importance"/>
            <p:cNvSpPr txBox="1"/>
            <p:nvPr/>
          </p:nvSpPr>
          <p:spPr>
            <a:xfrm>
              <a:off x="4161234" y="4277347"/>
              <a:ext cx="1571625" cy="160739"/>
            </a:xfrm>
            <a:prstGeom prst="rect">
              <a:avLst/>
            </a:prstGeom>
            <a:noFill/>
            <a:effectLst/>
          </p:spPr>
          <p:txBody>
            <a:bodyPr wrap="square" lIns="0" tIns="0" rIns="0" bIns="0">
              <a:spAutoFit/>
            </a:bodyPr>
            <a:lstStyle/>
            <a:p>
              <a:pPr>
                <a:spcBef>
                  <a:spcPts val="0"/>
                </a:spcBef>
                <a:spcAft>
                  <a:spcPts val="0"/>
                </a:spcAft>
                <a:defRPr sz="787" b="0">
                  <a:solidFill>
                    <a:srgbClr val="607783"/>
                  </a:solidFill>
                  <a:latin typeface="Arial"/>
                </a:defRPr>
              </a:pPr>
              <a:r>
                <a:t>Global feature importance</a:t>
              </a:r>
            </a:p>
          </p:txBody>
        </p:sp>
        <p:sp>
          <p:nvSpPr>
            <p:cNvPr id="41" name="Diagram panel"/>
            <p:cNvSpPr/>
            <p:nvPr/>
          </p:nvSpPr>
          <p:spPr>
            <a:xfrm>
              <a:off x="6143625" y="1991273"/>
              <a:ext cx="1321593" cy="982297"/>
            </a:xfrm>
            <a:prstGeom prst="roundRect">
              <a:avLst>
                <a:gd name="adj" fmla="val 8000"/>
              </a:avLst>
            </a:prstGeom>
            <a:solidFill>
              <a:srgbClr val="FFF6D7"/>
            </a:solidFill>
            <a:ln w="6985">
              <a:solidFill>
                <a:srgbClr val="E9DCA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gold. / promotions_impact"/>
            <p:cNvSpPr txBox="1"/>
            <p:nvPr/>
          </p:nvSpPr>
          <p:spPr>
            <a:xfrm>
              <a:off x="6250781" y="2116293"/>
              <a:ext cx="1125140" cy="357199"/>
            </a:xfrm>
            <a:prstGeom prst="rect">
              <a:avLst/>
            </a:prstGeom>
            <a:noFill/>
            <a:effectLst/>
          </p:spPr>
          <p:txBody>
            <a:bodyPr wrap="square" lIns="0" tIns="0" rIns="0" bIns="0">
              <a:spAutoFit/>
            </a:bodyPr>
            <a:lstStyle/>
            <a:p>
              <a:pPr>
                <a:spcBef>
                  <a:spcPts val="0"/>
                </a:spcBef>
                <a:spcAft>
                  <a:spcPts val="0"/>
                </a:spcAft>
                <a:defRPr sz="829" b="1">
                  <a:solidFill>
                    <a:srgbClr val="172C43"/>
                  </a:solidFill>
                  <a:latin typeface="Arial"/>
                </a:defRPr>
              </a:pPr>
              <a:r>
                <a:t>gold.</a:t>
              </a:r>
            </a:p>
            <a:p>
              <a:pPr>
                <a:spcBef>
                  <a:spcPts val="0"/>
                </a:spcBef>
                <a:spcAft>
                  <a:spcPts val="0"/>
                </a:spcAft>
                <a:defRPr sz="829" b="1">
                  <a:solidFill>
                    <a:srgbClr val="172C43"/>
                  </a:solidFill>
                  <a:latin typeface="Arial"/>
                </a:defRPr>
              </a:pPr>
              <a:r>
                <a:t>promotions_impact</a:t>
              </a:r>
            </a:p>
          </p:txBody>
        </p:sp>
        <p:sp>
          <p:nvSpPr>
            <p:cNvPr id="43" name="Actual vs baseline"/>
            <p:cNvSpPr txBox="1"/>
            <p:nvPr/>
          </p:nvSpPr>
          <p:spPr>
            <a:xfrm>
              <a:off x="6250781" y="2527072"/>
              <a:ext cx="1107281" cy="178599"/>
            </a:xfrm>
            <a:prstGeom prst="rect">
              <a:avLst/>
            </a:prstGeom>
            <a:noFill/>
            <a:effectLst/>
          </p:spPr>
          <p:txBody>
            <a:bodyPr wrap="square" lIns="0" tIns="0" rIns="0" bIns="0">
              <a:spAutoFit/>
            </a:bodyPr>
            <a:lstStyle/>
            <a:p>
              <a:pPr>
                <a:spcBef>
                  <a:spcPts val="0"/>
                </a:spcBef>
                <a:spcAft>
                  <a:spcPts val="0"/>
                </a:spcAft>
                <a:defRPr sz="857" b="0">
                  <a:solidFill>
                    <a:srgbClr val="172C43"/>
                  </a:solidFill>
                  <a:latin typeface="Arial"/>
                </a:defRPr>
              </a:pPr>
              <a:r>
                <a:t>Actual vs baseline</a:t>
              </a:r>
            </a:p>
          </p:txBody>
        </p:sp>
        <p:sp>
          <p:nvSpPr>
            <p:cNvPr id="44" name="Category access via / secured widgets"/>
            <p:cNvSpPr txBox="1"/>
            <p:nvPr/>
          </p:nvSpPr>
          <p:spPr>
            <a:xfrm>
              <a:off x="6250781" y="2705671"/>
              <a:ext cx="1125140" cy="285759"/>
            </a:xfrm>
            <a:prstGeom prst="rect">
              <a:avLst/>
            </a:prstGeom>
            <a:noFill/>
            <a:effectLst/>
          </p:spPr>
          <p:txBody>
            <a:bodyPr wrap="square" lIns="0" tIns="0" rIns="0" bIns="0">
              <a:spAutoFit/>
            </a:bodyPr>
            <a:lstStyle/>
            <a:p>
              <a:pPr>
                <a:spcBef>
                  <a:spcPts val="0"/>
                </a:spcBef>
                <a:spcAft>
                  <a:spcPts val="0"/>
                </a:spcAft>
                <a:defRPr sz="759" b="0">
                  <a:solidFill>
                    <a:srgbClr val="607783"/>
                  </a:solidFill>
                  <a:latin typeface="Arial"/>
                </a:defRPr>
              </a:pPr>
              <a:r>
                <a:t>Category access via</a:t>
              </a:r>
            </a:p>
            <a:p>
              <a:pPr>
                <a:spcBef>
                  <a:spcPts val="0"/>
                </a:spcBef>
                <a:spcAft>
                  <a:spcPts val="0"/>
                </a:spcAft>
                <a:defRPr sz="759" b="0">
                  <a:solidFill>
                    <a:srgbClr val="607783"/>
                  </a:solidFill>
                  <a:latin typeface="Arial"/>
                </a:defRPr>
              </a:pPr>
              <a:r>
                <a:t>secured widgets</a:t>
              </a:r>
            </a:p>
          </p:txBody>
        </p:sp>
        <p:sp>
          <p:nvSpPr>
            <p:cNvPr id="45" name="Diagram panel"/>
            <p:cNvSpPr/>
            <p:nvPr/>
          </p:nvSpPr>
          <p:spPr>
            <a:xfrm>
              <a:off x="7768828" y="1991273"/>
              <a:ext cx="1214437" cy="982297"/>
            </a:xfrm>
            <a:prstGeom prst="roundRect">
              <a:avLst>
                <a:gd name="adj" fmla="val 8000"/>
              </a:avLst>
            </a:prstGeom>
            <a:solidFill>
              <a:srgbClr val="298291"/>
            </a:solidFill>
            <a:ln w="6985">
              <a:solidFill>
                <a:srgbClr val="29829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Promotion / dashboard"/>
            <p:cNvSpPr txBox="1"/>
            <p:nvPr/>
          </p:nvSpPr>
          <p:spPr>
            <a:xfrm>
              <a:off x="7875984" y="2134153"/>
              <a:ext cx="1017984" cy="321479"/>
            </a:xfrm>
            <a:prstGeom prst="rect">
              <a:avLst/>
            </a:prstGeom>
            <a:noFill/>
            <a:effectLst/>
          </p:spPr>
          <p:txBody>
            <a:bodyPr wrap="square" lIns="0" tIns="0" rIns="0" bIns="0">
              <a:spAutoFit/>
            </a:bodyPr>
            <a:lstStyle/>
            <a:p>
              <a:pPr>
                <a:spcBef>
                  <a:spcPts val="0"/>
                </a:spcBef>
                <a:spcAft>
                  <a:spcPts val="0"/>
                </a:spcAft>
                <a:defRPr sz="956" b="1">
                  <a:solidFill>
                    <a:srgbClr val="FFFFFF"/>
                  </a:solidFill>
                  <a:latin typeface="Arial"/>
                </a:defRPr>
              </a:pPr>
              <a:r>
                <a:t>Promotion</a:t>
              </a:r>
            </a:p>
            <a:p>
              <a:pPr>
                <a:spcBef>
                  <a:spcPts val="0"/>
                </a:spcBef>
                <a:spcAft>
                  <a:spcPts val="0"/>
                </a:spcAft>
                <a:defRPr sz="956" b="1">
                  <a:solidFill>
                    <a:srgbClr val="FFFFFF"/>
                  </a:solidFill>
                  <a:latin typeface="Arial"/>
                </a:defRPr>
              </a:pPr>
              <a:r>
                <a:t>dashboard</a:t>
              </a:r>
            </a:p>
          </p:txBody>
        </p:sp>
        <p:sp>
          <p:nvSpPr>
            <p:cNvPr id="47" name="Category scorecards / Historical period lens / Impact / region / crop"/>
            <p:cNvSpPr txBox="1"/>
            <p:nvPr/>
          </p:nvSpPr>
          <p:spPr>
            <a:xfrm>
              <a:off x="7875984" y="2527072"/>
              <a:ext cx="1017984" cy="410778"/>
            </a:xfrm>
            <a:prstGeom prst="rect">
              <a:avLst/>
            </a:prstGeom>
            <a:noFill/>
            <a:effectLst/>
          </p:spPr>
          <p:txBody>
            <a:bodyPr wrap="square" lIns="0" tIns="0" rIns="0" bIns="0">
              <a:spAutoFit/>
            </a:bodyPr>
            <a:lstStyle/>
            <a:p>
              <a:pPr>
                <a:spcBef>
                  <a:spcPts val="0"/>
                </a:spcBef>
                <a:spcAft>
                  <a:spcPts val="0"/>
                </a:spcAft>
                <a:defRPr sz="759" b="0">
                  <a:solidFill>
                    <a:srgbClr val="FFFFFF"/>
                  </a:solidFill>
                  <a:latin typeface="Arial"/>
                </a:defRPr>
              </a:pPr>
              <a:r>
                <a:t>Category scorecards</a:t>
              </a:r>
            </a:p>
            <a:p>
              <a:pPr>
                <a:spcBef>
                  <a:spcPts val="0"/>
                </a:spcBef>
                <a:spcAft>
                  <a:spcPts val="0"/>
                </a:spcAft>
                <a:defRPr sz="759" b="0">
                  <a:solidFill>
                    <a:srgbClr val="FFFFFF"/>
                  </a:solidFill>
                  <a:latin typeface="Arial"/>
                </a:defRPr>
              </a:pPr>
              <a:r>
                <a:t>Historical period lens</a:t>
              </a:r>
            </a:p>
            <a:p>
              <a:pPr>
                <a:spcBef>
                  <a:spcPts val="0"/>
                </a:spcBef>
                <a:spcAft>
                  <a:spcPts val="0"/>
                </a:spcAft>
                <a:defRPr sz="759" b="0">
                  <a:solidFill>
                    <a:srgbClr val="FFFFFF"/>
                  </a:solidFill>
                  <a:latin typeface="Arial"/>
                </a:defRPr>
              </a:pPr>
              <a:r>
                <a:t>Impact / region / crop</a:t>
              </a:r>
            </a:p>
          </p:txBody>
        </p:sp>
        <p:sp>
          <p:nvSpPr>
            <p:cNvPr id="48" name="Diagram panel"/>
            <p:cNvSpPr/>
            <p:nvPr/>
          </p:nvSpPr>
          <p:spPr>
            <a:xfrm>
              <a:off x="6143625" y="3348630"/>
              <a:ext cx="2839640" cy="1107317"/>
            </a:xfrm>
            <a:prstGeom prst="roundRect">
              <a:avLst>
                <a:gd name="adj" fmla="val 8000"/>
              </a:avLst>
            </a:prstGeom>
            <a:solidFill>
              <a:srgbClr val="E4F3F1"/>
            </a:solidFill>
            <a:ln w="6985">
              <a:solidFill>
                <a:srgbClr val="B9DD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Genie agent | Natural-language Q&amp;A"/>
            <p:cNvSpPr txBox="1"/>
            <p:nvPr/>
          </p:nvSpPr>
          <p:spPr>
            <a:xfrm>
              <a:off x="6250781" y="3473649"/>
              <a:ext cx="2661046" cy="196459"/>
            </a:xfrm>
            <a:prstGeom prst="rect">
              <a:avLst/>
            </a:prstGeom>
            <a:noFill/>
            <a:effectLst/>
          </p:spPr>
          <p:txBody>
            <a:bodyPr wrap="square" lIns="0" tIns="0" rIns="0" bIns="0">
              <a:spAutoFit/>
            </a:bodyPr>
            <a:lstStyle/>
            <a:p>
              <a:pPr>
                <a:spcBef>
                  <a:spcPts val="0"/>
                </a:spcBef>
                <a:spcAft>
                  <a:spcPts val="0"/>
                </a:spcAft>
                <a:defRPr sz="942" b="1">
                  <a:solidFill>
                    <a:srgbClr val="172C43"/>
                  </a:solidFill>
                  <a:latin typeface="Arial"/>
                </a:defRPr>
              </a:pPr>
              <a:r>
                <a:t>Genie agent | Natural-language Q&amp;A</a:t>
              </a:r>
            </a:p>
          </p:txBody>
        </p:sp>
        <p:sp>
          <p:nvSpPr>
            <p:cNvPr id="50" name="Semantic business tables"/>
            <p:cNvSpPr txBox="1"/>
            <p:nvPr/>
          </p:nvSpPr>
          <p:spPr>
            <a:xfrm>
              <a:off x="6250781" y="3705829"/>
              <a:ext cx="2607468" cy="178599"/>
            </a:xfrm>
            <a:prstGeom prst="rect">
              <a:avLst/>
            </a:prstGeom>
            <a:noFill/>
            <a:effectLst/>
          </p:spPr>
          <p:txBody>
            <a:bodyPr wrap="square" lIns="0" tIns="0" rIns="0" bIns="0">
              <a:spAutoFit/>
            </a:bodyPr>
            <a:lstStyle/>
            <a:p>
              <a:pPr>
                <a:spcBef>
                  <a:spcPts val="0"/>
                </a:spcBef>
                <a:spcAft>
                  <a:spcPts val="0"/>
                </a:spcAft>
                <a:defRPr sz="857" b="0">
                  <a:solidFill>
                    <a:srgbClr val="172C43"/>
                  </a:solidFill>
                  <a:latin typeface="Arial"/>
                </a:defRPr>
              </a:pPr>
              <a:r>
                <a:t>Semantic business tables</a:t>
              </a:r>
            </a:p>
          </p:txBody>
        </p:sp>
        <p:sp>
          <p:nvSpPr>
            <p:cNvPr id="51" name="Promotion detail + global model signals"/>
            <p:cNvSpPr txBox="1"/>
            <p:nvPr/>
          </p:nvSpPr>
          <p:spPr>
            <a:xfrm>
              <a:off x="6250781" y="3902288"/>
              <a:ext cx="2607468" cy="178599"/>
            </a:xfrm>
            <a:prstGeom prst="rect">
              <a:avLst/>
            </a:prstGeom>
            <a:noFill/>
            <a:effectLst/>
          </p:spPr>
          <p:txBody>
            <a:bodyPr wrap="square" lIns="0" tIns="0" rIns="0" bIns="0">
              <a:spAutoFit/>
            </a:bodyPr>
            <a:lstStyle/>
            <a:p>
              <a:pPr>
                <a:spcBef>
                  <a:spcPts val="0"/>
                </a:spcBef>
                <a:spcAft>
                  <a:spcPts val="0"/>
                </a:spcAft>
                <a:defRPr sz="857" b="0">
                  <a:solidFill>
                    <a:srgbClr val="172C43"/>
                  </a:solidFill>
                  <a:latin typeface="Arial"/>
                </a:defRPr>
              </a:pPr>
              <a:r>
                <a:t>Promotion detail + global model signals</a:t>
              </a:r>
            </a:p>
          </p:txBody>
        </p:sp>
        <p:sp>
          <p:nvSpPr>
            <p:cNvPr id="52" name="Governed query access instead of unrestricted SQL"/>
            <p:cNvSpPr txBox="1"/>
            <p:nvPr/>
          </p:nvSpPr>
          <p:spPr>
            <a:xfrm>
              <a:off x="6250781" y="4170188"/>
              <a:ext cx="2607468" cy="196459"/>
            </a:xfrm>
            <a:prstGeom prst="rect">
              <a:avLst/>
            </a:prstGeom>
            <a:noFill/>
            <a:effectLst/>
          </p:spPr>
          <p:txBody>
            <a:bodyPr wrap="square" lIns="0" tIns="0" rIns="0" bIns="0">
              <a:spAutoFit/>
            </a:bodyPr>
            <a:lstStyle/>
            <a:p>
              <a:pPr>
                <a:spcBef>
                  <a:spcPts val="0"/>
                </a:spcBef>
                <a:spcAft>
                  <a:spcPts val="0"/>
                </a:spcAft>
                <a:defRPr sz="759" b="0">
                  <a:solidFill>
                    <a:srgbClr val="607783"/>
                  </a:solidFill>
                  <a:latin typeface="Arial"/>
                </a:defRPr>
              </a:pPr>
              <a:r>
                <a:t>Governed query access instead of unrestricted SQL</a:t>
              </a:r>
            </a:p>
          </p:txBody>
        </p:sp>
        <p:cxnSp>
          <p:nvCxnSpPr>
            <p:cNvPr id="53" name="Connector 52"/>
            <p:cNvCxnSpPr/>
            <p:nvPr/>
          </p:nvCxnSpPr>
          <p:spPr>
            <a:xfrm>
              <a:off x="1553765" y="2169873"/>
              <a:ext cx="232172" cy="0"/>
            </a:xfrm>
            <a:prstGeom prst="line">
              <a:avLst/>
            </a:prstGeom>
            <a:ln w="12700">
              <a:solidFill>
                <a:srgbClr val="536C7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553765" y="3116450"/>
              <a:ext cx="232172" cy="0"/>
            </a:xfrm>
            <a:prstGeom prst="line">
              <a:avLst/>
            </a:prstGeom>
            <a:ln w="12700">
              <a:solidFill>
                <a:srgbClr val="536C7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1553765" y="4045168"/>
              <a:ext cx="232172" cy="0"/>
            </a:xfrm>
            <a:prstGeom prst="line">
              <a:avLst/>
            </a:prstGeom>
            <a:ln w="12700">
              <a:solidFill>
                <a:srgbClr val="536C7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3696890" y="2509212"/>
              <a:ext cx="303610" cy="0"/>
            </a:xfrm>
            <a:prstGeom prst="line">
              <a:avLst/>
            </a:prstGeom>
            <a:ln w="12700">
              <a:solidFill>
                <a:srgbClr val="536C7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3696890" y="4045168"/>
              <a:ext cx="303610" cy="0"/>
            </a:xfrm>
            <a:prstGeom prst="line">
              <a:avLst/>
            </a:prstGeom>
            <a:ln w="12700">
              <a:solidFill>
                <a:srgbClr val="536C7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5804296" y="2473492"/>
              <a:ext cx="285750" cy="0"/>
            </a:xfrm>
            <a:prstGeom prst="line">
              <a:avLst/>
            </a:prstGeom>
            <a:ln w="12700">
              <a:solidFill>
                <a:srgbClr val="536C7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7465218" y="2473492"/>
              <a:ext cx="250032" cy="0"/>
            </a:xfrm>
            <a:prstGeom prst="line">
              <a:avLst/>
            </a:prstGeom>
            <a:ln w="12700">
              <a:solidFill>
                <a:srgbClr val="536C7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5804296" y="4045168"/>
              <a:ext cx="285750" cy="0"/>
            </a:xfrm>
            <a:prstGeom prst="line">
              <a:avLst/>
            </a:prstGeom>
            <a:ln w="12700">
              <a:solidFill>
                <a:srgbClr val="536C7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5625703" y="2973571"/>
              <a:ext cx="0" cy="214319"/>
            </a:xfrm>
            <a:prstGeom prst="line">
              <a:avLst/>
            </a:prstGeom>
            <a:ln w="12700">
              <a:solidFill>
                <a:srgbClr val="536C7E"/>
              </a:solidFill>
            </a:ln>
            <a:effectLst/>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5625703" y="3187890"/>
              <a:ext cx="303609" cy="0"/>
            </a:xfrm>
            <a:prstGeom prst="line">
              <a:avLst/>
            </a:prstGeom>
            <a:ln w="12700">
              <a:solidFill>
                <a:srgbClr val="536C7E"/>
              </a:solidFill>
            </a:ln>
            <a:effectLst/>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5929312" y="3187890"/>
              <a:ext cx="0" cy="464359"/>
            </a:xfrm>
            <a:prstGeom prst="line">
              <a:avLst/>
            </a:prstGeom>
            <a:ln w="12700">
              <a:solidFill>
                <a:srgbClr val="536C7E"/>
              </a:solidFill>
            </a:ln>
            <a:effectLst/>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5929312" y="3652249"/>
              <a:ext cx="160734" cy="0"/>
            </a:xfrm>
            <a:prstGeom prst="line">
              <a:avLst/>
            </a:prstGeom>
            <a:ln w="12700">
              <a:solidFill>
                <a:srgbClr val="536C7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5" name="Diagram panel"/>
            <p:cNvSpPr/>
            <p:nvPr/>
          </p:nvSpPr>
          <p:spPr>
            <a:xfrm>
              <a:off x="285750" y="4741706"/>
              <a:ext cx="8697515" cy="410778"/>
            </a:xfrm>
            <a:prstGeom prst="roundRect">
              <a:avLst>
                <a:gd name="adj" fmla="val 8000"/>
              </a:avLst>
            </a:prstGeom>
            <a:solidFill>
              <a:srgbClr val="172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Unity Catalog: retail_demo"/>
            <p:cNvSpPr txBox="1"/>
            <p:nvPr/>
          </p:nvSpPr>
          <p:spPr>
            <a:xfrm>
              <a:off x="392906" y="4831006"/>
              <a:ext cx="8483203" cy="178599"/>
            </a:xfrm>
            <a:prstGeom prst="rect">
              <a:avLst/>
            </a:prstGeom>
            <a:noFill/>
            <a:effectLst/>
          </p:spPr>
          <p:txBody>
            <a:bodyPr wrap="square" lIns="0" tIns="0" rIns="0" bIns="0">
              <a:spAutoFit/>
            </a:bodyPr>
            <a:lstStyle/>
            <a:p>
              <a:pPr>
                <a:spcBef>
                  <a:spcPts val="0"/>
                </a:spcBef>
                <a:spcAft>
                  <a:spcPts val="0"/>
                </a:spcAft>
                <a:defRPr sz="956" b="1">
                  <a:solidFill>
                    <a:srgbClr val="FFFFFF"/>
                  </a:solidFill>
                  <a:latin typeface="Arial"/>
                </a:defRPr>
              </a:pPr>
              <a:r>
                <a:t>Unity Catalog: retail_demo</a:t>
              </a:r>
            </a:p>
          </p:txBody>
        </p:sp>
        <p:sp>
          <p:nvSpPr>
            <p:cNvPr id="67" name="bronze / silver / gold schemas + persona-scoped views | Access control and PII column masking"/>
            <p:cNvSpPr txBox="1"/>
            <p:nvPr/>
          </p:nvSpPr>
          <p:spPr>
            <a:xfrm>
              <a:off x="392906" y="5009605"/>
              <a:ext cx="8483203" cy="125019"/>
            </a:xfrm>
            <a:prstGeom prst="rect">
              <a:avLst/>
            </a:prstGeom>
            <a:noFill/>
            <a:effectLst/>
          </p:spPr>
          <p:txBody>
            <a:bodyPr wrap="square" lIns="0" tIns="0" rIns="0" bIns="0">
              <a:spAutoFit/>
            </a:bodyPr>
            <a:lstStyle/>
            <a:p>
              <a:pPr>
                <a:spcBef>
                  <a:spcPts val="0"/>
                </a:spcBef>
                <a:spcAft>
                  <a:spcPts val="0"/>
                </a:spcAft>
                <a:defRPr sz="717" b="0">
                  <a:solidFill>
                    <a:srgbClr val="FFFFFF"/>
                  </a:solidFill>
                  <a:latin typeface="Arial"/>
                </a:defRPr>
              </a:pPr>
              <a:r>
                <a:t>bronze / silver / gold schemas + persona-scoped views | Access control and PII column masking</a:t>
              </a:r>
            </a:p>
          </p:txBody>
        </p:sp>
        <p:sp>
          <p:nvSpPr>
            <p:cNvPr id="68" name="Diagram panel"/>
            <p:cNvSpPr/>
            <p:nvPr/>
          </p:nvSpPr>
          <p:spPr>
            <a:xfrm>
              <a:off x="285750" y="5241785"/>
              <a:ext cx="8697515" cy="446498"/>
            </a:xfrm>
            <a:prstGeom prst="roundRect">
              <a:avLst>
                <a:gd name="adj" fmla="val 8000"/>
              </a:avLst>
            </a:prstGeom>
            <a:solidFill>
              <a:srgbClr val="E8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Databricks orchestration: notebook jobs / pipelines | Query + semantic checks at each layer"/>
            <p:cNvSpPr txBox="1"/>
            <p:nvPr/>
          </p:nvSpPr>
          <p:spPr>
            <a:xfrm>
              <a:off x="392906" y="5348944"/>
              <a:ext cx="8483203" cy="160739"/>
            </a:xfrm>
            <a:prstGeom prst="rect">
              <a:avLst/>
            </a:prstGeom>
            <a:noFill/>
            <a:effectLst/>
          </p:spPr>
          <p:txBody>
            <a:bodyPr wrap="square" lIns="0" tIns="0" rIns="0" bIns="0">
              <a:spAutoFit/>
            </a:bodyPr>
            <a:lstStyle/>
            <a:p>
              <a:pPr>
                <a:spcBef>
                  <a:spcPts val="0"/>
                </a:spcBef>
                <a:spcAft>
                  <a:spcPts val="0"/>
                </a:spcAft>
                <a:defRPr sz="801" b="1">
                  <a:solidFill>
                    <a:srgbClr val="172C43"/>
                  </a:solidFill>
                  <a:latin typeface="Arial"/>
                </a:defRPr>
              </a:pPr>
              <a:r>
                <a:t>Databricks orchestration: notebook jobs / pipelines | Query + semantic checks at each layer</a:t>
              </a:r>
            </a:p>
          </p:txBody>
        </p:sp>
        <p:sp>
          <p:nvSpPr>
            <p:cNvPr id="70" name="Operations: file processing dashboard | Development: VS Code + Databricks Connect + GitHub + Copilot / Genie Code"/>
            <p:cNvSpPr txBox="1"/>
            <p:nvPr/>
          </p:nvSpPr>
          <p:spPr>
            <a:xfrm>
              <a:off x="392906" y="5527544"/>
              <a:ext cx="8483203" cy="160739"/>
            </a:xfrm>
            <a:prstGeom prst="rect">
              <a:avLst/>
            </a:prstGeom>
            <a:noFill/>
            <a:effectLst/>
          </p:spPr>
          <p:txBody>
            <a:bodyPr wrap="square" lIns="0" tIns="0" rIns="0" bIns="0">
              <a:spAutoFit/>
            </a:bodyPr>
            <a:lstStyle/>
            <a:p>
              <a:pPr>
                <a:spcBef>
                  <a:spcPts val="0"/>
                </a:spcBef>
                <a:spcAft>
                  <a:spcPts val="0"/>
                </a:spcAft>
                <a:defRPr sz="801" b="0">
                  <a:solidFill>
                    <a:srgbClr val="607783"/>
                  </a:solidFill>
                  <a:latin typeface="Arial"/>
                </a:defRPr>
              </a:pPr>
              <a:r>
                <a:t>Operations: file processing dashboard | Development: VS Code + Databricks Connect + GitHub + Copilot / Genie Code</a:t>
              </a:r>
            </a:p>
          </p:txBody>
        </p:sp>
        <p:sp>
          <p:nvSpPr>
            <p:cNvPr id="71" name="Volumes govern files; Delta tables hold analytical data."/>
            <p:cNvSpPr txBox="1"/>
            <p:nvPr/>
          </p:nvSpPr>
          <p:spPr>
            <a:xfrm>
              <a:off x="285750" y="5849023"/>
              <a:ext cx="8679656" cy="160739"/>
            </a:xfrm>
            <a:prstGeom prst="rect">
              <a:avLst/>
            </a:prstGeom>
            <a:noFill/>
            <a:effectLst/>
          </p:spPr>
          <p:txBody>
            <a:bodyPr wrap="square" lIns="0" tIns="0" rIns="0" bIns="0">
              <a:spAutoFit/>
            </a:bodyPr>
            <a:lstStyle/>
            <a:p>
              <a:pPr>
                <a:spcBef>
                  <a:spcPts val="0"/>
                </a:spcBef>
                <a:spcAft>
                  <a:spcPts val="0"/>
                </a:spcAft>
                <a:defRPr sz="759" b="0">
                  <a:solidFill>
                    <a:srgbClr val="607783"/>
                  </a:solidFill>
                  <a:latin typeface="Arial"/>
                </a:defRPr>
              </a:pPr>
              <a:r>
                <a:t>Volumes govern files; Delta tables hold analytical data.</a:t>
              </a:r>
            </a:p>
          </p:txBody>
        </p:sp>
      </p:grpSp>
    </p:spTree>
    <p:extLst>
      <p:ext uri="{BB962C8B-B14F-4D97-AF65-F5344CB8AC3E}">
        <p14:creationId xmlns:p14="http://schemas.microsoft.com/office/powerpoint/2010/main" val="27965844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86</TotalTime>
  <Words>4070</Words>
  <Application>Microsoft Office PowerPoint</Application>
  <PresentationFormat>On-screen Show (4:3)</PresentationFormat>
  <Paragraphs>357</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Sai Bharath Parsam</dc:creator>
  <cp:keywords/>
  <dc:description>generated using python-pptx</dc:description>
  <cp:lastModifiedBy>Sai Bharath Parsam</cp:lastModifiedBy>
  <cp:revision>7</cp:revision>
  <dcterms:created xsi:type="dcterms:W3CDTF">2013-01-27T09:14:16Z</dcterms:created>
  <dcterms:modified xsi:type="dcterms:W3CDTF">2026-10-06T06:20:18Z</dcterms:modified>
  <cp:category/>
</cp:coreProperties>
</file>